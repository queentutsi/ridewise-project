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4.xml" ContentType="application/vnd.openxmlformats-officedocument.drawingml.chart+xml"/>
  <Override PartName="/ppt/notesSlides/notesSlide2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71" r:id="rId3"/>
    <p:sldId id="257" r:id="rId4"/>
    <p:sldId id="258" r:id="rId5"/>
    <p:sldId id="279" r:id="rId6"/>
    <p:sldId id="259" r:id="rId7"/>
    <p:sldId id="272" r:id="rId8"/>
    <p:sldId id="274" r:id="rId9"/>
    <p:sldId id="278" r:id="rId10"/>
    <p:sldId id="275" r:id="rId11"/>
    <p:sldId id="276" r:id="rId12"/>
    <p:sldId id="260" r:id="rId13"/>
    <p:sldId id="280" r:id="rId14"/>
    <p:sldId id="261" r:id="rId15"/>
    <p:sldId id="273" r:id="rId16"/>
    <p:sldId id="262" r:id="rId17"/>
    <p:sldId id="282" r:id="rId18"/>
    <p:sldId id="284" r:id="rId19"/>
    <p:sldId id="286" r:id="rId20"/>
    <p:sldId id="285" r:id="rId21"/>
    <p:sldId id="287" r:id="rId22"/>
    <p:sldId id="288" r:id="rId23"/>
    <p:sldId id="289" r:id="rId24"/>
    <p:sldId id="281" r:id="rId25"/>
    <p:sldId id="290" r:id="rId26"/>
    <p:sldId id="291" r:id="rId27"/>
    <p:sldId id="277" r:id="rId28"/>
    <p:sldId id="263" r:id="rId29"/>
    <p:sldId id="264" r:id="rId30"/>
    <p:sldId id="265" r:id="rId31"/>
    <p:sldId id="266" r:id="rId32"/>
    <p:sldId id="267" r:id="rId33"/>
    <p:sldId id="268" r:id="rId34"/>
    <p:sldId id="269" r:id="rId35"/>
    <p:sldId id="270" r:id="rId36"/>
    <p:sldId id="283"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2C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8C926C-891B-411C-9662-48E004DA911D}" v="37" dt="2026-07-28T11:57:26.6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665" autoAdjust="0"/>
  </p:normalViewPr>
  <p:slideViewPr>
    <p:cSldViewPr snapToGrid="0" showGuides="1">
      <p:cViewPr varScale="1">
        <p:scale>
          <a:sx n="69" d="100"/>
          <a:sy n="69" d="100"/>
        </p:scale>
        <p:origin x="252"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UWATOSIN Abraham" userId="3eb2658f1eba4c62" providerId="LiveId" clId="{63124D4C-BA5E-41C7-B480-E7B5788CDFA9}"/>
    <pc:docChg chg="undo redo custSel addSld delSld modSld sldOrd modMainMaster">
      <pc:chgData name="OLUWATOSIN Abraham" userId="3eb2658f1eba4c62" providerId="LiveId" clId="{63124D4C-BA5E-41C7-B480-E7B5788CDFA9}" dt="2026-07-28T13:16:34.863" v="4103" actId="26606"/>
      <pc:docMkLst>
        <pc:docMk/>
      </pc:docMkLst>
      <pc:sldChg chg="modSp mod">
        <pc:chgData name="OLUWATOSIN Abraham" userId="3eb2658f1eba4c62" providerId="LiveId" clId="{63124D4C-BA5E-41C7-B480-E7B5788CDFA9}" dt="2026-07-23T04:08:31.631" v="2541" actId="20577"/>
        <pc:sldMkLst>
          <pc:docMk/>
          <pc:sldMk cId="0" sldId="256"/>
        </pc:sldMkLst>
        <pc:spChg chg="mod">
          <ac:chgData name="OLUWATOSIN Abraham" userId="3eb2658f1eba4c62" providerId="LiveId" clId="{63124D4C-BA5E-41C7-B480-E7B5788CDFA9}" dt="2026-07-23T04:08:31.631" v="2541" actId="20577"/>
          <ac:spMkLst>
            <pc:docMk/>
            <pc:sldMk cId="0" sldId="256"/>
            <ac:spMk id="7" creationId="{00000000-0000-0000-0000-000000000000}"/>
          </ac:spMkLst>
        </pc:spChg>
      </pc:sldChg>
      <pc:sldChg chg="addSp delSp modSp mod modNotesTx">
        <pc:chgData name="OLUWATOSIN Abraham" userId="3eb2658f1eba4c62" providerId="LiveId" clId="{63124D4C-BA5E-41C7-B480-E7B5788CDFA9}" dt="2026-07-21T18:10:02.365" v="150" actId="20577"/>
        <pc:sldMkLst>
          <pc:docMk/>
          <pc:sldMk cId="0" sldId="257"/>
        </pc:sldMkLst>
      </pc:sldChg>
      <pc:sldChg chg="addSp delSp modSp mod">
        <pc:chgData name="OLUWATOSIN Abraham" userId="3eb2658f1eba4c62" providerId="LiveId" clId="{63124D4C-BA5E-41C7-B480-E7B5788CDFA9}" dt="2026-07-23T04:19:51.087" v="2588" actId="1076"/>
        <pc:sldMkLst>
          <pc:docMk/>
          <pc:sldMk cId="0" sldId="258"/>
        </pc:sldMkLst>
        <pc:spChg chg="mod">
          <ac:chgData name="OLUWATOSIN Abraham" userId="3eb2658f1eba4c62" providerId="LiveId" clId="{63124D4C-BA5E-41C7-B480-E7B5788CDFA9}" dt="2026-07-21T18:25:03.682" v="276" actId="14861"/>
          <ac:spMkLst>
            <pc:docMk/>
            <pc:sldMk cId="0" sldId="258"/>
            <ac:spMk id="5" creationId="{00000000-0000-0000-0000-000000000000}"/>
          </ac:spMkLst>
        </pc:spChg>
        <pc:spChg chg="mod">
          <ac:chgData name="OLUWATOSIN Abraham" userId="3eb2658f1eba4c62" providerId="LiveId" clId="{63124D4C-BA5E-41C7-B480-E7B5788CDFA9}" dt="2026-07-21T18:16:17.057" v="184" actId="20577"/>
          <ac:spMkLst>
            <pc:docMk/>
            <pc:sldMk cId="0" sldId="258"/>
            <ac:spMk id="8" creationId="{00000000-0000-0000-0000-000000000000}"/>
          </ac:spMkLst>
        </pc:spChg>
        <pc:spChg chg="mod">
          <ac:chgData name="OLUWATOSIN Abraham" userId="3eb2658f1eba4c62" providerId="LiveId" clId="{63124D4C-BA5E-41C7-B480-E7B5788CDFA9}" dt="2026-07-21T18:17:26.704" v="200" actId="1076"/>
          <ac:spMkLst>
            <pc:docMk/>
            <pc:sldMk cId="0" sldId="258"/>
            <ac:spMk id="13" creationId="{00000000-0000-0000-0000-000000000000}"/>
          </ac:spMkLst>
        </pc:spChg>
        <pc:spChg chg="add mod">
          <ac:chgData name="OLUWATOSIN Abraham" userId="3eb2658f1eba4c62" providerId="LiveId" clId="{63124D4C-BA5E-41C7-B480-E7B5788CDFA9}" dt="2026-07-23T04:15:12.123" v="2585" actId="26606"/>
          <ac:spMkLst>
            <pc:docMk/>
            <pc:sldMk cId="0" sldId="258"/>
            <ac:spMk id="28" creationId="{C334E4B1-71E9-1BBA-98EF-26849D5D9C69}"/>
          </ac:spMkLst>
        </pc:spChg>
        <pc:spChg chg="add mod">
          <ac:chgData name="OLUWATOSIN Abraham" userId="3eb2658f1eba4c62" providerId="LiveId" clId="{63124D4C-BA5E-41C7-B480-E7B5788CDFA9}" dt="2026-07-23T04:19:43.333" v="2587" actId="14100"/>
          <ac:spMkLst>
            <pc:docMk/>
            <pc:sldMk cId="0" sldId="258"/>
            <ac:spMk id="30" creationId="{18E12751-B6DA-C18B-2A21-890CB5458B26}"/>
          </ac:spMkLst>
        </pc:spChg>
        <pc:spChg chg="add mod">
          <ac:chgData name="OLUWATOSIN Abraham" userId="3eb2658f1eba4c62" providerId="LiveId" clId="{63124D4C-BA5E-41C7-B480-E7B5788CDFA9}" dt="2026-07-23T04:19:51.087" v="2588" actId="1076"/>
          <ac:spMkLst>
            <pc:docMk/>
            <pc:sldMk cId="0" sldId="258"/>
            <ac:spMk id="36" creationId="{6FDE8457-3379-3A21-7C0B-E93F72B1BAF9}"/>
          </ac:spMkLst>
        </pc:spChg>
        <pc:spChg chg="add mod ord">
          <ac:chgData name="OLUWATOSIN Abraham" userId="3eb2658f1eba4c62" providerId="LiveId" clId="{63124D4C-BA5E-41C7-B480-E7B5788CDFA9}" dt="2026-07-21T18:26:02.804" v="284" actId="207"/>
          <ac:spMkLst>
            <pc:docMk/>
            <pc:sldMk cId="0" sldId="258"/>
            <ac:spMk id="38" creationId="{25747C41-8E80-A0A0-88E2-4695426A7B97}"/>
          </ac:spMkLst>
        </pc:spChg>
        <pc:spChg chg="add">
          <ac:chgData name="OLUWATOSIN Abraham" userId="3eb2658f1eba4c62" providerId="LiveId" clId="{63124D4C-BA5E-41C7-B480-E7B5788CDFA9}" dt="2026-07-23T04:15:12.123" v="2585" actId="26606"/>
          <ac:spMkLst>
            <pc:docMk/>
            <pc:sldMk cId="0" sldId="258"/>
            <ac:spMk id="102" creationId="{00000000-0000-0000-0000-000000000000}"/>
          </ac:spMkLst>
        </pc:spChg>
        <pc:spChg chg="add">
          <ac:chgData name="OLUWATOSIN Abraham" userId="3eb2658f1eba4c62" providerId="LiveId" clId="{63124D4C-BA5E-41C7-B480-E7B5788CDFA9}" dt="2026-07-23T04:15:12.123" v="2585" actId="26606"/>
          <ac:spMkLst>
            <pc:docMk/>
            <pc:sldMk cId="0" sldId="258"/>
            <ac:spMk id="103" creationId="{00000000-0000-0000-0000-000000000000}"/>
          </ac:spMkLst>
        </pc:spChg>
        <pc:spChg chg="add">
          <ac:chgData name="OLUWATOSIN Abraham" userId="3eb2658f1eba4c62" providerId="LiveId" clId="{63124D4C-BA5E-41C7-B480-E7B5788CDFA9}" dt="2026-07-23T04:15:12.123" v="2585" actId="26606"/>
          <ac:spMkLst>
            <pc:docMk/>
            <pc:sldMk cId="0" sldId="258"/>
            <ac:spMk id="104" creationId="{00000000-0000-0000-0000-000000000000}"/>
          </ac:spMkLst>
        </pc:spChg>
        <pc:spChg chg="add">
          <ac:chgData name="OLUWATOSIN Abraham" userId="3eb2658f1eba4c62" providerId="LiveId" clId="{63124D4C-BA5E-41C7-B480-E7B5788CDFA9}" dt="2026-07-23T04:15:12.123" v="2585" actId="26606"/>
          <ac:spMkLst>
            <pc:docMk/>
            <pc:sldMk cId="0" sldId="258"/>
            <ac:spMk id="106" creationId="{00000000-0000-0000-0000-000000000000}"/>
          </ac:spMkLst>
        </pc:spChg>
        <pc:spChg chg="add">
          <ac:chgData name="OLUWATOSIN Abraham" userId="3eb2658f1eba4c62" providerId="LiveId" clId="{63124D4C-BA5E-41C7-B480-E7B5788CDFA9}" dt="2026-07-23T04:15:12.123" v="2585" actId="26606"/>
          <ac:spMkLst>
            <pc:docMk/>
            <pc:sldMk cId="0" sldId="258"/>
            <ac:spMk id="107" creationId="{00000000-0000-0000-0000-000000000000}"/>
          </ac:spMkLst>
        </pc:spChg>
        <pc:spChg chg="add">
          <ac:chgData name="OLUWATOSIN Abraham" userId="3eb2658f1eba4c62" providerId="LiveId" clId="{63124D4C-BA5E-41C7-B480-E7B5788CDFA9}" dt="2026-07-23T04:15:12.123" v="2585" actId="26606"/>
          <ac:spMkLst>
            <pc:docMk/>
            <pc:sldMk cId="0" sldId="258"/>
            <ac:spMk id="108" creationId="{00000000-0000-0000-0000-000000000000}"/>
          </ac:spMkLst>
        </pc:spChg>
        <pc:spChg chg="add">
          <ac:chgData name="OLUWATOSIN Abraham" userId="3eb2658f1eba4c62" providerId="LiveId" clId="{63124D4C-BA5E-41C7-B480-E7B5788CDFA9}" dt="2026-07-23T04:15:12.123" v="2585" actId="26606"/>
          <ac:spMkLst>
            <pc:docMk/>
            <pc:sldMk cId="0" sldId="258"/>
            <ac:spMk id="109" creationId="{00000000-0000-0000-0000-000000000000}"/>
          </ac:spMkLst>
        </pc:spChg>
        <pc:spChg chg="add">
          <ac:chgData name="OLUWATOSIN Abraham" userId="3eb2658f1eba4c62" providerId="LiveId" clId="{63124D4C-BA5E-41C7-B480-E7B5788CDFA9}" dt="2026-07-23T04:15:12.123" v="2585" actId="26606"/>
          <ac:spMkLst>
            <pc:docMk/>
            <pc:sldMk cId="0" sldId="258"/>
            <ac:spMk id="110" creationId="{00000000-0000-0000-0000-000000000000}"/>
          </ac:spMkLst>
        </pc:spChg>
        <pc:spChg chg="add">
          <ac:chgData name="OLUWATOSIN Abraham" userId="3eb2658f1eba4c62" providerId="LiveId" clId="{63124D4C-BA5E-41C7-B480-E7B5788CDFA9}" dt="2026-07-23T04:15:12.123" v="2585" actId="26606"/>
          <ac:spMkLst>
            <pc:docMk/>
            <pc:sldMk cId="0" sldId="258"/>
            <ac:spMk id="111" creationId="{00000000-0000-0000-0000-000000000000}"/>
          </ac:spMkLst>
        </pc:spChg>
      </pc:sldChg>
      <pc:sldChg chg="modSp mod">
        <pc:chgData name="OLUWATOSIN Abraham" userId="3eb2658f1eba4c62" providerId="LiveId" clId="{63124D4C-BA5E-41C7-B480-E7B5788CDFA9}" dt="2026-07-21T18:28:09.824" v="380" actId="20577"/>
        <pc:sldMkLst>
          <pc:docMk/>
          <pc:sldMk cId="0" sldId="259"/>
        </pc:sldMkLst>
        <pc:spChg chg="mod">
          <ac:chgData name="OLUWATOSIN Abraham" userId="3eb2658f1eba4c62" providerId="LiveId" clId="{63124D4C-BA5E-41C7-B480-E7B5788CDFA9}" dt="2026-07-21T18:27:48.836" v="330" actId="20577"/>
          <ac:spMkLst>
            <pc:docMk/>
            <pc:sldMk cId="0" sldId="259"/>
            <ac:spMk id="7" creationId="{00000000-0000-0000-0000-000000000000}"/>
          </ac:spMkLst>
        </pc:spChg>
        <pc:spChg chg="mod">
          <ac:chgData name="OLUWATOSIN Abraham" userId="3eb2658f1eba4c62" providerId="LiveId" clId="{63124D4C-BA5E-41C7-B480-E7B5788CDFA9}" dt="2026-07-21T18:28:09.824" v="380" actId="20577"/>
          <ac:spMkLst>
            <pc:docMk/>
            <pc:sldMk cId="0" sldId="259"/>
            <ac:spMk id="12" creationId="{00000000-0000-0000-0000-000000000000}"/>
          </ac:spMkLst>
        </pc:spChg>
      </pc:sldChg>
      <pc:sldChg chg="addSp delSp modSp mod modNotesTx">
        <pc:chgData name="OLUWATOSIN Abraham" userId="3eb2658f1eba4c62" providerId="LiveId" clId="{63124D4C-BA5E-41C7-B480-E7B5788CDFA9}" dt="2026-07-24T11:20:20.581" v="2807" actId="20577"/>
        <pc:sldMkLst>
          <pc:docMk/>
          <pc:sldMk cId="0" sldId="260"/>
        </pc:sldMkLst>
        <pc:spChg chg="add mod">
          <ac:chgData name="OLUWATOSIN Abraham" userId="3eb2658f1eba4c62" providerId="LiveId" clId="{63124D4C-BA5E-41C7-B480-E7B5788CDFA9}" dt="2026-07-24T11:20:20.581" v="2807" actId="20577"/>
          <ac:spMkLst>
            <pc:docMk/>
            <pc:sldMk cId="0" sldId="260"/>
            <ac:spMk id="6" creationId="{FAA386FD-B7EE-7033-DB3A-76C6A3702DAE}"/>
          </ac:spMkLst>
        </pc:spChg>
        <pc:spChg chg="mod">
          <ac:chgData name="OLUWATOSIN Abraham" userId="3eb2658f1eba4c62" providerId="LiveId" clId="{63124D4C-BA5E-41C7-B480-E7B5788CDFA9}" dt="2026-07-21T18:56:22.585" v="947" actId="1076"/>
          <ac:spMkLst>
            <pc:docMk/>
            <pc:sldMk cId="0" sldId="260"/>
            <ac:spMk id="24" creationId="{00000000-0000-0000-0000-000000000000}"/>
          </ac:spMkLst>
        </pc:spChg>
        <pc:spChg chg="add mod">
          <ac:chgData name="OLUWATOSIN Abraham" userId="3eb2658f1eba4c62" providerId="LiveId" clId="{63124D4C-BA5E-41C7-B480-E7B5788CDFA9}" dt="2026-07-21T19:12:22.739" v="1236" actId="14100"/>
          <ac:spMkLst>
            <pc:docMk/>
            <pc:sldMk cId="0" sldId="260"/>
            <ac:spMk id="26" creationId="{E5ACEA30-5254-C6EE-4C8D-6E509A550452}"/>
          </ac:spMkLst>
        </pc:spChg>
        <pc:spChg chg="add mod">
          <ac:chgData name="OLUWATOSIN Abraham" userId="3eb2658f1eba4c62" providerId="LiveId" clId="{63124D4C-BA5E-41C7-B480-E7B5788CDFA9}" dt="2026-07-22T14:17:16.998" v="2401" actId="6549"/>
          <ac:spMkLst>
            <pc:docMk/>
            <pc:sldMk cId="0" sldId="260"/>
            <ac:spMk id="28" creationId="{014BD80F-2C55-CF87-DBD0-3C4991E6D57C}"/>
          </ac:spMkLst>
        </pc:spChg>
        <pc:spChg chg="add mod">
          <ac:chgData name="OLUWATOSIN Abraham" userId="3eb2658f1eba4c62" providerId="LiveId" clId="{63124D4C-BA5E-41C7-B480-E7B5788CDFA9}" dt="2026-07-24T11:20:02.964" v="2803" actId="1076"/>
          <ac:spMkLst>
            <pc:docMk/>
            <pc:sldMk cId="0" sldId="260"/>
            <ac:spMk id="31" creationId="{2F486E81-BE76-C54E-40D3-D142BCB390E8}"/>
          </ac:spMkLst>
        </pc:spChg>
        <pc:spChg chg="add mod">
          <ac:chgData name="OLUWATOSIN Abraham" userId="3eb2658f1eba4c62" providerId="LiveId" clId="{63124D4C-BA5E-41C7-B480-E7B5788CDFA9}" dt="2026-07-21T19:00:06.929" v="987" actId="14100"/>
          <ac:spMkLst>
            <pc:docMk/>
            <pc:sldMk cId="0" sldId="260"/>
            <ac:spMk id="36" creationId="{D45BA385-6250-4ADE-AD04-35359D320CBF}"/>
          </ac:spMkLst>
        </pc:spChg>
        <pc:picChg chg="add mod">
          <ac:chgData name="OLUWATOSIN Abraham" userId="3eb2658f1eba4c62" providerId="LiveId" clId="{63124D4C-BA5E-41C7-B480-E7B5788CDFA9}" dt="2026-07-23T03:57:39.624" v="2534" actId="26606"/>
          <ac:picMkLst>
            <pc:docMk/>
            <pc:sldMk cId="0" sldId="260"/>
            <ac:picMk id="42" creationId="{C7BC5D5B-144F-3F63-C5F4-3F3C62E926CA}"/>
          </ac:picMkLst>
        </pc:picChg>
        <pc:picChg chg="add mod">
          <ac:chgData name="OLUWATOSIN Abraham" userId="3eb2658f1eba4c62" providerId="LiveId" clId="{63124D4C-BA5E-41C7-B480-E7B5788CDFA9}" dt="2026-07-21T19:14:08.226" v="1276" actId="1076"/>
          <ac:picMkLst>
            <pc:docMk/>
            <pc:sldMk cId="0" sldId="260"/>
            <ac:picMk id="44" creationId="{72F4975A-0554-FC1B-5F06-BC4CCD3BCC3E}"/>
          </ac:picMkLst>
        </pc:picChg>
      </pc:sldChg>
      <pc:sldChg chg="addSp delSp modSp mod ord modNotesTx">
        <pc:chgData name="OLUWATOSIN Abraham" userId="3eb2658f1eba4c62" providerId="LiveId" clId="{63124D4C-BA5E-41C7-B480-E7B5788CDFA9}" dt="2026-07-28T11:27:12.549" v="3746"/>
        <pc:sldMkLst>
          <pc:docMk/>
          <pc:sldMk cId="0" sldId="261"/>
        </pc:sldMkLst>
        <pc:spChg chg="mod">
          <ac:chgData name="OLUWATOSIN Abraham" userId="3eb2658f1eba4c62" providerId="LiveId" clId="{63124D4C-BA5E-41C7-B480-E7B5788CDFA9}" dt="2026-07-23T04:07:24.523" v="2537" actId="26606"/>
          <ac:spMkLst>
            <pc:docMk/>
            <pc:sldMk cId="0" sldId="261"/>
            <ac:spMk id="3" creationId="{00000000-0000-0000-0000-000000000000}"/>
          </ac:spMkLst>
        </pc:spChg>
        <pc:spChg chg="mod">
          <ac:chgData name="OLUWATOSIN Abraham" userId="3eb2658f1eba4c62" providerId="LiveId" clId="{63124D4C-BA5E-41C7-B480-E7B5788CDFA9}" dt="2026-07-23T03:57:39.624" v="2534" actId="26606"/>
          <ac:spMkLst>
            <pc:docMk/>
            <pc:sldMk cId="0" sldId="261"/>
            <ac:spMk id="4" creationId="{00000000-0000-0000-0000-000000000000}"/>
          </ac:spMkLst>
        </pc:spChg>
        <pc:spChg chg="mod">
          <ac:chgData name="OLUWATOSIN Abraham" userId="3eb2658f1eba4c62" providerId="LiveId" clId="{63124D4C-BA5E-41C7-B480-E7B5788CDFA9}" dt="2026-07-22T21:35:12.391" v="2526" actId="20577"/>
          <ac:spMkLst>
            <pc:docMk/>
            <pc:sldMk cId="0" sldId="261"/>
            <ac:spMk id="7" creationId="{00000000-0000-0000-0000-000000000000}"/>
          </ac:spMkLst>
        </pc:spChg>
        <pc:spChg chg="mod">
          <ac:chgData name="OLUWATOSIN Abraham" userId="3eb2658f1eba4c62" providerId="LiveId" clId="{63124D4C-BA5E-41C7-B480-E7B5788CDFA9}" dt="2026-07-23T04:07:24.523" v="2537" actId="26606"/>
          <ac:spMkLst>
            <pc:docMk/>
            <pc:sldMk cId="0" sldId="261"/>
            <ac:spMk id="12" creationId="{00000000-0000-0000-0000-000000000000}"/>
          </ac:spMkLst>
        </pc:spChg>
        <pc:spChg chg="mod">
          <ac:chgData name="OLUWATOSIN Abraham" userId="3eb2658f1eba4c62" providerId="LiveId" clId="{63124D4C-BA5E-41C7-B480-E7B5788CDFA9}" dt="2026-07-23T04:07:24.523" v="2537" actId="26606"/>
          <ac:spMkLst>
            <pc:docMk/>
            <pc:sldMk cId="0" sldId="261"/>
            <ac:spMk id="17" creationId="{00000000-0000-0000-0000-000000000000}"/>
          </ac:spMkLst>
        </pc:spChg>
        <pc:spChg chg="mod">
          <ac:chgData name="OLUWATOSIN Abraham" userId="3eb2658f1eba4c62" providerId="LiveId" clId="{63124D4C-BA5E-41C7-B480-E7B5788CDFA9}" dt="2026-07-23T03:57:39.624" v="2534" actId="26606"/>
          <ac:spMkLst>
            <pc:docMk/>
            <pc:sldMk cId="0" sldId="261"/>
            <ac:spMk id="20" creationId="{00000000-0000-0000-0000-000000000000}"/>
          </ac:spMkLst>
        </pc:spChg>
        <pc:spChg chg="mod">
          <ac:chgData name="OLUWATOSIN Abraham" userId="3eb2658f1eba4c62" providerId="LiveId" clId="{63124D4C-BA5E-41C7-B480-E7B5788CDFA9}" dt="2026-07-23T04:07:24.523" v="2537" actId="26606"/>
          <ac:spMkLst>
            <pc:docMk/>
            <pc:sldMk cId="0" sldId="261"/>
            <ac:spMk id="24" creationId="{00000000-0000-0000-0000-000000000000}"/>
          </ac:spMkLst>
        </pc:spChg>
        <pc:spChg chg="mod">
          <ac:chgData name="OLUWATOSIN Abraham" userId="3eb2658f1eba4c62" providerId="LiveId" clId="{63124D4C-BA5E-41C7-B480-E7B5788CDFA9}" dt="2026-07-23T03:57:39.624" v="2534" actId="26606"/>
          <ac:spMkLst>
            <pc:docMk/>
            <pc:sldMk cId="0" sldId="261"/>
            <ac:spMk id="29" creationId="{00000000-0000-0000-0000-000000000000}"/>
          </ac:spMkLst>
        </pc:spChg>
        <pc:spChg chg="mod">
          <ac:chgData name="OLUWATOSIN Abraham" userId="3eb2658f1eba4c62" providerId="LiveId" clId="{63124D4C-BA5E-41C7-B480-E7B5788CDFA9}" dt="2026-07-23T03:57:39.624" v="2534" actId="26606"/>
          <ac:spMkLst>
            <pc:docMk/>
            <pc:sldMk cId="0" sldId="261"/>
            <ac:spMk id="30" creationId="{00000000-0000-0000-0000-000000000000}"/>
          </ac:spMkLst>
        </pc:spChg>
        <pc:spChg chg="mod">
          <ac:chgData name="OLUWATOSIN Abraham" userId="3eb2658f1eba4c62" providerId="LiveId" clId="{63124D4C-BA5E-41C7-B480-E7B5788CDFA9}" dt="2026-07-23T03:57:39.624" v="2534" actId="26606"/>
          <ac:spMkLst>
            <pc:docMk/>
            <pc:sldMk cId="0" sldId="261"/>
            <ac:spMk id="31" creationId="{00000000-0000-0000-0000-000000000000}"/>
          </ac:spMkLst>
        </pc:spChg>
        <pc:spChg chg="mod">
          <ac:chgData name="OLUWATOSIN Abraham" userId="3eb2658f1eba4c62" providerId="LiveId" clId="{63124D4C-BA5E-41C7-B480-E7B5788CDFA9}" dt="2026-07-23T04:07:24.523" v="2537" actId="26606"/>
          <ac:spMkLst>
            <pc:docMk/>
            <pc:sldMk cId="0" sldId="261"/>
            <ac:spMk id="32" creationId="{00000000-0000-0000-0000-000000000000}"/>
          </ac:spMkLst>
        </pc:spChg>
        <pc:spChg chg="add">
          <ac:chgData name="OLUWATOSIN Abraham" userId="3eb2658f1eba4c62" providerId="LiveId" clId="{63124D4C-BA5E-41C7-B480-E7B5788CDFA9}" dt="2026-07-23T04:07:24.523" v="2537" actId="26606"/>
          <ac:spMkLst>
            <pc:docMk/>
            <pc:sldMk cId="0" sldId="261"/>
            <ac:spMk id="100" creationId="{00000000-0000-0000-0000-000000000000}"/>
          </ac:spMkLst>
        </pc:spChg>
        <pc:spChg chg="add">
          <ac:chgData name="OLUWATOSIN Abraham" userId="3eb2658f1eba4c62" providerId="LiveId" clId="{63124D4C-BA5E-41C7-B480-E7B5788CDFA9}" dt="2026-07-23T04:07:24.523" v="2537" actId="26606"/>
          <ac:spMkLst>
            <pc:docMk/>
            <pc:sldMk cId="0" sldId="261"/>
            <ac:spMk id="101" creationId="{00000000-0000-0000-0000-000000000000}"/>
          </ac:spMkLst>
        </pc:spChg>
        <pc:spChg chg="add">
          <ac:chgData name="OLUWATOSIN Abraham" userId="3eb2658f1eba4c62" providerId="LiveId" clId="{63124D4C-BA5E-41C7-B480-E7B5788CDFA9}" dt="2026-07-23T04:07:24.523" v="2537" actId="26606"/>
          <ac:spMkLst>
            <pc:docMk/>
            <pc:sldMk cId="0" sldId="261"/>
            <ac:spMk id="108" creationId="{00000000-0000-0000-0000-000000000000}"/>
          </ac:spMkLst>
        </pc:spChg>
        <pc:spChg chg="add">
          <ac:chgData name="OLUWATOSIN Abraham" userId="3eb2658f1eba4c62" providerId="LiveId" clId="{63124D4C-BA5E-41C7-B480-E7B5788CDFA9}" dt="2026-07-23T04:07:24.523" v="2537" actId="26606"/>
          <ac:spMkLst>
            <pc:docMk/>
            <pc:sldMk cId="0" sldId="261"/>
            <ac:spMk id="113" creationId="{00000000-0000-0000-0000-000000000000}"/>
          </ac:spMkLst>
        </pc:spChg>
        <pc:spChg chg="add">
          <ac:chgData name="OLUWATOSIN Abraham" userId="3eb2658f1eba4c62" providerId="LiveId" clId="{63124D4C-BA5E-41C7-B480-E7B5788CDFA9}" dt="2026-07-23T04:07:24.523" v="2537" actId="26606"/>
          <ac:spMkLst>
            <pc:docMk/>
            <pc:sldMk cId="0" sldId="261"/>
            <ac:spMk id="116" creationId="{00000000-0000-0000-0000-000000000000}"/>
          </ac:spMkLst>
        </pc:spChg>
      </pc:sldChg>
      <pc:sldChg chg="addSp delSp modSp mod">
        <pc:chgData name="OLUWATOSIN Abraham" userId="3eb2658f1eba4c62" providerId="LiveId" clId="{63124D4C-BA5E-41C7-B480-E7B5788CDFA9}" dt="2026-07-24T13:28:43.603" v="3316" actId="1076"/>
        <pc:sldMkLst>
          <pc:docMk/>
          <pc:sldMk cId="0" sldId="262"/>
        </pc:sldMkLst>
        <pc:spChg chg="mod">
          <ac:chgData name="OLUWATOSIN Abraham" userId="3eb2658f1eba4c62" providerId="LiveId" clId="{63124D4C-BA5E-41C7-B480-E7B5788CDFA9}" dt="2026-07-24T13:27:44.123" v="3260" actId="14100"/>
          <ac:spMkLst>
            <pc:docMk/>
            <pc:sldMk cId="0" sldId="262"/>
            <ac:spMk id="3" creationId="{00000000-0000-0000-0000-000000000000}"/>
          </ac:spMkLst>
        </pc:spChg>
        <pc:spChg chg="add mod">
          <ac:chgData name="OLUWATOSIN Abraham" userId="3eb2658f1eba4c62" providerId="LiveId" clId="{63124D4C-BA5E-41C7-B480-E7B5788CDFA9}" dt="2026-07-24T13:28:43.603" v="3316" actId="1076"/>
          <ac:spMkLst>
            <pc:docMk/>
            <pc:sldMk cId="0" sldId="262"/>
            <ac:spMk id="4" creationId="{F824138E-EA96-12FA-A8C5-3E3FCA081885}"/>
          </ac:spMkLst>
        </pc:spChg>
        <pc:spChg chg="add mod">
          <ac:chgData name="OLUWATOSIN Abraham" userId="3eb2658f1eba4c62" providerId="LiveId" clId="{63124D4C-BA5E-41C7-B480-E7B5788CDFA9}" dt="2026-07-24T11:36:01.860" v="2857" actId="14100"/>
          <ac:spMkLst>
            <pc:docMk/>
            <pc:sldMk cId="0" sldId="262"/>
            <ac:spMk id="40" creationId="{00000000-0000-0000-0000-000000000000}"/>
          </ac:spMkLst>
        </pc:spChg>
        <pc:graphicFrameChg chg="add mod modGraphic">
          <ac:chgData name="OLUWATOSIN Abraham" userId="3eb2658f1eba4c62" providerId="LiveId" clId="{63124D4C-BA5E-41C7-B480-E7B5788CDFA9}" dt="2026-07-24T11:56:47.778" v="2983" actId="14100"/>
          <ac:graphicFrameMkLst>
            <pc:docMk/>
            <pc:sldMk cId="0" sldId="262"/>
            <ac:graphicFrameMk id="23" creationId="{00000000-0000-0000-0000-000000000000}"/>
          </ac:graphicFrameMkLst>
        </pc:graphicFrameChg>
      </pc:sldChg>
      <pc:sldChg chg="addSp delSp modSp new add del mod">
        <pc:chgData name="OLUWATOSIN Abraham" userId="3eb2658f1eba4c62" providerId="LiveId" clId="{63124D4C-BA5E-41C7-B480-E7B5788CDFA9}" dt="2026-07-21T01:22:47.803" v="113" actId="20577"/>
        <pc:sldMkLst>
          <pc:docMk/>
          <pc:sldMk cId="889749314" sldId="269"/>
        </pc:sldMkLst>
        <pc:spChg chg="add mod">
          <ac:chgData name="OLUWATOSIN Abraham" userId="3eb2658f1eba4c62" providerId="LiveId" clId="{63124D4C-BA5E-41C7-B480-E7B5788CDFA9}" dt="2026-07-21T01:18:03.280" v="19" actId="1076"/>
          <ac:spMkLst>
            <pc:docMk/>
            <pc:sldMk cId="889749314" sldId="269"/>
            <ac:spMk id="6" creationId="{66BD1E2F-1607-B99B-8C90-51923B974339}"/>
          </ac:spMkLst>
        </pc:spChg>
        <pc:spChg chg="add mod">
          <ac:chgData name="OLUWATOSIN Abraham" userId="3eb2658f1eba4c62" providerId="LiveId" clId="{63124D4C-BA5E-41C7-B480-E7B5788CDFA9}" dt="2026-07-21T01:22:47.803" v="113" actId="20577"/>
          <ac:spMkLst>
            <pc:docMk/>
            <pc:sldMk cId="889749314" sldId="269"/>
            <ac:spMk id="8" creationId="{FA7C44BA-5435-84A8-7AF8-A720DC09B81E}"/>
          </ac:spMkLst>
        </pc:spChg>
        <pc:picChg chg="add mod">
          <ac:chgData name="OLUWATOSIN Abraham" userId="3eb2658f1eba4c62" providerId="LiveId" clId="{63124D4C-BA5E-41C7-B480-E7B5788CDFA9}" dt="2026-07-21T01:22:20.252" v="73" actId="1076"/>
          <ac:picMkLst>
            <pc:docMk/>
            <pc:sldMk cId="889749314" sldId="269"/>
            <ac:picMk id="4" creationId="{43EAA80E-889F-47DD-9408-705623969495}"/>
          </ac:picMkLst>
        </pc:picChg>
      </pc:sldChg>
      <pc:sldChg chg="addSp delSp modSp add mod">
        <pc:chgData name="OLUWATOSIN Abraham" userId="3eb2658f1eba4c62" providerId="LiveId" clId="{63124D4C-BA5E-41C7-B480-E7B5788CDFA9}" dt="2026-07-21T01:20:26.998" v="33" actId="478"/>
        <pc:sldMkLst>
          <pc:docMk/>
          <pc:sldMk cId="1737227734" sldId="270"/>
        </pc:sldMkLst>
      </pc:sldChg>
      <pc:sldChg chg="addSp delSp modSp new mod ord">
        <pc:chgData name="OLUWATOSIN Abraham" userId="3eb2658f1eba4c62" providerId="LiveId" clId="{63124D4C-BA5E-41C7-B480-E7B5788CDFA9}" dt="2026-07-23T04:09:34.010" v="2584" actId="20577"/>
        <pc:sldMkLst>
          <pc:docMk/>
          <pc:sldMk cId="4100682218" sldId="271"/>
        </pc:sldMkLst>
        <pc:spChg chg="mod">
          <ac:chgData name="OLUWATOSIN Abraham" userId="3eb2658f1eba4c62" providerId="LiveId" clId="{63124D4C-BA5E-41C7-B480-E7B5788CDFA9}" dt="2026-07-21T18:15:26.137" v="173" actId="108"/>
          <ac:spMkLst>
            <pc:docMk/>
            <pc:sldMk cId="4100682218" sldId="271"/>
            <ac:spMk id="2" creationId="{735455F0-B409-35BC-28CE-ED86A92630BA}"/>
          </ac:spMkLst>
        </pc:spChg>
        <pc:spChg chg="add mod">
          <ac:chgData name="OLUWATOSIN Abraham" userId="3eb2658f1eba4c62" providerId="LiveId" clId="{63124D4C-BA5E-41C7-B480-E7B5788CDFA9}" dt="2026-07-23T04:09:34.010" v="2584" actId="20577"/>
          <ac:spMkLst>
            <pc:docMk/>
            <pc:sldMk cId="4100682218" sldId="271"/>
            <ac:spMk id="3" creationId="{062FF441-6EE8-6B70-D0F3-DEA31CB464E6}"/>
          </ac:spMkLst>
        </pc:spChg>
      </pc:sldChg>
      <pc:sldChg chg="delSp modSp add mod ord">
        <pc:chgData name="OLUWATOSIN Abraham" userId="3eb2658f1eba4c62" providerId="LiveId" clId="{63124D4C-BA5E-41C7-B480-E7B5788CDFA9}" dt="2026-07-24T11:19:13.259" v="2766" actId="20577"/>
        <pc:sldMkLst>
          <pc:docMk/>
          <pc:sldMk cId="392479184" sldId="272"/>
        </pc:sldMkLst>
        <pc:spChg chg="mod">
          <ac:chgData name="OLUWATOSIN Abraham" userId="3eb2658f1eba4c62" providerId="LiveId" clId="{63124D4C-BA5E-41C7-B480-E7B5788CDFA9}" dt="2026-07-21T18:30:32.567" v="392" actId="20577"/>
          <ac:spMkLst>
            <pc:docMk/>
            <pc:sldMk cId="392479184" sldId="272"/>
            <ac:spMk id="3" creationId="{BB18E5AE-8356-77A8-8789-B59CE237A7B8}"/>
          </ac:spMkLst>
        </pc:spChg>
        <pc:spChg chg="mod">
          <ac:chgData name="OLUWATOSIN Abraham" userId="3eb2658f1eba4c62" providerId="LiveId" clId="{63124D4C-BA5E-41C7-B480-E7B5788CDFA9}" dt="2026-07-24T11:18:43.544" v="2752" actId="14100"/>
          <ac:spMkLst>
            <pc:docMk/>
            <pc:sldMk cId="392479184" sldId="272"/>
            <ac:spMk id="15" creationId="{61AC0F51-A341-46DE-A2DD-C509358582D2}"/>
          </ac:spMkLst>
        </pc:spChg>
        <pc:spChg chg="mod">
          <ac:chgData name="OLUWATOSIN Abraham" userId="3eb2658f1eba4c62" providerId="LiveId" clId="{63124D4C-BA5E-41C7-B480-E7B5788CDFA9}" dt="2026-07-24T11:19:13.259" v="2766" actId="20577"/>
          <ac:spMkLst>
            <pc:docMk/>
            <pc:sldMk cId="392479184" sldId="272"/>
            <ac:spMk id="19" creationId="{F6E08F66-C94D-DE43-6B4D-2ECBF82324E7}"/>
          </ac:spMkLst>
        </pc:spChg>
      </pc:sldChg>
      <pc:sldChg chg="addSp delSp modSp add mod ord">
        <pc:chgData name="OLUWATOSIN Abraham" userId="3eb2658f1eba4c62" providerId="LiveId" clId="{63124D4C-BA5E-41C7-B480-E7B5788CDFA9}" dt="2026-07-28T11:27:04.433" v="3744"/>
        <pc:sldMkLst>
          <pc:docMk/>
          <pc:sldMk cId="2781102046" sldId="273"/>
        </pc:sldMkLst>
        <pc:spChg chg="mod">
          <ac:chgData name="OLUWATOSIN Abraham" userId="3eb2658f1eba4c62" providerId="LiveId" clId="{63124D4C-BA5E-41C7-B480-E7B5788CDFA9}" dt="2026-07-22T13:16:40.720" v="1887" actId="114"/>
          <ac:spMkLst>
            <pc:docMk/>
            <pc:sldMk cId="2781102046" sldId="273"/>
            <ac:spMk id="3" creationId="{67FBEB46-48AF-0CBA-4715-C3FCBD7D949E}"/>
          </ac:spMkLst>
        </pc:spChg>
        <pc:spChg chg="add mod">
          <ac:chgData name="OLUWATOSIN Abraham" userId="3eb2658f1eba4c62" providerId="LiveId" clId="{63124D4C-BA5E-41C7-B480-E7B5788CDFA9}" dt="2026-07-22T13:18:34.258" v="1904" actId="108"/>
          <ac:spMkLst>
            <pc:docMk/>
            <pc:sldMk cId="2781102046" sldId="273"/>
            <ac:spMk id="4" creationId="{758A823E-9A69-435B-7A7F-1FAF042DB98D}"/>
          </ac:spMkLst>
        </pc:spChg>
      </pc:sldChg>
      <pc:sldChg chg="addSp delSp modSp add mod ord modNotesTx">
        <pc:chgData name="OLUWATOSIN Abraham" userId="3eb2658f1eba4c62" providerId="LiveId" clId="{63124D4C-BA5E-41C7-B480-E7B5788CDFA9}" dt="2026-07-24T11:13:53.414" v="2619" actId="20577"/>
        <pc:sldMkLst>
          <pc:docMk/>
          <pc:sldMk cId="1695567314" sldId="274"/>
        </pc:sldMkLst>
        <pc:spChg chg="mod">
          <ac:chgData name="OLUWATOSIN Abraham" userId="3eb2658f1eba4c62" providerId="LiveId" clId="{63124D4C-BA5E-41C7-B480-E7B5788CDFA9}" dt="2026-07-24T11:13:53.414" v="2619" actId="20577"/>
          <ac:spMkLst>
            <pc:docMk/>
            <pc:sldMk cId="1695567314" sldId="274"/>
            <ac:spMk id="3" creationId="{F4A5EF68-E8AA-0A02-B9C9-1CB6EDD9D3FA}"/>
          </ac:spMkLst>
        </pc:spChg>
        <pc:spChg chg="mod">
          <ac:chgData name="OLUWATOSIN Abraham" userId="3eb2658f1eba4c62" providerId="LiveId" clId="{63124D4C-BA5E-41C7-B480-E7B5788CDFA9}" dt="2026-07-22T13:00:46.194" v="1595" actId="14100"/>
          <ac:spMkLst>
            <pc:docMk/>
            <pc:sldMk cId="1695567314" sldId="274"/>
            <ac:spMk id="26" creationId="{1DD13815-F8AF-026C-40E9-81F126CCBD03}"/>
          </ac:spMkLst>
        </pc:spChg>
        <pc:spChg chg="mod">
          <ac:chgData name="OLUWATOSIN Abraham" userId="3eb2658f1eba4c62" providerId="LiveId" clId="{63124D4C-BA5E-41C7-B480-E7B5788CDFA9}" dt="2026-07-21T18:51:23.606" v="926" actId="20577"/>
          <ac:spMkLst>
            <pc:docMk/>
            <pc:sldMk cId="1695567314" sldId="274"/>
            <ac:spMk id="28" creationId="{E287E17B-3EE6-AE0F-91A7-99C96867FE4A}"/>
          </ac:spMkLst>
        </pc:spChg>
        <pc:picChg chg="mod ord">
          <ac:chgData name="OLUWATOSIN Abraham" userId="3eb2658f1eba4c62" providerId="LiveId" clId="{63124D4C-BA5E-41C7-B480-E7B5788CDFA9}" dt="2026-07-23T03:57:39.624" v="2534" actId="26606"/>
          <ac:picMkLst>
            <pc:docMk/>
            <pc:sldMk cId="1695567314" sldId="274"/>
            <ac:picMk id="29" creationId="{D46EF766-17A6-6CF6-5845-AB2B3F540FE2}"/>
          </ac:picMkLst>
        </pc:picChg>
      </pc:sldChg>
      <pc:sldChg chg="addSp delSp modSp add mod ord modNotesTx">
        <pc:chgData name="OLUWATOSIN Abraham" userId="3eb2658f1eba4c62" providerId="LiveId" clId="{63124D4C-BA5E-41C7-B480-E7B5788CDFA9}" dt="2026-07-24T11:16:17.459" v="2672" actId="14100"/>
        <pc:sldMkLst>
          <pc:docMk/>
          <pc:sldMk cId="2967335913" sldId="275"/>
        </pc:sldMkLst>
        <pc:spChg chg="add mod">
          <ac:chgData name="OLUWATOSIN Abraham" userId="3eb2658f1eba4c62" providerId="LiveId" clId="{63124D4C-BA5E-41C7-B480-E7B5788CDFA9}" dt="2026-07-22T14:14:06.590" v="2346" actId="20577"/>
          <ac:spMkLst>
            <pc:docMk/>
            <pc:sldMk cId="2967335913" sldId="275"/>
            <ac:spMk id="6" creationId="{5C6C1ACD-C8EF-B88D-C726-F71509367509}"/>
          </ac:spMkLst>
        </pc:spChg>
        <pc:spChg chg="mod">
          <ac:chgData name="OLUWATOSIN Abraham" userId="3eb2658f1eba4c62" providerId="LiveId" clId="{63124D4C-BA5E-41C7-B480-E7B5788CDFA9}" dt="2026-07-22T13:03:35.309" v="1618" actId="1076"/>
          <ac:spMkLst>
            <pc:docMk/>
            <pc:sldMk cId="2967335913" sldId="275"/>
            <ac:spMk id="26" creationId="{ABEAD5D8-AE79-F6E0-3598-D0EAB59DE65A}"/>
          </ac:spMkLst>
        </pc:spChg>
        <pc:spChg chg="mod">
          <ac:chgData name="OLUWATOSIN Abraham" userId="3eb2658f1eba4c62" providerId="LiveId" clId="{63124D4C-BA5E-41C7-B480-E7B5788CDFA9}" dt="2026-07-24T11:16:17.459" v="2672" actId="14100"/>
          <ac:spMkLst>
            <pc:docMk/>
            <pc:sldMk cId="2967335913" sldId="275"/>
            <ac:spMk id="28" creationId="{9EF07592-4269-535F-82D1-98A421247626}"/>
          </ac:spMkLst>
        </pc:spChg>
        <pc:picChg chg="mod">
          <ac:chgData name="OLUWATOSIN Abraham" userId="3eb2658f1eba4c62" providerId="LiveId" clId="{63124D4C-BA5E-41C7-B480-E7B5788CDFA9}" dt="2026-07-23T03:57:39.624" v="2534" actId="26606"/>
          <ac:picMkLst>
            <pc:docMk/>
            <pc:sldMk cId="2967335913" sldId="275"/>
            <ac:picMk id="38" creationId="{3B041D93-50ED-611A-70F8-99C7DA696E82}"/>
          </ac:picMkLst>
        </pc:picChg>
      </pc:sldChg>
      <pc:sldChg chg="addSp delSp modSp add mod ord modNotesTx">
        <pc:chgData name="OLUWATOSIN Abraham" userId="3eb2658f1eba4c62" providerId="LiveId" clId="{63124D4C-BA5E-41C7-B480-E7B5788CDFA9}" dt="2026-07-24T11:17:45.664" v="2736" actId="1076"/>
        <pc:sldMkLst>
          <pc:docMk/>
          <pc:sldMk cId="2577710960" sldId="276"/>
        </pc:sldMkLst>
        <pc:spChg chg="add mod">
          <ac:chgData name="OLUWATOSIN Abraham" userId="3eb2658f1eba4c62" providerId="LiveId" clId="{63124D4C-BA5E-41C7-B480-E7B5788CDFA9}" dt="2026-07-24T11:17:34.322" v="2735" actId="6549"/>
          <ac:spMkLst>
            <pc:docMk/>
            <pc:sldMk cId="2577710960" sldId="276"/>
            <ac:spMk id="4" creationId="{45B82F8F-7F41-9915-ABD4-8EF320CCDA4A}"/>
          </ac:spMkLst>
        </pc:spChg>
        <pc:spChg chg="mod">
          <ac:chgData name="OLUWATOSIN Abraham" userId="3eb2658f1eba4c62" providerId="LiveId" clId="{63124D4C-BA5E-41C7-B480-E7B5788CDFA9}" dt="2026-07-22T13:32:20.544" v="1932" actId="14100"/>
          <ac:spMkLst>
            <pc:docMk/>
            <pc:sldMk cId="2577710960" sldId="276"/>
            <ac:spMk id="26" creationId="{29238AA9-7B09-9AA4-6FB2-DFDF35C08357}"/>
          </ac:spMkLst>
        </pc:spChg>
        <pc:spChg chg="mod">
          <ac:chgData name="OLUWATOSIN Abraham" userId="3eb2658f1eba4c62" providerId="LiveId" clId="{63124D4C-BA5E-41C7-B480-E7B5788CDFA9}" dt="2026-07-24T11:17:45.664" v="2736" actId="1076"/>
          <ac:spMkLst>
            <pc:docMk/>
            <pc:sldMk cId="2577710960" sldId="276"/>
            <ac:spMk id="31" creationId="{BBA7883D-5247-F5CD-6CE7-F6FE3E6F5370}"/>
          </ac:spMkLst>
        </pc:spChg>
        <pc:spChg chg="mod">
          <ac:chgData name="OLUWATOSIN Abraham" userId="3eb2658f1eba4c62" providerId="LiveId" clId="{63124D4C-BA5E-41C7-B480-E7B5788CDFA9}" dt="2026-07-22T13:32:37.242" v="1934" actId="14100"/>
          <ac:spMkLst>
            <pc:docMk/>
            <pc:sldMk cId="2577710960" sldId="276"/>
            <ac:spMk id="36" creationId="{AB8C7E5E-5F6C-6D8C-91A9-BA8081393B39}"/>
          </ac:spMkLst>
        </pc:spChg>
        <pc:picChg chg="mod">
          <ac:chgData name="OLUWATOSIN Abraham" userId="3eb2658f1eba4c62" providerId="LiveId" clId="{63124D4C-BA5E-41C7-B480-E7B5788CDFA9}" dt="2026-07-23T03:57:39.624" v="2534" actId="26606"/>
          <ac:picMkLst>
            <pc:docMk/>
            <pc:sldMk cId="2577710960" sldId="276"/>
            <ac:picMk id="40" creationId="{39754122-EF68-AA9C-283F-FDDC1516B511}"/>
          </ac:picMkLst>
        </pc:picChg>
      </pc:sldChg>
      <pc:sldChg chg="modSp new mod ord">
        <pc:chgData name="OLUWATOSIN Abraham" userId="3eb2658f1eba4c62" providerId="LiveId" clId="{63124D4C-BA5E-41C7-B480-E7B5788CDFA9}" dt="2026-07-28T09:16:07.438" v="3742"/>
        <pc:sldMkLst>
          <pc:docMk/>
          <pc:sldMk cId="124892640" sldId="277"/>
        </pc:sldMkLst>
        <pc:spChg chg="mod">
          <ac:chgData name="OLUWATOSIN Abraham" userId="3eb2658f1eba4c62" providerId="LiveId" clId="{63124D4C-BA5E-41C7-B480-E7B5788CDFA9}" dt="2026-07-22T11:11:24.077" v="1467" actId="20577"/>
          <ac:spMkLst>
            <pc:docMk/>
            <pc:sldMk cId="124892640" sldId="277"/>
            <ac:spMk id="2" creationId="{9847AE03-AF1B-7FD9-C646-88CC6006C1BA}"/>
          </ac:spMkLst>
        </pc:spChg>
      </pc:sldChg>
      <pc:sldChg chg="delSp modSp add mod modNotesTx">
        <pc:chgData name="OLUWATOSIN Abraham" userId="3eb2658f1eba4c62" providerId="LiveId" clId="{63124D4C-BA5E-41C7-B480-E7B5788CDFA9}" dt="2026-07-24T11:16:58.942" v="2726" actId="14100"/>
        <pc:sldMkLst>
          <pc:docMk/>
          <pc:sldMk cId="3407457326" sldId="278"/>
        </pc:sldMkLst>
        <pc:spChg chg="mod">
          <ac:chgData name="OLUWATOSIN Abraham" userId="3eb2658f1eba4c62" providerId="LiveId" clId="{63124D4C-BA5E-41C7-B480-E7B5788CDFA9}" dt="2026-07-24T11:15:50.080" v="2658" actId="20577"/>
          <ac:spMkLst>
            <pc:docMk/>
            <pc:sldMk cId="3407457326" sldId="278"/>
            <ac:spMk id="3" creationId="{B2209263-EA63-8310-85D6-AAFBC8C50E43}"/>
          </ac:spMkLst>
        </pc:spChg>
        <pc:spChg chg="mod">
          <ac:chgData name="OLUWATOSIN Abraham" userId="3eb2658f1eba4c62" providerId="LiveId" clId="{63124D4C-BA5E-41C7-B480-E7B5788CDFA9}" dt="2026-07-24T11:16:58.942" v="2726" actId="14100"/>
          <ac:spMkLst>
            <pc:docMk/>
            <pc:sldMk cId="3407457326" sldId="278"/>
            <ac:spMk id="31" creationId="{56E9FBE8-E279-7008-C137-326DEE8A8841}"/>
          </ac:spMkLst>
        </pc:spChg>
        <pc:spChg chg="mod">
          <ac:chgData name="OLUWATOSIN Abraham" userId="3eb2658f1eba4c62" providerId="LiveId" clId="{63124D4C-BA5E-41C7-B480-E7B5788CDFA9}" dt="2026-07-22T13:12:02.562" v="1704" actId="14100"/>
          <ac:spMkLst>
            <pc:docMk/>
            <pc:sldMk cId="3407457326" sldId="278"/>
            <ac:spMk id="36" creationId="{72CFC1AC-5134-35CA-A143-393A3955000A}"/>
          </ac:spMkLst>
        </pc:spChg>
        <pc:picChg chg="mod ord">
          <ac:chgData name="OLUWATOSIN Abraham" userId="3eb2658f1eba4c62" providerId="LiveId" clId="{63124D4C-BA5E-41C7-B480-E7B5788CDFA9}" dt="2026-07-22T13:01:00.167" v="1597" actId="167"/>
          <ac:picMkLst>
            <pc:docMk/>
            <pc:sldMk cId="3407457326" sldId="278"/>
            <ac:picMk id="33" creationId="{F08F322E-2207-4B8C-5E7C-E7D628E1E196}"/>
          </ac:picMkLst>
        </pc:picChg>
      </pc:sldChg>
      <pc:sldChg chg="addSp modSp add mod">
        <pc:chgData name="OLUWATOSIN Abraham" userId="3eb2658f1eba4c62" providerId="LiveId" clId="{63124D4C-BA5E-41C7-B480-E7B5788CDFA9}" dt="2026-07-23T04:27:15.964" v="2589" actId="26606"/>
        <pc:sldMkLst>
          <pc:docMk/>
          <pc:sldMk cId="482521954" sldId="279"/>
        </pc:sldMkLst>
        <pc:spChg chg="mod">
          <ac:chgData name="OLUWATOSIN Abraham" userId="3eb2658f1eba4c62" providerId="LiveId" clId="{63124D4C-BA5E-41C7-B480-E7B5788CDFA9}" dt="2026-07-23T03:57:40.369" v="2536" actId="27636"/>
          <ac:spMkLst>
            <pc:docMk/>
            <pc:sldMk cId="482521954" sldId="279"/>
            <ac:spMk id="36" creationId="{BEB7D93E-8DB3-FB89-C35F-4EE0B3F4CC6A}"/>
          </ac:spMkLst>
        </pc:spChg>
        <pc:spChg chg="add">
          <ac:chgData name="OLUWATOSIN Abraham" userId="3eb2658f1eba4c62" providerId="LiveId" clId="{63124D4C-BA5E-41C7-B480-E7B5788CDFA9}" dt="2026-07-23T04:27:15.964" v="2589" actId="26606"/>
          <ac:spMkLst>
            <pc:docMk/>
            <pc:sldMk cId="482521954" sldId="279"/>
            <ac:spMk id="100"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02"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03"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04"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05"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06"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07"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08"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09" creationId="{00000000-0000-0000-0000-000000000000}"/>
          </ac:spMkLst>
        </pc:spChg>
        <pc:spChg chg="add">
          <ac:chgData name="OLUWATOSIN Abraham" userId="3eb2658f1eba4c62" providerId="LiveId" clId="{63124D4C-BA5E-41C7-B480-E7B5788CDFA9}" dt="2026-07-23T04:27:15.964" v="2589" actId="26606"/>
          <ac:spMkLst>
            <pc:docMk/>
            <pc:sldMk cId="482521954" sldId="279"/>
            <ac:spMk id="110" creationId="{00000000-0000-0000-0000-000000000000}"/>
          </ac:spMkLst>
        </pc:spChg>
      </pc:sldChg>
      <pc:sldChg chg="addSp delSp modSp add mod modNotesTx">
        <pc:chgData name="OLUWATOSIN Abraham" userId="3eb2658f1eba4c62" providerId="LiveId" clId="{63124D4C-BA5E-41C7-B480-E7B5788CDFA9}" dt="2026-07-24T11:20:42.940" v="2810" actId="1076"/>
        <pc:sldMkLst>
          <pc:docMk/>
          <pc:sldMk cId="3068301324" sldId="280"/>
        </pc:sldMkLst>
        <pc:spChg chg="mod">
          <ac:chgData name="OLUWATOSIN Abraham" userId="3eb2658f1eba4c62" providerId="LiveId" clId="{63124D4C-BA5E-41C7-B480-E7B5788CDFA9}" dt="2026-07-24T11:20:35.535" v="2809" actId="14100"/>
          <ac:spMkLst>
            <pc:docMk/>
            <pc:sldMk cId="3068301324" sldId="280"/>
            <ac:spMk id="6" creationId="{0158AB14-67DB-4209-80A8-59CE9E86229E}"/>
          </ac:spMkLst>
        </pc:spChg>
        <pc:spChg chg="mod">
          <ac:chgData name="OLUWATOSIN Abraham" userId="3eb2658f1eba4c62" providerId="LiveId" clId="{63124D4C-BA5E-41C7-B480-E7B5788CDFA9}" dt="2026-07-22T14:11:19.977" v="2242" actId="1076"/>
          <ac:spMkLst>
            <pc:docMk/>
            <pc:sldMk cId="3068301324" sldId="280"/>
            <ac:spMk id="26" creationId="{AF8DEC68-E44A-C478-BC83-321563024424}"/>
          </ac:spMkLst>
        </pc:spChg>
        <pc:spChg chg="mod">
          <ac:chgData name="OLUWATOSIN Abraham" userId="3eb2658f1eba4c62" providerId="LiveId" clId="{63124D4C-BA5E-41C7-B480-E7B5788CDFA9}" dt="2026-07-22T14:00:21.222" v="2119" actId="20577"/>
          <ac:spMkLst>
            <pc:docMk/>
            <pc:sldMk cId="3068301324" sldId="280"/>
            <ac:spMk id="28" creationId="{766B30B5-C698-1F4E-51BD-079F24A9F6AB}"/>
          </ac:spMkLst>
        </pc:spChg>
        <pc:spChg chg="mod">
          <ac:chgData name="OLUWATOSIN Abraham" userId="3eb2658f1eba4c62" providerId="LiveId" clId="{63124D4C-BA5E-41C7-B480-E7B5788CDFA9}" dt="2026-07-24T11:20:42.940" v="2810" actId="1076"/>
          <ac:spMkLst>
            <pc:docMk/>
            <pc:sldMk cId="3068301324" sldId="280"/>
            <ac:spMk id="31" creationId="{717CD52A-2D1B-3778-9495-6596FD49F5BD}"/>
          </ac:spMkLst>
        </pc:spChg>
        <pc:spChg chg="mod">
          <ac:chgData name="OLUWATOSIN Abraham" userId="3eb2658f1eba4c62" providerId="LiveId" clId="{63124D4C-BA5E-41C7-B480-E7B5788CDFA9}" dt="2026-07-22T14:07:57.011" v="2225" actId="1076"/>
          <ac:spMkLst>
            <pc:docMk/>
            <pc:sldMk cId="3068301324" sldId="280"/>
            <ac:spMk id="36" creationId="{FFA00021-EF99-6C87-7B0F-11B2D20BEF73}"/>
          </ac:spMkLst>
        </pc:spChg>
        <pc:picChg chg="add mod">
          <ac:chgData name="OLUWATOSIN Abraham" userId="3eb2658f1eba4c62" providerId="LiveId" clId="{63124D4C-BA5E-41C7-B480-E7B5788CDFA9}" dt="2026-07-22T14:18:07.238" v="2440" actId="1076"/>
          <ac:picMkLst>
            <pc:docMk/>
            <pc:sldMk cId="3068301324" sldId="280"/>
            <ac:picMk id="4" creationId="{446350D0-1DDE-EEC9-67C7-51A65BD93673}"/>
          </ac:picMkLst>
        </pc:picChg>
        <pc:picChg chg="mod">
          <ac:chgData name="OLUWATOSIN Abraham" userId="3eb2658f1eba4c62" providerId="LiveId" clId="{63124D4C-BA5E-41C7-B480-E7B5788CDFA9}" dt="2026-07-22T13:59:16.441" v="2048" actId="1076"/>
          <ac:picMkLst>
            <pc:docMk/>
            <pc:sldMk cId="3068301324" sldId="280"/>
            <ac:picMk id="44" creationId="{C37009C4-889F-1A89-809B-5FE986AFA7A9}"/>
          </ac:picMkLst>
        </pc:picChg>
      </pc:sldChg>
      <pc:sldChg chg="modSp add mod ord">
        <pc:chgData name="OLUWATOSIN Abraham" userId="3eb2658f1eba4c62" providerId="LiveId" clId="{63124D4C-BA5E-41C7-B480-E7B5788CDFA9}" dt="2026-07-28T12:05:36.242" v="4033" actId="26606"/>
        <pc:sldMkLst>
          <pc:docMk/>
          <pc:sldMk cId="2332730493" sldId="281"/>
        </pc:sldMkLst>
        <pc:spChg chg="mod">
          <ac:chgData name="OLUWATOSIN Abraham" userId="3eb2658f1eba4c62" providerId="LiveId" clId="{63124D4C-BA5E-41C7-B480-E7B5788CDFA9}" dt="2026-07-27T17:48:12.869" v="3739" actId="14100"/>
          <ac:spMkLst>
            <pc:docMk/>
            <pc:sldMk cId="2332730493" sldId="281"/>
            <ac:spMk id="3" creationId="{8F86B6CE-A62D-28B2-035F-FFA2C9BD82F6}"/>
          </ac:spMkLst>
        </pc:spChg>
        <pc:spChg chg="mod">
          <ac:chgData name="OLUWATOSIN Abraham" userId="3eb2658f1eba4c62" providerId="LiveId" clId="{63124D4C-BA5E-41C7-B480-E7B5788CDFA9}" dt="2026-07-28T08:17:11.143" v="3740" actId="26606"/>
          <ac:spMkLst>
            <pc:docMk/>
            <pc:sldMk cId="2332730493" sldId="281"/>
            <ac:spMk id="5" creationId="{A74804CF-D0AB-7B08-0727-E74694FFF28C}"/>
          </ac:spMkLst>
        </pc:spChg>
        <pc:spChg chg="mod">
          <ac:chgData name="OLUWATOSIN Abraham" userId="3eb2658f1eba4c62" providerId="LiveId" clId="{63124D4C-BA5E-41C7-B480-E7B5788CDFA9}" dt="2026-07-28T12:05:36.242" v="4033" actId="26606"/>
          <ac:spMkLst>
            <pc:docMk/>
            <pc:sldMk cId="2332730493" sldId="281"/>
            <ac:spMk id="6" creationId="{364CEB0B-060B-0512-E23F-88F0318C18B3}"/>
          </ac:spMkLst>
        </pc:spChg>
        <pc:spChg chg="mod">
          <ac:chgData name="OLUWATOSIN Abraham" userId="3eb2658f1eba4c62" providerId="LiveId" clId="{63124D4C-BA5E-41C7-B480-E7B5788CDFA9}" dt="2026-07-28T08:17:11.143" v="3740" actId="26606"/>
          <ac:spMkLst>
            <pc:docMk/>
            <pc:sldMk cId="2332730493" sldId="281"/>
            <ac:spMk id="8" creationId="{38D8A1AA-CFBD-C683-0B80-BAB5F9AEAE63}"/>
          </ac:spMkLst>
        </pc:spChg>
        <pc:spChg chg="mod">
          <ac:chgData name="OLUWATOSIN Abraham" userId="3eb2658f1eba4c62" providerId="LiveId" clId="{63124D4C-BA5E-41C7-B480-E7B5788CDFA9}" dt="2026-07-28T12:05:36.242" v="4033" actId="26606"/>
          <ac:spMkLst>
            <pc:docMk/>
            <pc:sldMk cId="2332730493" sldId="281"/>
            <ac:spMk id="9" creationId="{0D8326C5-3798-2AFD-CF7D-26B8F967DC1F}"/>
          </ac:spMkLst>
        </pc:spChg>
        <pc:spChg chg="mod">
          <ac:chgData name="OLUWATOSIN Abraham" userId="3eb2658f1eba4c62" providerId="LiveId" clId="{63124D4C-BA5E-41C7-B480-E7B5788CDFA9}" dt="2026-07-28T12:05:36.242" v="4033" actId="26606"/>
          <ac:spMkLst>
            <pc:docMk/>
            <pc:sldMk cId="2332730493" sldId="281"/>
            <ac:spMk id="10" creationId="{EB824584-0A73-7EBD-A81B-EF3DCD538A3C}"/>
          </ac:spMkLst>
        </pc:spChg>
        <pc:spChg chg="mod">
          <ac:chgData name="OLUWATOSIN Abraham" userId="3eb2658f1eba4c62" providerId="LiveId" clId="{63124D4C-BA5E-41C7-B480-E7B5788CDFA9}" dt="2026-07-28T12:05:36.242" v="4033" actId="26606"/>
          <ac:spMkLst>
            <pc:docMk/>
            <pc:sldMk cId="2332730493" sldId="281"/>
            <ac:spMk id="11" creationId="{A48A935C-B9A9-E547-509A-D0CF48422290}"/>
          </ac:spMkLst>
        </pc:spChg>
        <pc:spChg chg="mod">
          <ac:chgData name="OLUWATOSIN Abraham" userId="3eb2658f1eba4c62" providerId="LiveId" clId="{63124D4C-BA5E-41C7-B480-E7B5788CDFA9}" dt="2026-07-28T12:05:36.242" v="4033" actId="26606"/>
          <ac:spMkLst>
            <pc:docMk/>
            <pc:sldMk cId="2332730493" sldId="281"/>
            <ac:spMk id="12" creationId="{2C411432-1778-793D-8637-2A09D0D098F4}"/>
          </ac:spMkLst>
        </pc:spChg>
        <pc:spChg chg="mod">
          <ac:chgData name="OLUWATOSIN Abraham" userId="3eb2658f1eba4c62" providerId="LiveId" clId="{63124D4C-BA5E-41C7-B480-E7B5788CDFA9}" dt="2026-07-28T08:17:11.143" v="3740" actId="26606"/>
          <ac:spMkLst>
            <pc:docMk/>
            <pc:sldMk cId="2332730493" sldId="281"/>
            <ac:spMk id="14" creationId="{411F1106-AEBF-10A5-C29D-543FE46D042C}"/>
          </ac:spMkLst>
        </pc:spChg>
        <pc:spChg chg="mod">
          <ac:chgData name="OLUWATOSIN Abraham" userId="3eb2658f1eba4c62" providerId="LiveId" clId="{63124D4C-BA5E-41C7-B480-E7B5788CDFA9}" dt="2026-07-28T12:05:36.242" v="4033" actId="26606"/>
          <ac:spMkLst>
            <pc:docMk/>
            <pc:sldMk cId="2332730493" sldId="281"/>
            <ac:spMk id="15" creationId="{078CD6C6-B220-54D9-A2CC-388F8F6A9090}"/>
          </ac:spMkLst>
        </pc:spChg>
        <pc:spChg chg="mod">
          <ac:chgData name="OLUWATOSIN Abraham" userId="3eb2658f1eba4c62" providerId="LiveId" clId="{63124D4C-BA5E-41C7-B480-E7B5788CDFA9}" dt="2026-07-28T08:17:11.143" v="3740" actId="26606"/>
          <ac:spMkLst>
            <pc:docMk/>
            <pc:sldMk cId="2332730493" sldId="281"/>
            <ac:spMk id="16" creationId="{2EE21DA5-E0AA-568E-0655-D6D9684FCE22}"/>
          </ac:spMkLst>
        </pc:spChg>
      </pc:sldChg>
      <pc:sldChg chg="addSp delSp modSp add mod ord">
        <pc:chgData name="OLUWATOSIN Abraham" userId="3eb2658f1eba4c62" providerId="LiveId" clId="{63124D4C-BA5E-41C7-B480-E7B5788CDFA9}" dt="2026-07-24T17:49:49.697" v="3576"/>
        <pc:sldMkLst>
          <pc:docMk/>
          <pc:sldMk cId="2208629309" sldId="282"/>
        </pc:sldMkLst>
        <pc:spChg chg="mod">
          <ac:chgData name="OLUWATOSIN Abraham" userId="3eb2658f1eba4c62" providerId="LiveId" clId="{63124D4C-BA5E-41C7-B480-E7B5788CDFA9}" dt="2026-07-24T12:08:16.242" v="3107" actId="1076"/>
          <ac:spMkLst>
            <pc:docMk/>
            <pc:sldMk cId="2208629309" sldId="282"/>
            <ac:spMk id="3" creationId="{B15B288F-99BD-B646-590A-FBC64529EC54}"/>
          </ac:spMkLst>
        </pc:spChg>
        <pc:spChg chg="mod">
          <ac:chgData name="OLUWATOSIN Abraham" userId="3eb2658f1eba4c62" providerId="LiveId" clId="{63124D4C-BA5E-41C7-B480-E7B5788CDFA9}" dt="2026-07-24T12:12:52.717" v="3109" actId="26606"/>
          <ac:spMkLst>
            <pc:docMk/>
            <pc:sldMk cId="2208629309" sldId="282"/>
            <ac:spMk id="40" creationId="{76AF5A95-EC96-581B-B196-3DB35637F589}"/>
          </ac:spMkLst>
        </pc:spChg>
        <pc:spChg chg="add">
          <ac:chgData name="OLUWATOSIN Abraham" userId="3eb2658f1eba4c62" providerId="LiveId" clId="{63124D4C-BA5E-41C7-B480-E7B5788CDFA9}" dt="2026-07-24T12:12:52.717" v="3109" actId="26606"/>
          <ac:spMkLst>
            <pc:docMk/>
            <pc:sldMk cId="2208629309" sldId="282"/>
            <ac:spMk id="50" creationId="{00000000-0000-0000-0000-000000000000}"/>
          </ac:spMkLst>
        </pc:spChg>
        <pc:spChg chg="add">
          <ac:chgData name="OLUWATOSIN Abraham" userId="3eb2658f1eba4c62" providerId="LiveId" clId="{63124D4C-BA5E-41C7-B480-E7B5788CDFA9}" dt="2026-07-24T12:12:52.717" v="3109" actId="26606"/>
          <ac:spMkLst>
            <pc:docMk/>
            <pc:sldMk cId="2208629309" sldId="282"/>
            <ac:spMk id="52" creationId="{00000000-0000-0000-0000-000000000000}"/>
          </ac:spMkLst>
        </pc:spChg>
        <pc:spChg chg="add">
          <ac:chgData name="OLUWATOSIN Abraham" userId="3eb2658f1eba4c62" providerId="LiveId" clId="{63124D4C-BA5E-41C7-B480-E7B5788CDFA9}" dt="2026-07-24T12:12:52.717" v="3109" actId="26606"/>
          <ac:spMkLst>
            <pc:docMk/>
            <pc:sldMk cId="2208629309" sldId="282"/>
            <ac:spMk id="53" creationId="{00000000-0000-0000-0000-000000000000}"/>
          </ac:spMkLst>
        </pc:spChg>
        <pc:graphicFrameChg chg="add">
          <ac:chgData name="OLUWATOSIN Abraham" userId="3eb2658f1eba4c62" providerId="LiveId" clId="{63124D4C-BA5E-41C7-B480-E7B5788CDFA9}" dt="2026-07-24T12:12:52.717" v="3109" actId="26606"/>
          <ac:graphicFrameMkLst>
            <pc:docMk/>
            <pc:sldMk cId="2208629309" sldId="282"/>
            <ac:graphicFrameMk id="4" creationId="{00000000-0000-0000-0000-000000000000}"/>
          </ac:graphicFrameMkLst>
        </pc:graphicFrameChg>
        <pc:graphicFrameChg chg="add">
          <ac:chgData name="OLUWATOSIN Abraham" userId="3eb2658f1eba4c62" providerId="LiveId" clId="{63124D4C-BA5E-41C7-B480-E7B5788CDFA9}" dt="2026-07-24T12:12:52.717" v="3109" actId="26606"/>
          <ac:graphicFrameMkLst>
            <pc:docMk/>
            <pc:sldMk cId="2208629309" sldId="282"/>
            <ac:graphicFrameMk id="51" creationId="{00000000-0000-0000-0000-000000000000}"/>
          </ac:graphicFrameMkLst>
        </pc:graphicFrameChg>
      </pc:sldChg>
      <pc:sldChg chg="addSp delSp modSp add mod ord">
        <pc:chgData name="OLUWATOSIN Abraham" userId="3eb2658f1eba4c62" providerId="LiveId" clId="{63124D4C-BA5E-41C7-B480-E7B5788CDFA9}" dt="2026-07-24T12:57:46.654" v="3228" actId="1076"/>
        <pc:sldMkLst>
          <pc:docMk/>
          <pc:sldMk cId="3916553844" sldId="283"/>
        </pc:sldMkLst>
        <pc:spChg chg="add del mod">
          <ac:chgData name="OLUWATOSIN Abraham" userId="3eb2658f1eba4c62" providerId="LiveId" clId="{63124D4C-BA5E-41C7-B480-E7B5788CDFA9}" dt="2026-07-24T12:57:46.654" v="3228" actId="1076"/>
          <ac:spMkLst>
            <pc:docMk/>
            <pc:sldMk cId="3916553844" sldId="283"/>
            <ac:spMk id="6" creationId="{48DF887A-CBA8-8365-6ED9-1CFA7612F2E6}"/>
          </ac:spMkLst>
        </pc:spChg>
      </pc:sldChg>
      <pc:sldChg chg="delSp modSp add mod ord">
        <pc:chgData name="OLUWATOSIN Abraham" userId="3eb2658f1eba4c62" providerId="LiveId" clId="{63124D4C-BA5E-41C7-B480-E7B5788CDFA9}" dt="2026-07-28T11:48:44.740" v="4029" actId="20577"/>
        <pc:sldMkLst>
          <pc:docMk/>
          <pc:sldMk cId="3033755820" sldId="284"/>
        </pc:sldMkLst>
        <pc:spChg chg="mod">
          <ac:chgData name="OLUWATOSIN Abraham" userId="3eb2658f1eba4c62" providerId="LiveId" clId="{63124D4C-BA5E-41C7-B480-E7B5788CDFA9}" dt="2026-07-28T11:32:34.440" v="3889" actId="1076"/>
          <ac:spMkLst>
            <pc:docMk/>
            <pc:sldMk cId="3033755820" sldId="284"/>
            <ac:spMk id="3" creationId="{2DC0DD61-4B2D-54A3-9183-B0D637FDD328}"/>
          </ac:spMkLst>
        </pc:spChg>
        <pc:spChg chg="mod">
          <ac:chgData name="OLUWATOSIN Abraham" userId="3eb2658f1eba4c62" providerId="LiveId" clId="{63124D4C-BA5E-41C7-B480-E7B5788CDFA9}" dt="2026-07-28T11:48:44.740" v="4029" actId="20577"/>
          <ac:spMkLst>
            <pc:docMk/>
            <pc:sldMk cId="3033755820" sldId="284"/>
            <ac:spMk id="40" creationId="{1413A633-C120-1689-0B24-FA8F6E2BFC6A}"/>
          </ac:spMkLst>
        </pc:spChg>
        <pc:graphicFrameChg chg="mod modGraphic">
          <ac:chgData name="OLUWATOSIN Abraham" userId="3eb2658f1eba4c62" providerId="LiveId" clId="{63124D4C-BA5E-41C7-B480-E7B5788CDFA9}" dt="2026-07-28T11:43:18.435" v="3892" actId="26606"/>
          <ac:graphicFrameMkLst>
            <pc:docMk/>
            <pc:sldMk cId="3033755820" sldId="284"/>
            <ac:graphicFrameMk id="23" creationId="{227EB596-AA32-7542-51F6-CDAC5B39122D}"/>
          </ac:graphicFrameMkLst>
        </pc:graphicFrameChg>
      </pc:sldChg>
      <pc:sldChg chg="delSp modSp add mod ord">
        <pc:chgData name="OLUWATOSIN Abraham" userId="3eb2658f1eba4c62" providerId="LiveId" clId="{63124D4C-BA5E-41C7-B480-E7B5788CDFA9}" dt="2026-07-24T17:45:46.422" v="3548" actId="20577"/>
        <pc:sldMkLst>
          <pc:docMk/>
          <pc:sldMk cId="99028013" sldId="285"/>
        </pc:sldMkLst>
        <pc:spChg chg="mod">
          <ac:chgData name="OLUWATOSIN Abraham" userId="3eb2658f1eba4c62" providerId="LiveId" clId="{63124D4C-BA5E-41C7-B480-E7B5788CDFA9}" dt="2026-07-24T17:45:46.422" v="3548" actId="20577"/>
          <ac:spMkLst>
            <pc:docMk/>
            <pc:sldMk cId="99028013" sldId="285"/>
            <ac:spMk id="3" creationId="{69A64C6D-5793-EDF6-5FA5-DDD4B92F2C08}"/>
          </ac:spMkLst>
        </pc:spChg>
      </pc:sldChg>
      <pc:sldChg chg="modSp add mod ord">
        <pc:chgData name="OLUWATOSIN Abraham" userId="3eb2658f1eba4c62" providerId="LiveId" clId="{63124D4C-BA5E-41C7-B480-E7B5788CDFA9}" dt="2026-07-24T18:45:54.955" v="3585" actId="14100"/>
        <pc:sldMkLst>
          <pc:docMk/>
          <pc:sldMk cId="4120321618" sldId="286"/>
        </pc:sldMkLst>
        <pc:spChg chg="mod">
          <ac:chgData name="OLUWATOSIN Abraham" userId="3eb2658f1eba4c62" providerId="LiveId" clId="{63124D4C-BA5E-41C7-B480-E7B5788CDFA9}" dt="2026-07-24T17:22:19.904" v="3448" actId="1076"/>
          <ac:spMkLst>
            <pc:docMk/>
            <pc:sldMk cId="4120321618" sldId="286"/>
            <ac:spMk id="3" creationId="{66B2015D-8CE3-6FC3-8B7C-1FC920BA3877}"/>
          </ac:spMkLst>
        </pc:spChg>
        <pc:spChg chg="mod">
          <ac:chgData name="OLUWATOSIN Abraham" userId="3eb2658f1eba4c62" providerId="LiveId" clId="{63124D4C-BA5E-41C7-B480-E7B5788CDFA9}" dt="2026-07-24T18:45:54.955" v="3585" actId="14100"/>
          <ac:spMkLst>
            <pc:docMk/>
            <pc:sldMk cId="4120321618" sldId="286"/>
            <ac:spMk id="40" creationId="{638E7FCC-F579-6496-6AF3-0C2E18537EF1}"/>
          </ac:spMkLst>
        </pc:spChg>
        <pc:spChg chg="mod">
          <ac:chgData name="OLUWATOSIN Abraham" userId="3eb2658f1eba4c62" providerId="LiveId" clId="{63124D4C-BA5E-41C7-B480-E7B5788CDFA9}" dt="2026-07-24T18:44:57.775" v="3581" actId="14100"/>
          <ac:spMkLst>
            <pc:docMk/>
            <pc:sldMk cId="4120321618" sldId="286"/>
            <ac:spMk id="52" creationId="{70788659-C2F2-F906-2AC2-FC9DD3195C71}"/>
          </ac:spMkLst>
        </pc:spChg>
        <pc:spChg chg="mod">
          <ac:chgData name="OLUWATOSIN Abraham" userId="3eb2658f1eba4c62" providerId="LiveId" clId="{63124D4C-BA5E-41C7-B480-E7B5788CDFA9}" dt="2026-07-24T17:28:03.113" v="3449" actId="26606"/>
          <ac:spMkLst>
            <pc:docMk/>
            <pc:sldMk cId="4120321618" sldId="286"/>
            <ac:spMk id="53" creationId="{9FA0AAF1-2496-2A52-E1E6-7BFA1D2EE251}"/>
          </ac:spMkLst>
        </pc:spChg>
        <pc:graphicFrameChg chg="mod modGraphic">
          <ac:chgData name="OLUWATOSIN Abraham" userId="3eb2658f1eba4c62" providerId="LiveId" clId="{63124D4C-BA5E-41C7-B480-E7B5788CDFA9}" dt="2026-07-24T17:28:03.113" v="3449" actId="26606"/>
          <ac:graphicFrameMkLst>
            <pc:docMk/>
            <pc:sldMk cId="4120321618" sldId="286"/>
            <ac:graphicFrameMk id="4" creationId="{C8F33FCC-1994-B2DF-B53D-0F2F3BA40BB5}"/>
          </ac:graphicFrameMkLst>
        </pc:graphicFrameChg>
      </pc:sldChg>
      <pc:sldChg chg="modSp add mod ord">
        <pc:chgData name="OLUWATOSIN Abraham" userId="3eb2658f1eba4c62" providerId="LiveId" clId="{63124D4C-BA5E-41C7-B480-E7B5788CDFA9}" dt="2026-07-24T17:52:39.982" v="3578" actId="1076"/>
        <pc:sldMkLst>
          <pc:docMk/>
          <pc:sldMk cId="1065278169" sldId="287"/>
        </pc:sldMkLst>
        <pc:spChg chg="mod">
          <ac:chgData name="OLUWATOSIN Abraham" userId="3eb2658f1eba4c62" providerId="LiveId" clId="{63124D4C-BA5E-41C7-B480-E7B5788CDFA9}" dt="2026-07-24T17:52:39.982" v="3578" actId="1076"/>
          <ac:spMkLst>
            <pc:docMk/>
            <pc:sldMk cId="1065278169" sldId="287"/>
            <ac:spMk id="3" creationId="{086056D3-96F9-EE80-C611-9B34F21A91D9}"/>
          </ac:spMkLst>
        </pc:spChg>
      </pc:sldChg>
      <pc:sldChg chg="modSp add mod ord">
        <pc:chgData name="OLUWATOSIN Abraham" userId="3eb2658f1eba4c62" providerId="LiveId" clId="{63124D4C-BA5E-41C7-B480-E7B5788CDFA9}" dt="2026-07-24T23:26:58.681" v="3697" actId="20577"/>
        <pc:sldMkLst>
          <pc:docMk/>
          <pc:sldMk cId="239766022" sldId="288"/>
        </pc:sldMkLst>
        <pc:spChg chg="mod">
          <ac:chgData name="OLUWATOSIN Abraham" userId="3eb2658f1eba4c62" providerId="LiveId" clId="{63124D4C-BA5E-41C7-B480-E7B5788CDFA9}" dt="2026-07-24T23:26:58.681" v="3697" actId="20577"/>
          <ac:spMkLst>
            <pc:docMk/>
            <pc:sldMk cId="239766022" sldId="288"/>
            <ac:spMk id="3" creationId="{2AC7FC21-A9AD-66B0-03FE-5B6D7E02EE1D}"/>
          </ac:spMkLst>
        </pc:spChg>
      </pc:sldChg>
      <pc:sldChg chg="modSp add mod ord">
        <pc:chgData name="OLUWATOSIN Abraham" userId="3eb2658f1eba4c62" providerId="LiveId" clId="{63124D4C-BA5E-41C7-B480-E7B5788CDFA9}" dt="2026-07-24T23:37:20.158" v="3718" actId="26606"/>
        <pc:sldMkLst>
          <pc:docMk/>
          <pc:sldMk cId="2490579485" sldId="289"/>
        </pc:sldMkLst>
        <pc:spChg chg="mod">
          <ac:chgData name="OLUWATOSIN Abraham" userId="3eb2658f1eba4c62" providerId="LiveId" clId="{63124D4C-BA5E-41C7-B480-E7B5788CDFA9}" dt="2026-07-24T23:32:36.666" v="3713" actId="1076"/>
          <ac:spMkLst>
            <pc:docMk/>
            <pc:sldMk cId="2490579485" sldId="289"/>
            <ac:spMk id="3" creationId="{CC3FBCB0-0ECF-A370-D2AB-537AC42AE558}"/>
          </ac:spMkLst>
        </pc:spChg>
        <pc:spChg chg="mod">
          <ac:chgData name="OLUWATOSIN Abraham" userId="3eb2658f1eba4c62" providerId="LiveId" clId="{63124D4C-BA5E-41C7-B480-E7B5788CDFA9}" dt="2026-07-24T23:37:20.158" v="3718" actId="26606"/>
          <ac:spMkLst>
            <pc:docMk/>
            <pc:sldMk cId="2490579485" sldId="289"/>
            <ac:spMk id="52" creationId="{677995A9-8958-84E9-3768-4E9055F4CB7C}"/>
          </ac:spMkLst>
        </pc:spChg>
        <pc:spChg chg="mod">
          <ac:chgData name="OLUWATOSIN Abraham" userId="3eb2658f1eba4c62" providerId="LiveId" clId="{63124D4C-BA5E-41C7-B480-E7B5788CDFA9}" dt="2026-07-24T23:37:20.158" v="3718" actId="26606"/>
          <ac:spMkLst>
            <pc:docMk/>
            <pc:sldMk cId="2490579485" sldId="289"/>
            <ac:spMk id="53" creationId="{5E770F7E-67FD-AF82-D5BF-F5862508CC9C}"/>
          </ac:spMkLst>
        </pc:spChg>
        <pc:graphicFrameChg chg="mod modGraphic">
          <ac:chgData name="OLUWATOSIN Abraham" userId="3eb2658f1eba4c62" providerId="LiveId" clId="{63124D4C-BA5E-41C7-B480-E7B5788CDFA9}" dt="2026-07-24T23:35:06.134" v="3717" actId="26606"/>
          <ac:graphicFrameMkLst>
            <pc:docMk/>
            <pc:sldMk cId="2490579485" sldId="289"/>
            <ac:graphicFrameMk id="4" creationId="{80FB7F2A-5140-E956-C855-16B3C1945C38}"/>
          </ac:graphicFrameMkLst>
        </pc:graphicFrameChg>
      </pc:sldChg>
      <pc:sldChg chg="addSp delSp modSp new mod">
        <pc:chgData name="OLUWATOSIN Abraham" userId="3eb2658f1eba4c62" providerId="LiveId" clId="{63124D4C-BA5E-41C7-B480-E7B5788CDFA9}" dt="2026-07-28T12:47:24.716" v="4089" actId="26606"/>
        <pc:sldMkLst>
          <pc:docMk/>
          <pc:sldMk cId="830722397" sldId="290"/>
        </pc:sldMkLst>
        <pc:spChg chg="add">
          <ac:chgData name="OLUWATOSIN Abraham" userId="3eb2658f1eba4c62" providerId="LiveId" clId="{63124D4C-BA5E-41C7-B480-E7B5788CDFA9}" dt="2026-07-28T12:24:48.393" v="4036" actId="26606"/>
          <ac:spMkLst>
            <pc:docMk/>
            <pc:sldMk cId="830722397" sldId="290"/>
            <ac:spMk id="2" creationId="{00000000-0000-0000-0000-000000000000}"/>
          </ac:spMkLst>
        </pc:spChg>
        <pc:spChg chg="add">
          <ac:chgData name="OLUWATOSIN Abraham" userId="3eb2658f1eba4c62" providerId="LiveId" clId="{63124D4C-BA5E-41C7-B480-E7B5788CDFA9}" dt="2026-07-28T12:24:48.393" v="4036" actId="26606"/>
          <ac:spMkLst>
            <pc:docMk/>
            <pc:sldMk cId="830722397" sldId="290"/>
            <ac:spMk id="3" creationId="{00000000-0000-0000-0000-000000000000}"/>
          </ac:spMkLst>
        </pc:spChg>
        <pc:spChg chg="add mod">
          <ac:chgData name="OLUWATOSIN Abraham" userId="3eb2658f1eba4c62" providerId="LiveId" clId="{63124D4C-BA5E-41C7-B480-E7B5788CDFA9}" dt="2026-07-28T12:47:24.716" v="4089" actId="26606"/>
          <ac:spMkLst>
            <pc:docMk/>
            <pc:sldMk cId="830722397" sldId="290"/>
            <ac:spMk id="4" creationId="{00000000-0000-0000-0000-000000000000}"/>
          </ac:spMkLst>
        </pc:spChg>
        <pc:spChg chg="add">
          <ac:chgData name="OLUWATOSIN Abraham" userId="3eb2658f1eba4c62" providerId="LiveId" clId="{63124D4C-BA5E-41C7-B480-E7B5788CDFA9}" dt="2026-07-28T12:24:48.393" v="4036" actId="26606"/>
          <ac:spMkLst>
            <pc:docMk/>
            <pc:sldMk cId="830722397" sldId="290"/>
            <ac:spMk id="6" creationId="{00000000-0000-0000-0000-000000000000}"/>
          </ac:spMkLst>
        </pc:spChg>
        <pc:spChg chg="add mod">
          <ac:chgData name="OLUWATOSIN Abraham" userId="3eb2658f1eba4c62" providerId="LiveId" clId="{63124D4C-BA5E-41C7-B480-E7B5788CDFA9}" dt="2026-07-28T12:47:24.716" v="4089" actId="26606"/>
          <ac:spMkLst>
            <pc:docMk/>
            <pc:sldMk cId="830722397" sldId="290"/>
            <ac:spMk id="7" creationId="{00000000-0000-0000-0000-000000000000}"/>
          </ac:spMkLst>
        </pc:spChg>
        <pc:spChg chg="add">
          <ac:chgData name="OLUWATOSIN Abraham" userId="3eb2658f1eba4c62" providerId="LiveId" clId="{63124D4C-BA5E-41C7-B480-E7B5788CDFA9}" dt="2026-07-28T12:24:48.393" v="4036" actId="26606"/>
          <ac:spMkLst>
            <pc:docMk/>
            <pc:sldMk cId="830722397" sldId="290"/>
            <ac:spMk id="8" creationId="{00000000-0000-0000-0000-000000000000}"/>
          </ac:spMkLst>
        </pc:spChg>
        <pc:spChg chg="add del mod">
          <ac:chgData name="OLUWATOSIN Abraham" userId="3eb2658f1eba4c62" providerId="LiveId" clId="{63124D4C-BA5E-41C7-B480-E7B5788CDFA9}" dt="2026-07-28T12:39:59.711" v="4038" actId="478"/>
          <ac:spMkLst>
            <pc:docMk/>
            <pc:sldMk cId="830722397" sldId="290"/>
            <ac:spMk id="9" creationId="{00000000-0000-0000-0000-000000000000}"/>
          </ac:spMkLst>
        </pc:spChg>
        <pc:spChg chg="add">
          <ac:chgData name="OLUWATOSIN Abraham" userId="3eb2658f1eba4c62" providerId="LiveId" clId="{63124D4C-BA5E-41C7-B480-E7B5788CDFA9}" dt="2026-07-28T12:24:48.393" v="4036" actId="26606"/>
          <ac:spMkLst>
            <pc:docMk/>
            <pc:sldMk cId="830722397" sldId="290"/>
            <ac:spMk id="10" creationId="{00000000-0000-0000-0000-000000000000}"/>
          </ac:spMkLst>
        </pc:spChg>
        <pc:spChg chg="del mod replId">
          <ac:chgData name="OLUWATOSIN Abraham" userId="3eb2658f1eba4c62" providerId="LiveId" clId="{63124D4C-BA5E-41C7-B480-E7B5788CDFA9}" dt="2026-07-28T12:24:48.393" v="4036" actId="26606"/>
          <ac:spMkLst>
            <pc:docMk/>
            <pc:sldMk cId="830722397" sldId="290"/>
            <ac:spMk id="11" creationId="{06B9F587-6434-D14E-725B-71CCB6959810}"/>
          </ac:spMkLst>
        </pc:spChg>
        <pc:graphicFrameChg chg="add mod">
          <ac:chgData name="OLUWATOSIN Abraham" userId="3eb2658f1eba4c62" providerId="LiveId" clId="{63124D4C-BA5E-41C7-B480-E7B5788CDFA9}" dt="2026-07-28T12:47:24.716" v="4089" actId="26606"/>
          <ac:graphicFrameMkLst>
            <pc:docMk/>
            <pc:sldMk cId="830722397" sldId="290"/>
            <ac:graphicFrameMk id="5" creationId="{00000000-0000-0000-0000-000000000000}"/>
          </ac:graphicFrameMkLst>
        </pc:graphicFrameChg>
      </pc:sldChg>
      <pc:sldChg chg="addSp delSp modSp add mod">
        <pc:chgData name="OLUWATOSIN Abraham" userId="3eb2658f1eba4c62" providerId="LiveId" clId="{63124D4C-BA5E-41C7-B480-E7B5788CDFA9}" dt="2026-07-28T13:16:34.863" v="4103" actId="26606"/>
        <pc:sldMkLst>
          <pc:docMk/>
          <pc:sldMk cId="0" sldId="291"/>
        </pc:sldMkLst>
        <pc:spChg chg="mod">
          <ac:chgData name="OLUWATOSIN Abraham" userId="3eb2658f1eba4c62" providerId="LiveId" clId="{63124D4C-BA5E-41C7-B480-E7B5788CDFA9}" dt="2026-07-28T13:16:34.863" v="4103" actId="26606"/>
          <ac:spMkLst>
            <pc:docMk/>
            <pc:sldMk cId="0" sldId="291"/>
            <ac:spMk id="4" creationId="{00000000-0000-0000-0000-000000000000}"/>
          </ac:spMkLst>
        </pc:spChg>
        <pc:spChg chg="add">
          <ac:chgData name="OLUWATOSIN Abraham" userId="3eb2658f1eba4c62" providerId="LiveId" clId="{63124D4C-BA5E-41C7-B480-E7B5788CDFA9}" dt="2026-07-28T13:16:34.863" v="4103" actId="26606"/>
          <ac:spMkLst>
            <pc:docMk/>
            <pc:sldMk cId="0" sldId="291"/>
            <ac:spMk id="7" creationId="{00000000-0000-0000-0000-000000000000}"/>
          </ac:spMkLst>
        </pc:spChg>
        <pc:spChg chg="add">
          <ac:chgData name="OLUWATOSIN Abraham" userId="3eb2658f1eba4c62" providerId="LiveId" clId="{63124D4C-BA5E-41C7-B480-E7B5788CDFA9}" dt="2026-07-28T13:16:34.863" v="4103" actId="26606"/>
          <ac:spMkLst>
            <pc:docMk/>
            <pc:sldMk cId="0" sldId="291"/>
            <ac:spMk id="8" creationId="{00000000-0000-0000-0000-000000000000}"/>
          </ac:spMkLst>
        </pc:spChg>
        <pc:spChg chg="del">
          <ac:chgData name="OLUWATOSIN Abraham" userId="3eb2658f1eba4c62" providerId="LiveId" clId="{63124D4C-BA5E-41C7-B480-E7B5788CDFA9}" dt="2026-07-28T13:16:34.863" v="4103" actId="26606"/>
          <ac:spMkLst>
            <pc:docMk/>
            <pc:sldMk cId="0" sldId="291"/>
            <ac:spMk id="10" creationId="{00000000-0000-0000-0000-000000000000}"/>
          </ac:spMkLst>
        </pc:spChg>
        <pc:spChg chg="del">
          <ac:chgData name="OLUWATOSIN Abraham" userId="3eb2658f1eba4c62" providerId="LiveId" clId="{63124D4C-BA5E-41C7-B480-E7B5788CDFA9}" dt="2026-07-28T13:16:34.863" v="4103" actId="26606"/>
          <ac:spMkLst>
            <pc:docMk/>
            <pc:sldMk cId="0" sldId="291"/>
            <ac:spMk id="11" creationId="{00000000-0000-0000-0000-000000000000}"/>
          </ac:spMkLst>
        </pc:spChg>
        <pc:spChg chg="del">
          <ac:chgData name="OLUWATOSIN Abraham" userId="3eb2658f1eba4c62" providerId="LiveId" clId="{63124D4C-BA5E-41C7-B480-E7B5788CDFA9}" dt="2026-07-28T13:16:34.863" v="4103" actId="26606"/>
          <ac:spMkLst>
            <pc:docMk/>
            <pc:sldMk cId="0" sldId="291"/>
            <ac:spMk id="12" creationId="{00000000-0000-0000-0000-000000000000}"/>
          </ac:spMkLst>
        </pc:spChg>
        <pc:spChg chg="del">
          <ac:chgData name="OLUWATOSIN Abraham" userId="3eb2658f1eba4c62" providerId="LiveId" clId="{63124D4C-BA5E-41C7-B480-E7B5788CDFA9}" dt="2026-07-28T13:16:34.863" v="4103" actId="26606"/>
          <ac:spMkLst>
            <pc:docMk/>
            <pc:sldMk cId="0" sldId="291"/>
            <ac:spMk id="13" creationId="{00000000-0000-0000-0000-000000000000}"/>
          </ac:spMkLst>
        </pc:spChg>
        <pc:spChg chg="del">
          <ac:chgData name="OLUWATOSIN Abraham" userId="3eb2658f1eba4c62" providerId="LiveId" clId="{63124D4C-BA5E-41C7-B480-E7B5788CDFA9}" dt="2026-07-28T13:16:34.863" v="4103" actId="26606"/>
          <ac:spMkLst>
            <pc:docMk/>
            <pc:sldMk cId="0" sldId="291"/>
            <ac:spMk id="20" creationId="{00000000-0000-0000-0000-000000000000}"/>
          </ac:spMkLst>
        </pc:spChg>
        <pc:graphicFrameChg chg="add">
          <ac:chgData name="OLUWATOSIN Abraham" userId="3eb2658f1eba4c62" providerId="LiveId" clId="{63124D4C-BA5E-41C7-B480-E7B5788CDFA9}" dt="2026-07-28T13:16:34.863" v="4103" actId="26606"/>
          <ac:graphicFrameMkLst>
            <pc:docMk/>
            <pc:sldMk cId="0" sldId="291"/>
            <ac:graphicFrameMk id="5" creationId="{00000000-0000-0000-0000-000000000000}"/>
          </ac:graphicFrameMkLst>
        </pc:graphicFrameChg>
        <pc:picChg chg="add del mod">
          <ac:chgData name="OLUWATOSIN Abraham" userId="3eb2658f1eba4c62" providerId="LiveId" clId="{63124D4C-BA5E-41C7-B480-E7B5788CDFA9}" dt="2026-07-28T13:16:34.863" v="4103" actId="26606"/>
          <ac:picMkLst>
            <pc:docMk/>
            <pc:sldMk cId="0" sldId="291"/>
            <ac:picMk id="6" creationId="{5CA0547C-862A-986E-5601-C7DAB6AE25CD}"/>
          </ac:picMkLst>
        </pc:picChg>
      </pc:sldChg>
      <pc:sldMasterChg chg="modSldLayout">
        <pc:chgData name="OLUWATOSIN Abraham" userId="3eb2658f1eba4c62" providerId="LiveId" clId="{63124D4C-BA5E-41C7-B480-E7B5788CDFA9}" dt="2026-07-21T01:16:04.788" v="5" actId="735"/>
        <pc:sldMasterMkLst>
          <pc:docMk/>
          <pc:sldMasterMk cId="3588891563" sldId="2147483648"/>
        </pc:sldMasterMkLst>
        <pc:sldLayoutChg chg="modSp">
          <pc:chgData name="OLUWATOSIN Abraham" userId="3eb2658f1eba4c62" providerId="LiveId" clId="{63124D4C-BA5E-41C7-B480-E7B5788CDFA9}" dt="2026-07-21T01:15:51.917" v="4" actId="735"/>
          <pc:sldLayoutMkLst>
            <pc:docMk/>
            <pc:sldMasterMk cId="3588891563" sldId="2147483648"/>
            <pc:sldLayoutMk cId="0" sldId="2147483650"/>
          </pc:sldLayoutMkLst>
        </pc:sldLayoutChg>
        <pc:sldLayoutChg chg="modSp">
          <pc:chgData name="OLUWATOSIN Abraham" userId="3eb2658f1eba4c62" providerId="LiveId" clId="{63124D4C-BA5E-41C7-B480-E7B5788CDFA9}" dt="2026-07-21T01:16:04.788" v="5" actId="735"/>
          <pc:sldLayoutMkLst>
            <pc:docMk/>
            <pc:sldMasterMk cId="3588891563" sldId="2147483648"/>
            <pc:sldLayoutMk cId="0" sldId="2147483651"/>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Support</c:v>
                </c:pt>
              </c:strCache>
            </c:strRef>
          </c:tx>
          <c:dPt>
            <c:idx val="0"/>
            <c:bubble3D val="0"/>
            <c:spPr>
              <a:solidFill>
                <a:srgbClr val="128F90"/>
              </a:solidFill>
              <a:ln w="19050">
                <a:solidFill>
                  <a:srgbClr val="FFFFFF"/>
                </a:solidFill>
              </a:ln>
            </c:spPr>
            <c:extLst>
              <c:ext xmlns:c16="http://schemas.microsoft.com/office/drawing/2014/chart" uri="{C3380CC4-5D6E-409C-BE32-E72D297353CC}">
                <c16:uniqueId val="{00000001-9A9D-45EC-BBBB-98FD0C1E3D9B}"/>
              </c:ext>
            </c:extLst>
          </c:dPt>
          <c:dPt>
            <c:idx val="1"/>
            <c:bubble3D val="0"/>
            <c:spPr>
              <a:solidFill>
                <a:srgbClr val="16436B"/>
              </a:solidFill>
              <a:ln w="19050">
                <a:solidFill>
                  <a:srgbClr val="FFFFFF"/>
                </a:solidFill>
              </a:ln>
            </c:spPr>
            <c:extLst>
              <c:ext xmlns:c16="http://schemas.microsoft.com/office/drawing/2014/chart" uri="{C3380CC4-5D6E-409C-BE32-E72D297353CC}">
                <c16:uniqueId val="{00000003-9A9D-45EC-BBBB-98FD0C1E3D9B}"/>
              </c:ext>
            </c:extLst>
          </c:dPt>
          <c:dLbls>
            <c:numFmt formatCode="0.0%" sourceLinked="0"/>
            <c:spPr>
              <a:noFill/>
              <a:ln>
                <a:noFill/>
              </a:ln>
            </c:spPr>
            <c:txPr>
              <a:bodyPr/>
              <a:lstStyle/>
              <a:p>
                <a:pPr>
                  <a:defRPr sz="1400" b="1">
                    <a:solidFill>
                      <a:srgbClr val="FFFFFF"/>
                    </a:solidFill>
                    <a:latin typeface="Calibri"/>
                  </a:defRPr>
                </a:pPr>
                <a:endParaRPr lang="en-US"/>
              </a:p>
            </c:txPr>
            <c:dLblPos val="ctr"/>
            <c:showLegendKey val="0"/>
            <c:showVal val="0"/>
            <c:showCatName val="0"/>
            <c:showSerName val="0"/>
            <c:showPercent val="1"/>
            <c:showBubbleSize val="0"/>
            <c:showLeaderLines val="0"/>
            <c:extLst>
              <c:ext xmlns:c15="http://schemas.microsoft.com/office/drawing/2012/chart" uri="{CE6537A1-D6FC-4f65-9D91-7224C49458BB}"/>
            </c:extLst>
          </c:dLbls>
          <c:cat>
            <c:strRef>
              <c:f>Sheet1!$A$2:$A$3</c:f>
              <c:strCache>
                <c:ptCount val="2"/>
                <c:pt idx="0">
                  <c:v>Non-churners (0)</c:v>
                </c:pt>
                <c:pt idx="1">
                  <c:v>Churners (1)</c:v>
                </c:pt>
              </c:strCache>
            </c:strRef>
          </c:cat>
          <c:val>
            <c:numRef>
              <c:f>Sheet1!$B$2:$B$3</c:f>
              <c:numCache>
                <c:formatCode>General</c:formatCode>
                <c:ptCount val="2"/>
                <c:pt idx="0">
                  <c:v>1354</c:v>
                </c:pt>
                <c:pt idx="1">
                  <c:v>646</c:v>
                </c:pt>
              </c:numCache>
            </c:numRef>
          </c:val>
          <c:extLst>
            <c:ext xmlns:c16="http://schemas.microsoft.com/office/drawing/2014/chart" uri="{C3380CC4-5D6E-409C-BE32-E72D297353CC}">
              <c16:uniqueId val="{00000004-9A9D-45EC-BBBB-98FD0C1E3D9B}"/>
            </c:ext>
          </c:extLst>
        </c:ser>
        <c:dLbls>
          <c:showLegendKey val="0"/>
          <c:showVal val="0"/>
          <c:showCatName val="0"/>
          <c:showSerName val="0"/>
          <c:showPercent val="0"/>
          <c:showBubbleSize val="0"/>
          <c:showLeaderLines val="0"/>
        </c:dLbls>
        <c:firstSliceAng val="0"/>
      </c:pieChart>
    </c:plotArea>
    <c:legend>
      <c:legendPos val="r"/>
      <c:overlay val="0"/>
      <c:txPr>
        <a:bodyPr/>
        <a:lstStyle/>
        <a:p>
          <a:pPr>
            <a:defRPr sz="1400" b="0">
              <a:solidFill>
                <a:srgbClr val="0F2C48"/>
              </a:solidFill>
              <a:latin typeface="Calibri"/>
            </a:defRPr>
          </a:pPr>
          <a:endParaRPr lang="en-US"/>
        </a:p>
      </c:txPr>
    </c:legend>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Support</c:v>
                </c:pt>
              </c:strCache>
            </c:strRef>
          </c:tx>
          <c:dPt>
            <c:idx val="0"/>
            <c:bubble3D val="0"/>
            <c:spPr>
              <a:solidFill>
                <a:srgbClr val="128F90"/>
              </a:solidFill>
              <a:ln w="19050">
                <a:solidFill>
                  <a:srgbClr val="FFFFFF"/>
                </a:solidFill>
              </a:ln>
            </c:spPr>
            <c:extLst>
              <c:ext xmlns:c16="http://schemas.microsoft.com/office/drawing/2014/chart" uri="{C3380CC4-5D6E-409C-BE32-E72D297353CC}">
                <c16:uniqueId val="{00000001-9A9D-45EC-BBBB-98FD0C1E3D9B}"/>
              </c:ext>
            </c:extLst>
          </c:dPt>
          <c:dPt>
            <c:idx val="1"/>
            <c:bubble3D val="0"/>
            <c:spPr>
              <a:solidFill>
                <a:srgbClr val="16436B"/>
              </a:solidFill>
              <a:ln w="19050">
                <a:solidFill>
                  <a:srgbClr val="FFFFFF"/>
                </a:solidFill>
              </a:ln>
            </c:spPr>
            <c:extLst>
              <c:ext xmlns:c16="http://schemas.microsoft.com/office/drawing/2014/chart" uri="{C3380CC4-5D6E-409C-BE32-E72D297353CC}">
                <c16:uniqueId val="{00000003-9A9D-45EC-BBBB-98FD0C1E3D9B}"/>
              </c:ext>
            </c:extLst>
          </c:dPt>
          <c:dLbls>
            <c:numFmt formatCode="0.0%" sourceLinked="0"/>
            <c:spPr>
              <a:noFill/>
              <a:ln>
                <a:noFill/>
              </a:ln>
            </c:spPr>
            <c:txPr>
              <a:bodyPr/>
              <a:lstStyle/>
              <a:p>
                <a:pPr>
                  <a:defRPr sz="1400" b="1">
                    <a:solidFill>
                      <a:srgbClr val="FFFFFF"/>
                    </a:solidFill>
                    <a:latin typeface="Calibri"/>
                  </a:defRPr>
                </a:pPr>
                <a:endParaRPr lang="en-US"/>
              </a:p>
            </c:txPr>
            <c:dLblPos val="ctr"/>
            <c:showLegendKey val="0"/>
            <c:showVal val="0"/>
            <c:showCatName val="0"/>
            <c:showSerName val="0"/>
            <c:showPercent val="1"/>
            <c:showBubbleSize val="0"/>
            <c:showLeaderLines val="0"/>
            <c:extLst>
              <c:ext xmlns:c15="http://schemas.microsoft.com/office/drawing/2012/chart" uri="{CE6537A1-D6FC-4f65-9D91-7224C49458BB}"/>
            </c:extLst>
          </c:dLbls>
          <c:cat>
            <c:strRef>
              <c:f>Sheet1!$A$2:$A$3</c:f>
              <c:strCache>
                <c:ptCount val="2"/>
                <c:pt idx="0">
                  <c:v>Non-churners (0)</c:v>
                </c:pt>
                <c:pt idx="1">
                  <c:v>Churners (1)</c:v>
                </c:pt>
              </c:strCache>
            </c:strRef>
          </c:cat>
          <c:val>
            <c:numRef>
              <c:f>Sheet1!$B$2:$B$3</c:f>
              <c:numCache>
                <c:formatCode>General</c:formatCode>
                <c:ptCount val="2"/>
                <c:pt idx="0">
                  <c:v>1354</c:v>
                </c:pt>
                <c:pt idx="1">
                  <c:v>646</c:v>
                </c:pt>
              </c:numCache>
            </c:numRef>
          </c:val>
          <c:extLst>
            <c:ext xmlns:c16="http://schemas.microsoft.com/office/drawing/2014/chart" uri="{C3380CC4-5D6E-409C-BE32-E72D297353CC}">
              <c16:uniqueId val="{00000004-9A9D-45EC-BBBB-98FD0C1E3D9B}"/>
            </c:ext>
          </c:extLst>
        </c:ser>
        <c:dLbls>
          <c:showLegendKey val="0"/>
          <c:showVal val="0"/>
          <c:showCatName val="0"/>
          <c:showSerName val="0"/>
          <c:showPercent val="0"/>
          <c:showBubbleSize val="0"/>
          <c:showLeaderLines val="0"/>
        </c:dLbls>
        <c:firstSliceAng val="0"/>
      </c:pieChart>
    </c:plotArea>
    <c:legend>
      <c:legendPos val="r"/>
      <c:overlay val="0"/>
      <c:txPr>
        <a:bodyPr/>
        <a:lstStyle/>
        <a:p>
          <a:pPr>
            <a:defRPr sz="1400" b="0">
              <a:solidFill>
                <a:srgbClr val="0F2C48"/>
              </a:solidFill>
              <a:latin typeface="Calibri"/>
            </a:defRPr>
          </a:pPr>
          <a:endParaRPr lang="en-US"/>
        </a:p>
      </c:txPr>
    </c:legend>
    <c:plotVisOnly val="1"/>
    <c:dispBlanksAs val="gap"/>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Support</c:v>
                </c:pt>
              </c:strCache>
            </c:strRef>
          </c:tx>
          <c:dPt>
            <c:idx val="0"/>
            <c:bubble3D val="0"/>
            <c:spPr>
              <a:solidFill>
                <a:srgbClr val="128F90"/>
              </a:solidFill>
              <a:ln w="19050">
                <a:solidFill>
                  <a:srgbClr val="FFFFFF"/>
                </a:solidFill>
              </a:ln>
            </c:spPr>
            <c:extLst>
              <c:ext xmlns:c16="http://schemas.microsoft.com/office/drawing/2014/chart" uri="{C3380CC4-5D6E-409C-BE32-E72D297353CC}">
                <c16:uniqueId val="{00000001-9A9D-45EC-BBBB-98FD0C1E3D9B}"/>
              </c:ext>
            </c:extLst>
          </c:dPt>
          <c:dPt>
            <c:idx val="1"/>
            <c:bubble3D val="0"/>
            <c:spPr>
              <a:solidFill>
                <a:srgbClr val="16436B"/>
              </a:solidFill>
              <a:ln w="19050">
                <a:solidFill>
                  <a:srgbClr val="FFFFFF"/>
                </a:solidFill>
              </a:ln>
            </c:spPr>
            <c:extLst>
              <c:ext xmlns:c16="http://schemas.microsoft.com/office/drawing/2014/chart" uri="{C3380CC4-5D6E-409C-BE32-E72D297353CC}">
                <c16:uniqueId val="{00000003-9A9D-45EC-BBBB-98FD0C1E3D9B}"/>
              </c:ext>
            </c:extLst>
          </c:dPt>
          <c:dLbls>
            <c:numFmt formatCode="0.0%" sourceLinked="0"/>
            <c:spPr>
              <a:noFill/>
              <a:ln>
                <a:noFill/>
              </a:ln>
            </c:spPr>
            <c:txPr>
              <a:bodyPr/>
              <a:lstStyle/>
              <a:p>
                <a:pPr>
                  <a:defRPr sz="1400" b="1">
                    <a:solidFill>
                      <a:srgbClr val="FFFFFF"/>
                    </a:solidFill>
                    <a:latin typeface="Calibri"/>
                  </a:defRPr>
                </a:pPr>
                <a:endParaRPr lang="en-US"/>
              </a:p>
            </c:txPr>
            <c:dLblPos val="ctr"/>
            <c:showLegendKey val="0"/>
            <c:showVal val="0"/>
            <c:showCatName val="0"/>
            <c:showSerName val="0"/>
            <c:showPercent val="1"/>
            <c:showBubbleSize val="0"/>
            <c:showLeaderLines val="0"/>
            <c:extLst>
              <c:ext xmlns:c15="http://schemas.microsoft.com/office/drawing/2012/chart" uri="{CE6537A1-D6FC-4f65-9D91-7224C49458BB}"/>
            </c:extLst>
          </c:dLbls>
          <c:cat>
            <c:strRef>
              <c:f>Sheet1!$A$2:$A$3</c:f>
              <c:strCache>
                <c:ptCount val="2"/>
                <c:pt idx="0">
                  <c:v>Non-churners (0)</c:v>
                </c:pt>
                <c:pt idx="1">
                  <c:v>Churners (1)</c:v>
                </c:pt>
              </c:strCache>
            </c:strRef>
          </c:cat>
          <c:val>
            <c:numRef>
              <c:f>Sheet1!$B$2:$B$3</c:f>
              <c:numCache>
                <c:formatCode>General</c:formatCode>
                <c:ptCount val="2"/>
                <c:pt idx="0">
                  <c:v>1354</c:v>
                </c:pt>
                <c:pt idx="1">
                  <c:v>646</c:v>
                </c:pt>
              </c:numCache>
            </c:numRef>
          </c:val>
          <c:extLst>
            <c:ext xmlns:c16="http://schemas.microsoft.com/office/drawing/2014/chart" uri="{C3380CC4-5D6E-409C-BE32-E72D297353CC}">
              <c16:uniqueId val="{00000004-9A9D-45EC-BBBB-98FD0C1E3D9B}"/>
            </c:ext>
          </c:extLst>
        </c:ser>
        <c:dLbls>
          <c:showLegendKey val="0"/>
          <c:showVal val="0"/>
          <c:showCatName val="0"/>
          <c:showSerName val="0"/>
          <c:showPercent val="0"/>
          <c:showBubbleSize val="0"/>
          <c:showLeaderLines val="0"/>
        </c:dLbls>
        <c:firstSliceAng val="0"/>
      </c:pieChart>
    </c:plotArea>
    <c:legend>
      <c:legendPos val="r"/>
      <c:overlay val="0"/>
      <c:txPr>
        <a:bodyPr/>
        <a:lstStyle/>
        <a:p>
          <a:pPr>
            <a:defRPr sz="1400" b="0">
              <a:solidFill>
                <a:srgbClr val="0F2C48"/>
              </a:solidFill>
              <a:latin typeface="Calibri"/>
            </a:defRPr>
          </a:pPr>
          <a:endParaRPr lang="en-US"/>
        </a:p>
      </c:txPr>
    </c:legend>
    <c:plotVisOnly val="1"/>
    <c:dispBlanksAs val="gap"/>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Support</c:v>
                </c:pt>
              </c:strCache>
            </c:strRef>
          </c:tx>
          <c:dPt>
            <c:idx val="0"/>
            <c:bubble3D val="0"/>
            <c:spPr>
              <a:solidFill>
                <a:srgbClr val="128F90"/>
              </a:solidFill>
              <a:ln w="19050">
                <a:solidFill>
                  <a:srgbClr val="FFFFFF"/>
                </a:solidFill>
              </a:ln>
            </c:spPr>
            <c:extLst>
              <c:ext xmlns:c16="http://schemas.microsoft.com/office/drawing/2014/chart" uri="{C3380CC4-5D6E-409C-BE32-E72D297353CC}">
                <c16:uniqueId val="{00000001-9A9D-45EC-BBBB-98FD0C1E3D9B}"/>
              </c:ext>
            </c:extLst>
          </c:dPt>
          <c:dPt>
            <c:idx val="1"/>
            <c:bubble3D val="0"/>
            <c:spPr>
              <a:solidFill>
                <a:srgbClr val="16436B"/>
              </a:solidFill>
              <a:ln w="19050">
                <a:solidFill>
                  <a:srgbClr val="FFFFFF"/>
                </a:solidFill>
              </a:ln>
            </c:spPr>
            <c:extLst>
              <c:ext xmlns:c16="http://schemas.microsoft.com/office/drawing/2014/chart" uri="{C3380CC4-5D6E-409C-BE32-E72D297353CC}">
                <c16:uniqueId val="{00000003-9A9D-45EC-BBBB-98FD0C1E3D9B}"/>
              </c:ext>
            </c:extLst>
          </c:dPt>
          <c:dLbls>
            <c:numFmt formatCode="0.0%" sourceLinked="0"/>
            <c:spPr>
              <a:noFill/>
              <a:ln>
                <a:noFill/>
              </a:ln>
            </c:spPr>
            <c:txPr>
              <a:bodyPr/>
              <a:lstStyle/>
              <a:p>
                <a:pPr>
                  <a:defRPr sz="1400" b="1">
                    <a:solidFill>
                      <a:srgbClr val="FFFFFF"/>
                    </a:solidFill>
                    <a:latin typeface="Calibri"/>
                  </a:defRPr>
                </a:pPr>
                <a:endParaRPr lang="en-US"/>
              </a:p>
            </c:txPr>
            <c:dLblPos val="ctr"/>
            <c:showLegendKey val="0"/>
            <c:showVal val="0"/>
            <c:showCatName val="0"/>
            <c:showSerName val="0"/>
            <c:showPercent val="1"/>
            <c:showBubbleSize val="0"/>
            <c:showLeaderLines val="0"/>
            <c:extLst>
              <c:ext xmlns:c15="http://schemas.microsoft.com/office/drawing/2012/chart" uri="{CE6537A1-D6FC-4f65-9D91-7224C49458BB}"/>
            </c:extLst>
          </c:dLbls>
          <c:cat>
            <c:strRef>
              <c:f>Sheet1!$A$2:$A$3</c:f>
              <c:strCache>
                <c:ptCount val="2"/>
                <c:pt idx="0">
                  <c:v>Non-churners (0)</c:v>
                </c:pt>
                <c:pt idx="1">
                  <c:v>Churners (1)</c:v>
                </c:pt>
              </c:strCache>
            </c:strRef>
          </c:cat>
          <c:val>
            <c:numRef>
              <c:f>Sheet1!$B$2:$B$3</c:f>
              <c:numCache>
                <c:formatCode>General</c:formatCode>
                <c:ptCount val="2"/>
                <c:pt idx="0">
                  <c:v>1354</c:v>
                </c:pt>
                <c:pt idx="1">
                  <c:v>646</c:v>
                </c:pt>
              </c:numCache>
            </c:numRef>
          </c:val>
          <c:extLst>
            <c:ext xmlns:c16="http://schemas.microsoft.com/office/drawing/2014/chart" uri="{C3380CC4-5D6E-409C-BE32-E72D297353CC}">
              <c16:uniqueId val="{00000004-9A9D-45EC-BBBB-98FD0C1E3D9B}"/>
            </c:ext>
          </c:extLst>
        </c:ser>
        <c:dLbls>
          <c:showLegendKey val="0"/>
          <c:showVal val="0"/>
          <c:showCatName val="0"/>
          <c:showSerName val="0"/>
          <c:showPercent val="0"/>
          <c:showBubbleSize val="0"/>
          <c:showLeaderLines val="0"/>
        </c:dLbls>
        <c:firstSliceAng val="0"/>
      </c:pieChart>
    </c:plotArea>
    <c:legend>
      <c:legendPos val="r"/>
      <c:overlay val="0"/>
      <c:txPr>
        <a:bodyPr/>
        <a:lstStyle/>
        <a:p>
          <a:pPr>
            <a:defRPr sz="1400" b="0">
              <a:solidFill>
                <a:srgbClr val="0F2C48"/>
              </a:solidFill>
              <a:latin typeface="Calibri"/>
            </a:defRPr>
          </a:pPr>
          <a:endParaRPr lang="en-US"/>
        </a:p>
      </c:txPr>
    </c:legend>
    <c:plotVisOnly val="1"/>
    <c:dispBlanksAs val="gap"/>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AUC</c:v>
                </c:pt>
              </c:strCache>
            </c:strRef>
          </c:tx>
          <c:spPr>
            <a:solidFill>
              <a:srgbClr val="128F90"/>
            </a:solidFill>
            <a:effectLst/>
          </c:spPr>
          <c:invertIfNegative val="0"/>
          <c:dLbls>
            <c:numFmt formatCode="0.00" sourceLinked="0"/>
            <c:spPr>
              <a:noFill/>
              <a:ln>
                <a:noFill/>
              </a:ln>
              <a:effectLst/>
            </c:spPr>
            <c:txPr>
              <a:bodyPr/>
              <a:lstStyle/>
              <a:p>
                <a:pPr>
                  <a:defRPr sz="1000" b="0" i="0" u="none" strike="noStrike">
                    <a:solidFill>
                      <a:srgbClr val="0F2C4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c:v>
                </c:pt>
                <c:pt idx="1">
                  <c:v>Random Forest</c:v>
                </c:pt>
                <c:pt idx="2">
                  <c:v>XGBoost</c:v>
                </c:pt>
              </c:strCache>
            </c:strRef>
          </c:cat>
          <c:val>
            <c:numRef>
              <c:f>Sheet1!$B$2:$B$4</c:f>
              <c:numCache>
                <c:formatCode>General</c:formatCode>
                <c:ptCount val="3"/>
                <c:pt idx="0">
                  <c:v>0.81</c:v>
                </c:pt>
                <c:pt idx="1">
                  <c:v>0.86</c:v>
                </c:pt>
                <c:pt idx="2">
                  <c:v>0.89</c:v>
                </c:pt>
              </c:numCache>
            </c:numRef>
          </c:val>
          <c:extLst>
            <c:ext xmlns:c16="http://schemas.microsoft.com/office/drawing/2014/chart" uri="{C3380CC4-5D6E-409C-BE32-E72D297353CC}">
              <c16:uniqueId val="{00000000-0000-42FF-BBF3-4023474F58BE}"/>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F5261"/>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1"/>
        <c:axPos val="b"/>
        <c:numFmt formatCode="General" sourceLinked="0"/>
        <c:majorTickMark val="out"/>
        <c:minorTickMark val="none"/>
        <c:tickLblPos val="low"/>
        <c:crossAx val="2094734554"/>
        <c:crosses val="autoZero"/>
        <c:crossBetween val="between"/>
      </c:valAx>
      <c:spPr>
        <a:solidFill>
          <a:srgbClr val="F5F8F9"/>
        </a:solidFill>
        <a:ln>
          <a:noFill/>
        </a:ln>
        <a:effectLst/>
      </c:spPr>
    </c:plotArea>
    <c:plotVisOnly val="1"/>
    <c:dispBlanksAs val="span"/>
    <c:showDLblsOverMax val="1"/>
  </c:chart>
  <c:spPr>
    <a:solidFill>
      <a:srgbClr val="F5F8F9"/>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Relative importance</c:v>
                </c:pt>
              </c:strCache>
            </c:strRef>
          </c:tx>
          <c:spPr>
            <a:solidFill>
              <a:srgbClr val="128F90"/>
            </a:solidFill>
            <a:effectLst/>
          </c:spPr>
          <c:invertIfNegative val="0"/>
          <c:dLbls>
            <c:numFmt formatCode="0%" sourceLinked="0"/>
            <c:spPr>
              <a:noFill/>
              <a:ln>
                <a:noFill/>
              </a:ln>
              <a:effectLst/>
            </c:spPr>
            <c:txPr>
              <a:bodyPr/>
              <a:lstStyle/>
              <a:p>
                <a:pPr>
                  <a:defRPr sz="1000" b="0" i="0" u="none" strike="noStrike">
                    <a:solidFill>
                      <a:srgbClr val="0F2C4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Referred by a friend</c:v>
                </c:pt>
                <c:pt idx="1">
                  <c:v>Days since last trip</c:v>
                </c:pt>
                <c:pt idx="2">
                  <c:v>Missing app sessions</c:v>
                </c:pt>
                <c:pt idx="3">
                  <c:v>City</c:v>
                </c:pt>
                <c:pt idx="4">
                  <c:v>How often they ride</c:v>
                </c:pt>
                <c:pt idx="5">
                  <c:v>Age</c:v>
                </c:pt>
              </c:strCache>
            </c:strRef>
          </c:cat>
          <c:val>
            <c:numRef>
              <c:f>Sheet1!$B$2:$B$7</c:f>
              <c:numCache>
                <c:formatCode>0%</c:formatCode>
                <c:ptCount val="6"/>
                <c:pt idx="0">
                  <c:v>3.1690000000000003E-2</c:v>
                </c:pt>
                <c:pt idx="1">
                  <c:v>0.11262</c:v>
                </c:pt>
                <c:pt idx="2">
                  <c:v>0.11600000000000001</c:v>
                </c:pt>
                <c:pt idx="3">
                  <c:v>0.14715</c:v>
                </c:pt>
                <c:pt idx="4">
                  <c:v>0.19342999999999999</c:v>
                </c:pt>
                <c:pt idx="5">
                  <c:v>0.39911000000000002</c:v>
                </c:pt>
              </c:numCache>
            </c:numRef>
          </c:val>
          <c:extLst>
            <c:ext xmlns:c16="http://schemas.microsoft.com/office/drawing/2014/chart" uri="{C3380CC4-5D6E-409C-BE32-E72D297353CC}">
              <c16:uniqueId val="{00000000-0000-42FF-BBF3-4023474F58C0}"/>
            </c:ext>
          </c:extLst>
        </c:ser>
        <c:dLbls>
          <c:showLegendKey val="0"/>
          <c:showVal val="1"/>
          <c:showCatName val="0"/>
          <c:showSerName val="0"/>
          <c:showPercent val="0"/>
          <c:showBubbleSize val="0"/>
        </c:dLbls>
        <c:gapWidth val="60"/>
        <c:axId val="2094734560"/>
        <c:axId val="2094734561"/>
      </c:barChart>
      <c:catAx>
        <c:axId val="2094734560"/>
        <c:scaling>
          <c:orientation val="minMax"/>
        </c:scaling>
        <c:delete val="0"/>
        <c:axPos val="l"/>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3F5261"/>
                </a:solidFill>
                <a:latin typeface="Calibri"/>
              </a:defRPr>
            </a:pPr>
            <a:endParaRPr lang="en-US"/>
          </a:p>
        </c:txPr>
        <c:crossAx val="2094734561"/>
        <c:crosses val="autoZero"/>
        <c:auto val="1"/>
        <c:lblAlgn val="ctr"/>
        <c:lblOffset val="100"/>
        <c:noMultiLvlLbl val="1"/>
      </c:catAx>
      <c:valAx>
        <c:axId val="2094734561"/>
        <c:scaling>
          <c:orientation val="minMax"/>
          <c:max val="0.45"/>
          <c:min val="0"/>
        </c:scaling>
        <c:delete val="1"/>
        <c:axPos val="b"/>
        <c:numFmt formatCode="General" sourceLinked="0"/>
        <c:majorTickMark val="out"/>
        <c:minorTickMark val="none"/>
        <c:tickLblPos val="low"/>
        <c:crossAx val="2094734560"/>
        <c:crosses val="autoZero"/>
        <c:crossBetween val="between"/>
      </c:valAx>
      <c:spPr>
        <a:solidFill>
          <a:srgbClr val="F5F8F9"/>
        </a:solidFill>
        <a:ln>
          <a:noFill/>
        </a:ln>
        <a:effectLst/>
      </c:spPr>
    </c:plotArea>
    <c:plotVisOnly val="1"/>
    <c:dispBlanksAs val="span"/>
    <c:showDLblsOverMax val="1"/>
  </c:chart>
  <c:spPr>
    <a:solidFill>
      <a:srgbClr val="F5F8F9"/>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Relative importance</c:v>
                </c:pt>
              </c:strCache>
            </c:strRef>
          </c:tx>
          <c:spPr>
            <a:solidFill>
              <a:srgbClr val="128F90"/>
            </a:solidFill>
            <a:effectLst/>
          </c:spPr>
          <c:invertIfNegative val="0"/>
          <c:dPt>
            <c:idx val="0"/>
            <c:invertIfNegative val="0"/>
            <c:bubble3D val="0"/>
            <c:spPr>
              <a:solidFill>
                <a:srgbClr val="B7C2C9"/>
              </a:solidFill>
              <a:effectLst/>
            </c:spPr>
            <c:extLst>
              <c:ext xmlns:c16="http://schemas.microsoft.com/office/drawing/2014/chart" uri="{C3380CC4-5D6E-409C-BE32-E72D297353CC}">
                <c16:uniqueId val="{00000001-9C0D-4FD6-B365-25A454145F19}"/>
              </c:ext>
            </c:extLst>
          </c:dPt>
          <c:dPt>
            <c:idx val="1"/>
            <c:invertIfNegative val="0"/>
            <c:bubble3D val="0"/>
            <c:spPr>
              <a:solidFill>
                <a:srgbClr val="B7C2C9"/>
              </a:solidFill>
              <a:effectLst/>
            </c:spPr>
            <c:extLst>
              <c:ext xmlns:c16="http://schemas.microsoft.com/office/drawing/2014/chart" uri="{C3380CC4-5D6E-409C-BE32-E72D297353CC}">
                <c16:uniqueId val="{00000003-9C0D-4FD6-B365-25A454145F19}"/>
              </c:ext>
            </c:extLst>
          </c:dPt>
          <c:dPt>
            <c:idx val="2"/>
            <c:invertIfNegative val="0"/>
            <c:bubble3D val="0"/>
            <c:spPr>
              <a:solidFill>
                <a:srgbClr val="B7C2C9"/>
              </a:solidFill>
              <a:effectLst/>
            </c:spPr>
            <c:extLst>
              <c:ext xmlns:c16="http://schemas.microsoft.com/office/drawing/2014/chart" uri="{C3380CC4-5D6E-409C-BE32-E72D297353CC}">
                <c16:uniqueId val="{00000005-9C0D-4FD6-B365-25A454145F19}"/>
              </c:ext>
            </c:extLst>
          </c:dPt>
          <c:dPt>
            <c:idx val="3"/>
            <c:invertIfNegative val="0"/>
            <c:bubble3D val="0"/>
            <c:spPr>
              <a:solidFill>
                <a:srgbClr val="B7C2C9"/>
              </a:solidFill>
              <a:effectLst/>
            </c:spPr>
            <c:extLst>
              <c:ext xmlns:c16="http://schemas.microsoft.com/office/drawing/2014/chart" uri="{C3380CC4-5D6E-409C-BE32-E72D297353CC}">
                <c16:uniqueId val="{00000007-9C0D-4FD6-B365-25A454145F19}"/>
              </c:ext>
            </c:extLst>
          </c:dPt>
          <c:dLbls>
            <c:numFmt formatCode="0%" sourceLinked="0"/>
            <c:spPr>
              <a:noFill/>
              <a:ln>
                <a:noFill/>
              </a:ln>
              <a:effectLst/>
            </c:spPr>
            <c:txPr>
              <a:bodyPr/>
              <a:lstStyle/>
              <a:p>
                <a:pPr>
                  <a:defRPr sz="1000" b="0" i="0" u="none" strike="noStrike">
                    <a:solidFill>
                      <a:srgbClr val="0F2C48"/>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Age group</c:v>
                </c:pt>
                <c:pt idx="1">
                  <c:v>Average fare</c:v>
                </c:pt>
                <c:pt idx="2">
                  <c:v>Engagement score</c:v>
                </c:pt>
                <c:pt idx="3">
                  <c:v>Loyalty tier</c:v>
                </c:pt>
                <c:pt idx="4">
                  <c:v>Referred by a friend</c:v>
                </c:pt>
                <c:pt idx="5">
                  <c:v>Days since last trip</c:v>
                </c:pt>
                <c:pt idx="6">
                  <c:v>Missing app sessions</c:v>
                </c:pt>
                <c:pt idx="7">
                  <c:v>City</c:v>
                </c:pt>
                <c:pt idx="8">
                  <c:v>How often they ride</c:v>
                </c:pt>
                <c:pt idx="9">
                  <c:v>Age</c:v>
                </c:pt>
              </c:strCache>
            </c:strRef>
          </c:cat>
          <c:val>
            <c:numRef>
              <c:f>Sheet1!$B$2:$B$11</c:f>
              <c:numCache>
                <c:formatCode>0%</c:formatCode>
                <c:ptCount val="10"/>
                <c:pt idx="0">
                  <c:v>0</c:v>
                </c:pt>
                <c:pt idx="1">
                  <c:v>0</c:v>
                </c:pt>
                <c:pt idx="2">
                  <c:v>0</c:v>
                </c:pt>
                <c:pt idx="3">
                  <c:v>0</c:v>
                </c:pt>
                <c:pt idx="4">
                  <c:v>3.1690000000000003E-2</c:v>
                </c:pt>
                <c:pt idx="5">
                  <c:v>0.11262</c:v>
                </c:pt>
                <c:pt idx="6">
                  <c:v>0.11600000000000001</c:v>
                </c:pt>
                <c:pt idx="7">
                  <c:v>0.14715</c:v>
                </c:pt>
                <c:pt idx="8">
                  <c:v>0.19342999999999999</c:v>
                </c:pt>
                <c:pt idx="9">
                  <c:v>0.39911000000000002</c:v>
                </c:pt>
              </c:numCache>
            </c:numRef>
          </c:val>
          <c:extLst>
            <c:ext xmlns:c16="http://schemas.microsoft.com/office/drawing/2014/chart" uri="{C3380CC4-5D6E-409C-BE32-E72D297353CC}">
              <c16:uniqueId val="{00000000-0000-42FF-BBF3-4023474F58C1}"/>
            </c:ext>
          </c:extLst>
        </c:ser>
        <c:dLbls>
          <c:showLegendKey val="0"/>
          <c:showVal val="1"/>
          <c:showCatName val="0"/>
          <c:showSerName val="0"/>
          <c:showPercent val="0"/>
          <c:showBubbleSize val="0"/>
        </c:dLbls>
        <c:gapWidth val="60"/>
        <c:axId val="2094734570"/>
        <c:axId val="2094734571"/>
      </c:barChart>
      <c:catAx>
        <c:axId val="2094734570"/>
        <c:scaling>
          <c:orientation val="minMax"/>
        </c:scaling>
        <c:delete val="0"/>
        <c:axPos val="l"/>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3F5261"/>
                </a:solidFill>
                <a:latin typeface="Calibri"/>
              </a:defRPr>
            </a:pPr>
            <a:endParaRPr lang="en-US"/>
          </a:p>
        </c:txPr>
        <c:crossAx val="2094734571"/>
        <c:crosses val="autoZero"/>
        <c:auto val="1"/>
        <c:lblAlgn val="ctr"/>
        <c:lblOffset val="100"/>
        <c:noMultiLvlLbl val="1"/>
      </c:catAx>
      <c:valAx>
        <c:axId val="2094734571"/>
        <c:scaling>
          <c:orientation val="minMax"/>
          <c:max val="0.45"/>
          <c:min val="0"/>
        </c:scaling>
        <c:delete val="1"/>
        <c:axPos val="b"/>
        <c:numFmt formatCode="General" sourceLinked="0"/>
        <c:majorTickMark val="out"/>
        <c:minorTickMark val="none"/>
        <c:tickLblPos val="low"/>
        <c:crossAx val="2094734570"/>
        <c:crosses val="autoZero"/>
        <c:crossBetween val="between"/>
      </c:valAx>
      <c:spPr>
        <a:solidFill>
          <a:srgbClr val="F5F8F9"/>
        </a:solidFill>
        <a:ln>
          <a:noFill/>
        </a:ln>
        <a:effectLst/>
      </c:spPr>
    </c:plotArea>
    <c:plotVisOnly val="1"/>
    <c:dispBlanksAs val="span"/>
    <c:showDLblsOverMax val="1"/>
  </c:chart>
  <c:spPr>
    <a:solidFill>
      <a:srgbClr val="F5F8F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effectLst/>
              </a:rPr>
              <a:t>RideWise</a:t>
            </a:r>
            <a:r>
              <a:rPr lang="en-GB" dirty="0">
                <a:effectLst/>
              </a:rPr>
              <a:t> aims to reduce customer churn and improve rider retention.</a:t>
            </a:r>
            <a:endParaRPr lang="en-GB" dirty="0"/>
          </a:p>
          <a:p>
            <a:r>
              <a:rPr lang="en-GB" dirty="0">
                <a:effectLst/>
              </a:rPr>
              <a:t>I was able to build a rider‑level analytical dataset combining demographics, behaviour, and engagement.</a:t>
            </a:r>
            <a:endParaRPr lang="en-GB" dirty="0"/>
          </a:p>
          <a:p>
            <a:r>
              <a:rPr lang="en-GB" dirty="0">
                <a:effectLst/>
              </a:rPr>
              <a:t>Exploratory Data Analysis reveals clear churn drivers: </a:t>
            </a:r>
            <a:r>
              <a:rPr lang="en-GB" b="1" dirty="0">
                <a:effectLst/>
              </a:rPr>
              <a:t>engagement</a:t>
            </a:r>
            <a:r>
              <a:rPr lang="en-GB" dirty="0">
                <a:effectLst/>
              </a:rPr>
              <a:t>, </a:t>
            </a:r>
            <a:r>
              <a:rPr lang="en-GB" b="1" dirty="0">
                <a:effectLst/>
              </a:rPr>
              <a:t>trip frequency</a:t>
            </a:r>
            <a:r>
              <a:rPr lang="en-GB" dirty="0">
                <a:effectLst/>
              </a:rPr>
              <a:t>, and </a:t>
            </a:r>
            <a:r>
              <a:rPr lang="en-GB" b="1" dirty="0">
                <a:effectLst/>
              </a:rPr>
              <a:t>loyalty tier</a:t>
            </a:r>
            <a:r>
              <a:rPr lang="en-GB" dirty="0">
                <a:effectLst/>
              </a:rPr>
              <a:t>. </a:t>
            </a:r>
            <a:endParaRPr lang="en-GB" dirty="0"/>
          </a:p>
          <a:p>
            <a:r>
              <a:rPr lang="en-GB" dirty="0">
                <a:effectLst/>
              </a:rPr>
              <a:t>A machine‑learning model will predict churn risk and support targeted retention strategies.</a:t>
            </a:r>
            <a:endParaRPr lang="en-GB" dirty="0"/>
          </a:p>
          <a:p>
            <a:r>
              <a:rPr lang="en-GB" dirty="0">
                <a:effectLst/>
              </a:rPr>
              <a:t>Segmentation identifies distinct rider groups for personalised interventions.</a:t>
            </a:r>
            <a:endParaRPr lang="en-GB"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rPr>
              <a:t>Trips aggregated into behavioural features:</a:t>
            </a:r>
            <a:endParaRPr lang="en-GB" dirty="0"/>
          </a:p>
          <a:p>
            <a:pPr lvl="1"/>
            <a:r>
              <a:rPr lang="en-GB" dirty="0" err="1">
                <a:effectLst/>
              </a:rPr>
              <a:t>total_trips</a:t>
            </a:r>
            <a:r>
              <a:rPr lang="en-GB" dirty="0">
                <a:effectLst/>
              </a:rPr>
              <a:t>, </a:t>
            </a:r>
            <a:r>
              <a:rPr lang="en-GB" dirty="0" err="1">
                <a:effectLst/>
              </a:rPr>
              <a:t>avg_fare</a:t>
            </a:r>
            <a:r>
              <a:rPr lang="en-GB" dirty="0">
                <a:effectLst/>
              </a:rPr>
              <a:t>, </a:t>
            </a:r>
            <a:r>
              <a:rPr lang="en-GB" dirty="0" err="1">
                <a:effectLst/>
              </a:rPr>
              <a:t>avg_tip</a:t>
            </a:r>
            <a:r>
              <a:rPr lang="en-GB" dirty="0">
                <a:effectLst/>
              </a:rPr>
              <a:t>, </a:t>
            </a:r>
            <a:r>
              <a:rPr lang="en-GB" dirty="0" err="1">
                <a:effectLst/>
              </a:rPr>
              <a:t>avg_surge</a:t>
            </a:r>
            <a:r>
              <a:rPr lang="en-GB" dirty="0">
                <a:effectLst/>
              </a:rPr>
              <a:t>, </a:t>
            </a:r>
            <a:r>
              <a:rPr lang="en-GB" dirty="0" err="1">
                <a:effectLst/>
              </a:rPr>
              <a:t>last_trip_time</a:t>
            </a:r>
            <a:endParaRPr lang="en-GB" dirty="0"/>
          </a:p>
          <a:p>
            <a:r>
              <a:rPr lang="en-GB" dirty="0">
                <a:effectLst/>
              </a:rPr>
              <a:t>Sessions aggregated into engagement features:</a:t>
            </a:r>
            <a:endParaRPr lang="en-GB" dirty="0"/>
          </a:p>
          <a:p>
            <a:pPr lvl="1"/>
            <a:r>
              <a:rPr lang="en-GB" dirty="0" err="1">
                <a:effectLst/>
              </a:rPr>
              <a:t>total_sessions</a:t>
            </a:r>
            <a:r>
              <a:rPr lang="en-GB" dirty="0">
                <a:effectLst/>
              </a:rPr>
              <a:t>, </a:t>
            </a:r>
            <a:r>
              <a:rPr lang="en-GB" dirty="0" err="1">
                <a:effectLst/>
              </a:rPr>
              <a:t>avg_pages_visited</a:t>
            </a:r>
            <a:r>
              <a:rPr lang="en-GB" dirty="0">
                <a:effectLst/>
              </a:rPr>
              <a:t>, </a:t>
            </a:r>
            <a:r>
              <a:rPr lang="en-GB" dirty="0" err="1">
                <a:effectLst/>
              </a:rPr>
              <a:t>conversion_rate</a:t>
            </a:r>
            <a:endParaRPr lang="en-GB" dirty="0"/>
          </a:p>
          <a:p>
            <a:r>
              <a:rPr lang="en-GB" dirty="0">
                <a:effectLst/>
              </a:rPr>
              <a:t>Final dataset: </a:t>
            </a:r>
            <a:r>
              <a:rPr lang="en-GB" b="1" dirty="0">
                <a:effectLst/>
              </a:rPr>
              <a:t>17 features</a:t>
            </a:r>
            <a:r>
              <a:rPr lang="en-GB" dirty="0">
                <a:effectLst/>
              </a:rPr>
              <a:t>, 10,000 riders</a:t>
            </a:r>
            <a:endParaRPr lang="en-GB" dirty="0"/>
          </a:p>
          <a:p>
            <a:r>
              <a:rPr lang="en-GB" b="1" dirty="0">
                <a:effectLst/>
              </a:rPr>
              <a:t>Why this matters:</a:t>
            </a:r>
            <a:r>
              <a:rPr lang="en-GB" dirty="0">
                <a:effectLst/>
              </a:rPr>
              <a:t> Churn prediction is a </a:t>
            </a:r>
            <a:r>
              <a:rPr lang="en-GB" b="1" dirty="0">
                <a:effectLst/>
              </a:rPr>
              <a:t>customer‑level</a:t>
            </a:r>
            <a:r>
              <a:rPr lang="en-GB" dirty="0">
                <a:effectLst/>
              </a:rPr>
              <a:t> problem, not a trip‑level problem.</a:t>
            </a:r>
            <a:endParaRPr lang="en-GB"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8F5C0-F6F3-CD9B-2B62-0EBA9D9A3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0E63B-15EF-3113-BBD8-198CFE233B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B03DED-DDB3-90E4-BB10-9660330C9F9F}"/>
              </a:ext>
            </a:extLst>
          </p:cNvPr>
          <p:cNvSpPr>
            <a:spLocks noGrp="1"/>
          </p:cNvSpPr>
          <p:nvPr>
            <p:ph type="body" idx="1"/>
          </p:nvPr>
        </p:nvSpPr>
        <p:spPr/>
        <p:txBody>
          <a:bodyPr/>
          <a:lstStyle/>
          <a:p>
            <a:r>
              <a:rPr lang="en-GB" dirty="0">
                <a:effectLst/>
              </a:rPr>
              <a:t>Trips aggregated into behavioural features:</a:t>
            </a:r>
            <a:endParaRPr lang="en-GB" dirty="0"/>
          </a:p>
          <a:p>
            <a:pPr lvl="1"/>
            <a:r>
              <a:rPr lang="en-GB" dirty="0" err="1">
                <a:effectLst/>
              </a:rPr>
              <a:t>total_trips</a:t>
            </a:r>
            <a:r>
              <a:rPr lang="en-GB" dirty="0">
                <a:effectLst/>
              </a:rPr>
              <a:t>, </a:t>
            </a:r>
            <a:r>
              <a:rPr lang="en-GB" dirty="0" err="1">
                <a:effectLst/>
              </a:rPr>
              <a:t>avg_fare</a:t>
            </a:r>
            <a:r>
              <a:rPr lang="en-GB" dirty="0">
                <a:effectLst/>
              </a:rPr>
              <a:t>, </a:t>
            </a:r>
            <a:r>
              <a:rPr lang="en-GB" dirty="0" err="1">
                <a:effectLst/>
              </a:rPr>
              <a:t>avg_tip</a:t>
            </a:r>
            <a:r>
              <a:rPr lang="en-GB" dirty="0">
                <a:effectLst/>
              </a:rPr>
              <a:t>, </a:t>
            </a:r>
            <a:r>
              <a:rPr lang="en-GB" dirty="0" err="1">
                <a:effectLst/>
              </a:rPr>
              <a:t>avg_surge</a:t>
            </a:r>
            <a:r>
              <a:rPr lang="en-GB" dirty="0">
                <a:effectLst/>
              </a:rPr>
              <a:t>, </a:t>
            </a:r>
            <a:r>
              <a:rPr lang="en-GB" dirty="0" err="1">
                <a:effectLst/>
              </a:rPr>
              <a:t>last_trip_time</a:t>
            </a:r>
            <a:endParaRPr lang="en-GB" dirty="0"/>
          </a:p>
          <a:p>
            <a:r>
              <a:rPr lang="en-GB" dirty="0">
                <a:effectLst/>
              </a:rPr>
              <a:t>Sessions aggregated into engagement features:</a:t>
            </a:r>
            <a:endParaRPr lang="en-GB" dirty="0"/>
          </a:p>
          <a:p>
            <a:pPr lvl="1"/>
            <a:r>
              <a:rPr lang="en-GB" dirty="0" err="1">
                <a:effectLst/>
              </a:rPr>
              <a:t>total_sessions</a:t>
            </a:r>
            <a:r>
              <a:rPr lang="en-GB" dirty="0">
                <a:effectLst/>
              </a:rPr>
              <a:t>, </a:t>
            </a:r>
            <a:r>
              <a:rPr lang="en-GB" dirty="0" err="1">
                <a:effectLst/>
              </a:rPr>
              <a:t>avg_pages_visited</a:t>
            </a:r>
            <a:r>
              <a:rPr lang="en-GB" dirty="0">
                <a:effectLst/>
              </a:rPr>
              <a:t>, </a:t>
            </a:r>
            <a:r>
              <a:rPr lang="en-GB" dirty="0" err="1">
                <a:effectLst/>
              </a:rPr>
              <a:t>conversion_rate</a:t>
            </a:r>
            <a:endParaRPr lang="en-GB" dirty="0"/>
          </a:p>
          <a:p>
            <a:r>
              <a:rPr lang="en-GB" dirty="0">
                <a:effectLst/>
              </a:rPr>
              <a:t>Final dataset: </a:t>
            </a:r>
            <a:r>
              <a:rPr lang="en-GB" b="1" dirty="0">
                <a:effectLst/>
              </a:rPr>
              <a:t>17 features</a:t>
            </a:r>
            <a:r>
              <a:rPr lang="en-GB" dirty="0">
                <a:effectLst/>
              </a:rPr>
              <a:t>, 10,000 riders</a:t>
            </a:r>
            <a:endParaRPr lang="en-GB" dirty="0"/>
          </a:p>
          <a:p>
            <a:r>
              <a:rPr lang="en-GB" b="1" dirty="0">
                <a:effectLst/>
              </a:rPr>
              <a:t>Why this matters:</a:t>
            </a:r>
            <a:r>
              <a:rPr lang="en-GB" dirty="0">
                <a:effectLst/>
              </a:rPr>
              <a:t> Churn prediction is a </a:t>
            </a:r>
            <a:r>
              <a:rPr lang="en-GB" b="1" dirty="0">
                <a:effectLst/>
              </a:rPr>
              <a:t>customer‑level</a:t>
            </a:r>
            <a:r>
              <a:rPr lang="en-GB" dirty="0">
                <a:effectLst/>
              </a:rPr>
              <a:t> problem, not a trip‑level problem.</a:t>
            </a:r>
            <a:endParaRPr lang="en-GB" dirty="0"/>
          </a:p>
          <a:p>
            <a:endParaRPr lang="en-US" dirty="0"/>
          </a:p>
        </p:txBody>
      </p:sp>
      <p:sp>
        <p:nvSpPr>
          <p:cNvPr id="4" name="Slide Number Placeholder 3">
            <a:extLst>
              <a:ext uri="{FF2B5EF4-FFF2-40B4-BE49-F238E27FC236}">
                <a16:creationId xmlns:a16="http://schemas.microsoft.com/office/drawing/2014/main" id="{6047177F-9616-880C-F79E-92C72688A05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66470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9FDF3-3A44-A413-BB19-33FE42280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61E89-DEC5-D916-F43F-64210B51B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91565A-BE27-2B33-EDBB-3DAB5B58D4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52A87F-0ED5-330C-E86C-321FDEF7FFB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745854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31C8A-455A-2BE4-E621-BA8CEF930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542CE-4CD4-D4B7-32FC-F47EED62F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2845E-2E53-940A-B62C-637B1754C4AF}"/>
              </a:ext>
            </a:extLst>
          </p:cNvPr>
          <p:cNvSpPr>
            <a:spLocks noGrp="1"/>
          </p:cNvSpPr>
          <p:nvPr>
            <p:ph type="body" idx="1"/>
          </p:nvPr>
        </p:nvSpPr>
        <p:spPr/>
        <p:txBody>
          <a:bodyPr/>
          <a:lstStyle/>
          <a:p>
            <a:r>
              <a:rPr lang="en-GB" b="1" dirty="0"/>
              <a:t>Churn Probability Distribution</a:t>
            </a:r>
          </a:p>
          <a:p>
            <a:r>
              <a:rPr lang="en-GB" dirty="0">
                <a:effectLst/>
              </a:rPr>
              <a:t>Right‑skewed distribution</a:t>
            </a:r>
            <a:endParaRPr lang="en-GB" dirty="0"/>
          </a:p>
          <a:p>
            <a:r>
              <a:rPr lang="en-GB" dirty="0">
                <a:effectLst/>
              </a:rPr>
              <a:t>Most riders have churn probability between </a:t>
            </a:r>
            <a:r>
              <a:rPr lang="en-GB" b="1" dirty="0">
                <a:effectLst/>
              </a:rPr>
              <a:t>0.1–0.4</a:t>
            </a:r>
            <a:endParaRPr lang="en-GB" dirty="0"/>
          </a:p>
          <a:p>
            <a:r>
              <a:rPr lang="en-GB" dirty="0">
                <a:effectLst/>
              </a:rPr>
              <a:t>Clear high‑risk tail above </a:t>
            </a:r>
            <a:r>
              <a:rPr lang="en-GB" b="1" dirty="0">
                <a:effectLst/>
              </a:rPr>
              <a:t>0.60</a:t>
            </a:r>
            <a:endParaRPr lang="en-GB" dirty="0"/>
          </a:p>
          <a:p>
            <a:r>
              <a:rPr lang="en-GB" b="1" dirty="0">
                <a:effectLst/>
              </a:rPr>
              <a:t>Insight:</a:t>
            </a:r>
            <a:r>
              <a:rPr lang="en-GB" dirty="0">
                <a:effectLst/>
              </a:rPr>
              <a:t> Targeted retention should focus on the top </a:t>
            </a:r>
            <a:r>
              <a:rPr lang="en-GB" b="1" dirty="0">
                <a:effectLst/>
              </a:rPr>
              <a:t>10–15%</a:t>
            </a:r>
            <a:r>
              <a:rPr lang="en-GB" dirty="0">
                <a:effectLst/>
              </a:rPr>
              <a:t> high‑risk riders.</a:t>
            </a:r>
          </a:p>
          <a:p>
            <a:endParaRPr lang="en-GB" dirty="0"/>
          </a:p>
          <a:p>
            <a:endParaRPr lang="en-US" dirty="0"/>
          </a:p>
        </p:txBody>
      </p:sp>
      <p:sp>
        <p:nvSpPr>
          <p:cNvPr id="4" name="Slide Number Placeholder 3">
            <a:extLst>
              <a:ext uri="{FF2B5EF4-FFF2-40B4-BE49-F238E27FC236}">
                <a16:creationId xmlns:a16="http://schemas.microsoft.com/office/drawing/2014/main" id="{E6600064-EA3F-0FE8-7FBE-684DFDF4328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878408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8CE1C-FECC-73F6-48B0-F92662D4E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B624B-B935-ED66-85A1-E2A3B1ADD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35DC6-226C-3EAD-1434-B03EE90D19B9}"/>
              </a:ext>
            </a:extLst>
          </p:cNvPr>
          <p:cNvSpPr>
            <a:spLocks noGrp="1"/>
          </p:cNvSpPr>
          <p:nvPr>
            <p:ph type="body" idx="1"/>
          </p:nvPr>
        </p:nvSpPr>
        <p:spPr/>
        <p:txBody>
          <a:bodyPr/>
          <a:lstStyle/>
          <a:p>
            <a:r>
              <a:rPr lang="en-GB" b="1" dirty="0">
                <a:effectLst/>
              </a:rPr>
              <a:t>Total Trips vs Churn: Trip frequency is a behavioural churn driver. </a:t>
            </a:r>
          </a:p>
          <a:p>
            <a:r>
              <a:rPr lang="en-GB" b="1" dirty="0">
                <a:effectLst/>
              </a:rPr>
              <a:t>More trips- more habit – more loyalty. </a:t>
            </a:r>
            <a:endParaRPr lang="en-GB" dirty="0"/>
          </a:p>
          <a:p>
            <a:r>
              <a:rPr lang="en-GB" dirty="0">
                <a:effectLst/>
              </a:rPr>
              <a:t>Low trip frequency → higher churn</a:t>
            </a:r>
            <a:endParaRPr lang="en-GB" dirty="0"/>
          </a:p>
          <a:p>
            <a:r>
              <a:rPr lang="en-GB" dirty="0">
                <a:effectLst/>
              </a:rPr>
              <a:t>High trip frequency → lower churn</a:t>
            </a:r>
            <a:endParaRPr lang="en-GB" dirty="0"/>
          </a:p>
          <a:p>
            <a:r>
              <a:rPr lang="en-GB" b="1" dirty="0">
                <a:effectLst/>
              </a:rPr>
              <a:t>Insight:</a:t>
            </a:r>
            <a:r>
              <a:rPr lang="en-GB" dirty="0">
                <a:effectLst/>
              </a:rPr>
              <a:t> Trip frequency is a strong loyalty indicator.</a:t>
            </a:r>
          </a:p>
          <a:p>
            <a:r>
              <a:rPr lang="en-GB" dirty="0">
                <a:effectLst/>
              </a:rPr>
              <a:t>ach dot represents a rider.</a:t>
            </a:r>
            <a:endParaRPr lang="en-GB" dirty="0"/>
          </a:p>
          <a:p>
            <a:r>
              <a:rPr lang="en-GB" dirty="0">
                <a:effectLst/>
              </a:rPr>
              <a:t>The x‑axis shows </a:t>
            </a:r>
            <a:r>
              <a:rPr lang="en-GB" b="1" dirty="0">
                <a:effectLst/>
              </a:rPr>
              <a:t>how many trips</a:t>
            </a:r>
            <a:r>
              <a:rPr lang="en-GB" dirty="0">
                <a:effectLst/>
              </a:rPr>
              <a:t> the rider has taken.</a:t>
            </a:r>
            <a:endParaRPr lang="en-GB" dirty="0"/>
          </a:p>
          <a:p>
            <a:r>
              <a:rPr lang="en-GB" dirty="0">
                <a:effectLst/>
              </a:rPr>
              <a:t>The y‑axis shows </a:t>
            </a:r>
            <a:r>
              <a:rPr lang="en-GB" b="1" dirty="0">
                <a:effectLst/>
              </a:rPr>
              <a:t>their churn probability</a:t>
            </a:r>
            <a:r>
              <a:rPr lang="en-GB" dirty="0">
                <a:effectLst/>
              </a:rPr>
              <a:t>.</a:t>
            </a:r>
            <a:endParaRPr lang="en-GB" dirty="0"/>
          </a:p>
          <a:p>
            <a:r>
              <a:rPr lang="en-GB" dirty="0">
                <a:effectLst/>
              </a:rPr>
              <a:t>Most riders cluster between </a:t>
            </a:r>
            <a:r>
              <a:rPr lang="en-GB" b="1" dirty="0">
                <a:effectLst/>
              </a:rPr>
              <a:t>10 and 30 trips</a:t>
            </a:r>
            <a:r>
              <a:rPr lang="en-GB" dirty="0">
                <a:effectLst/>
              </a:rPr>
              <a:t>, with churn probabilities between </a:t>
            </a:r>
            <a:r>
              <a:rPr lang="en-GB" b="1" dirty="0">
                <a:effectLst/>
              </a:rPr>
              <a:t>0.15 and 0.35</a:t>
            </a:r>
            <a:r>
              <a:rPr lang="en-GB" dirty="0">
                <a:effectLst/>
              </a:rPr>
              <a:t>.</a:t>
            </a:r>
            <a:endParaRPr lang="en-GB" dirty="0"/>
          </a:p>
          <a:p>
            <a:r>
              <a:rPr lang="en-GB" dirty="0">
                <a:effectLst/>
              </a:rPr>
              <a:t>Riders with </a:t>
            </a:r>
            <a:r>
              <a:rPr lang="en-GB" b="1" dirty="0">
                <a:effectLst/>
              </a:rPr>
              <a:t>very few trips (6–12)</a:t>
            </a:r>
            <a:r>
              <a:rPr lang="en-GB" dirty="0">
                <a:effectLst/>
              </a:rPr>
              <a:t> show </a:t>
            </a:r>
            <a:r>
              <a:rPr lang="en-GB" b="1" dirty="0">
                <a:effectLst/>
              </a:rPr>
              <a:t>higher churn probabilities</a:t>
            </a:r>
            <a:r>
              <a:rPr lang="en-GB" dirty="0">
                <a:effectLst/>
              </a:rPr>
              <a:t>.</a:t>
            </a:r>
            <a:endParaRPr lang="en-GB" dirty="0"/>
          </a:p>
          <a:p>
            <a:r>
              <a:rPr lang="en-GB" dirty="0">
                <a:effectLst/>
              </a:rPr>
              <a:t>Riders with </a:t>
            </a:r>
            <a:r>
              <a:rPr lang="en-GB" b="1" dirty="0">
                <a:effectLst/>
              </a:rPr>
              <a:t>more trips (25–40)</a:t>
            </a:r>
            <a:r>
              <a:rPr lang="en-GB" dirty="0">
                <a:effectLst/>
              </a:rPr>
              <a:t> tend to have </a:t>
            </a:r>
            <a:r>
              <a:rPr lang="en-GB" b="1" dirty="0">
                <a:effectLst/>
              </a:rPr>
              <a:t>lower churn probabilities</a:t>
            </a:r>
            <a:r>
              <a:rPr lang="en-GB" dirty="0">
                <a:effectLst/>
              </a:rPr>
              <a:t>.</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“This scatter plot shows a clear behavioural pattern: riders who take fewer trips are more likely to churn. Trip frequency is therefore a key feature for predicting churn and designing retention strategies.”</a:t>
            </a:r>
            <a:endParaRPr lang="en-GB" dirty="0"/>
          </a:p>
          <a:p>
            <a:endParaRPr lang="en-GB" dirty="0"/>
          </a:p>
          <a:p>
            <a:endParaRPr lang="en-US" dirty="0"/>
          </a:p>
        </p:txBody>
      </p:sp>
      <p:sp>
        <p:nvSpPr>
          <p:cNvPr id="4" name="Slide Number Placeholder 3">
            <a:extLst>
              <a:ext uri="{FF2B5EF4-FFF2-40B4-BE49-F238E27FC236}">
                <a16:creationId xmlns:a16="http://schemas.microsoft.com/office/drawing/2014/main" id="{DD8DDAE7-B3D0-4AC9-1775-A92A63BDC4C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37805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E278A-7147-2874-0A67-0862C632A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9D7FE-69E0-23BA-C5C6-118FE8CEC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8D086-4606-21D3-2A2F-2FE2D4B34E01}"/>
              </a:ext>
            </a:extLst>
          </p:cNvPr>
          <p:cNvSpPr>
            <a:spLocks noGrp="1"/>
          </p:cNvSpPr>
          <p:nvPr>
            <p:ph type="body" idx="1"/>
          </p:nvPr>
        </p:nvSpPr>
        <p:spPr/>
        <p:txBody>
          <a:bodyPr/>
          <a:lstStyle/>
          <a:p>
            <a:r>
              <a:rPr lang="en-GB" b="1" dirty="0">
                <a:effectLst/>
              </a:rPr>
              <a:t>Pages Visited vs Churn</a:t>
            </a:r>
            <a:endParaRPr lang="en-GB" dirty="0"/>
          </a:p>
          <a:p>
            <a:r>
              <a:rPr lang="en-GB" dirty="0">
                <a:effectLst/>
              </a:rPr>
              <a:t>Higher page views → lower churn</a:t>
            </a:r>
            <a:endParaRPr lang="en-GB" dirty="0"/>
          </a:p>
          <a:p>
            <a:r>
              <a:rPr lang="en-GB" dirty="0">
                <a:effectLst/>
              </a:rPr>
              <a:t>Low engagement strongly predicts churn</a:t>
            </a:r>
            <a:endParaRPr lang="en-GB" dirty="0"/>
          </a:p>
          <a:p>
            <a:r>
              <a:rPr lang="en-GB" b="1" dirty="0">
                <a:effectLst/>
              </a:rPr>
              <a:t>Insight:</a:t>
            </a:r>
            <a:r>
              <a:rPr lang="en-GB" dirty="0">
                <a:effectLst/>
              </a:rPr>
              <a:t> App engagement is the strongest churn driver.</a:t>
            </a:r>
          </a:p>
          <a:p>
            <a:r>
              <a:rPr lang="en-GB" sz="1200" b="0" kern="1200" dirty="0">
                <a:solidFill>
                  <a:schemeClr val="tx1"/>
                </a:solidFill>
                <a:effectLst/>
                <a:latin typeface="+mn-lt"/>
                <a:ea typeface="+mn-ea"/>
                <a:cs typeface="+mn-cs"/>
              </a:rPr>
              <a:t>Correlation Heatmap: Strongest churn predictors will be:</a:t>
            </a:r>
          </a:p>
          <a:p>
            <a:r>
              <a:rPr lang="en-GB" sz="1200" b="0" kern="1200" dirty="0">
                <a:solidFill>
                  <a:schemeClr val="tx1"/>
                </a:solidFill>
                <a:effectLst/>
                <a:latin typeface="+mn-lt"/>
                <a:ea typeface="+mn-ea"/>
                <a:cs typeface="+mn-cs"/>
              </a:rPr>
              <a:t>✔ Engagement</a:t>
            </a:r>
          </a:p>
          <a:p>
            <a:r>
              <a:rPr lang="en-GB" sz="1200" b="0" kern="1200" dirty="0" err="1">
                <a:solidFill>
                  <a:schemeClr val="tx1"/>
                </a:solidFill>
                <a:effectLst/>
                <a:latin typeface="+mn-lt"/>
                <a:ea typeface="+mn-ea"/>
                <a:cs typeface="+mn-cs"/>
              </a:rPr>
              <a:t>avg_pages_visited</a:t>
            </a:r>
            <a:r>
              <a:rPr lang="en-GB" sz="1200" b="0" kern="1200" dirty="0">
                <a:solidFill>
                  <a:schemeClr val="tx1"/>
                </a:solidFill>
                <a:effectLst/>
                <a:latin typeface="+mn-lt"/>
                <a:ea typeface="+mn-ea"/>
                <a:cs typeface="+mn-cs"/>
              </a:rPr>
              <a:t>, </a:t>
            </a:r>
            <a:r>
              <a:rPr lang="en-GB" sz="1200" b="0" kern="1200" dirty="0" err="1">
                <a:solidFill>
                  <a:schemeClr val="tx1"/>
                </a:solidFill>
                <a:effectLst/>
                <a:latin typeface="+mn-lt"/>
                <a:ea typeface="+mn-ea"/>
                <a:cs typeface="+mn-cs"/>
              </a:rPr>
              <a:t>conversion_rate</a:t>
            </a:r>
            <a:r>
              <a:rPr lang="en-GB" sz="1200" b="0" kern="1200" dirty="0">
                <a:solidFill>
                  <a:schemeClr val="tx1"/>
                </a:solidFill>
                <a:effectLst/>
                <a:latin typeface="+mn-lt"/>
                <a:ea typeface="+mn-ea"/>
                <a:cs typeface="+mn-cs"/>
              </a:rPr>
              <a:t>, </a:t>
            </a:r>
            <a:r>
              <a:rPr lang="en-GB" sz="1200" b="0" kern="1200" dirty="0" err="1">
                <a:solidFill>
                  <a:schemeClr val="tx1"/>
                </a:solidFill>
                <a:effectLst/>
                <a:latin typeface="+mn-lt"/>
                <a:ea typeface="+mn-ea"/>
                <a:cs typeface="+mn-cs"/>
              </a:rPr>
              <a:t>total_sessions</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 Behaviour</a:t>
            </a:r>
          </a:p>
          <a:p>
            <a:r>
              <a:rPr lang="en-GB" sz="1200" b="0" kern="1200" dirty="0" err="1">
                <a:solidFill>
                  <a:schemeClr val="tx1"/>
                </a:solidFill>
                <a:effectLst/>
                <a:latin typeface="+mn-lt"/>
                <a:ea typeface="+mn-ea"/>
                <a:cs typeface="+mn-cs"/>
              </a:rPr>
              <a:t>total_trips</a:t>
            </a:r>
            <a:r>
              <a:rPr lang="en-GB" sz="1200" b="0" kern="1200" dirty="0">
                <a:solidFill>
                  <a:schemeClr val="tx1"/>
                </a:solidFill>
                <a:effectLst/>
                <a:latin typeface="+mn-lt"/>
                <a:ea typeface="+mn-ea"/>
                <a:cs typeface="+mn-cs"/>
              </a:rPr>
              <a:t>, </a:t>
            </a:r>
            <a:r>
              <a:rPr lang="en-GB" sz="1200" b="0" kern="1200" dirty="0" err="1">
                <a:solidFill>
                  <a:schemeClr val="tx1"/>
                </a:solidFill>
                <a:effectLst/>
                <a:latin typeface="+mn-lt"/>
                <a:ea typeface="+mn-ea"/>
                <a:cs typeface="+mn-cs"/>
              </a:rPr>
              <a:t>avg_fare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 Loyalty</a:t>
            </a:r>
          </a:p>
          <a:p>
            <a:r>
              <a:rPr lang="en-GB" sz="1200" b="0" kern="1200" dirty="0" err="1">
                <a:solidFill>
                  <a:schemeClr val="tx1"/>
                </a:solidFill>
                <a:effectLst/>
                <a:latin typeface="+mn-lt"/>
                <a:ea typeface="+mn-ea"/>
                <a:cs typeface="+mn-cs"/>
              </a:rPr>
              <a:t>loyalty_status</a:t>
            </a:r>
            <a:r>
              <a:rPr lang="en-GB" sz="1200" b="0" kern="1200" dirty="0">
                <a:solidFill>
                  <a:schemeClr val="tx1"/>
                </a:solidFill>
                <a:effectLst/>
                <a:latin typeface="+mn-lt"/>
                <a:ea typeface="+mn-ea"/>
                <a:cs typeface="+mn-cs"/>
              </a:rPr>
              <a:t> (categorical, not in heatmap)</a:t>
            </a:r>
          </a:p>
          <a:p>
            <a:r>
              <a:rPr lang="en-US" dirty="0"/>
              <a:t>=== Age and surge pricing have weak correlations.</a:t>
            </a:r>
          </a:p>
          <a:p>
            <a:r>
              <a:rPr lang="en-US" dirty="0"/>
              <a:t>=== Engagement and </a:t>
            </a:r>
            <a:r>
              <a:rPr lang="en-US" dirty="0" err="1"/>
              <a:t>behaviour</a:t>
            </a:r>
            <a:r>
              <a:rPr lang="en-US" dirty="0"/>
              <a:t> are the core features for modelling. </a:t>
            </a:r>
            <a:endParaRPr lang="en-GB" dirty="0"/>
          </a:p>
        </p:txBody>
      </p:sp>
      <p:sp>
        <p:nvSpPr>
          <p:cNvPr id="4" name="Slide Number Placeholder 3">
            <a:extLst>
              <a:ext uri="{FF2B5EF4-FFF2-40B4-BE49-F238E27FC236}">
                <a16:creationId xmlns:a16="http://schemas.microsoft.com/office/drawing/2014/main" id="{6E263BE8-974D-B623-10F3-0F9B9F4F247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70389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9C969-EB21-54BE-5452-581899B21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E5612-FF9F-9A8F-6C83-E2B106737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987456-49B7-B745-3E68-2A3192D98946}"/>
              </a:ext>
            </a:extLst>
          </p:cNvPr>
          <p:cNvSpPr>
            <a:spLocks noGrp="1"/>
          </p:cNvSpPr>
          <p:nvPr>
            <p:ph type="body" idx="1"/>
          </p:nvPr>
        </p:nvSpPr>
        <p:spPr/>
        <p:txBody>
          <a:bodyPr/>
          <a:lstStyle/>
          <a:p>
            <a:r>
              <a:rPr lang="en-GB" dirty="0">
                <a:effectLst/>
              </a:rPr>
              <a:t>Engagement features (sessions, pages visited, conversion) strongly correlate with each other.</a:t>
            </a:r>
            <a:endParaRPr lang="en-GB" dirty="0"/>
          </a:p>
          <a:p>
            <a:r>
              <a:rPr lang="en-GB" dirty="0">
                <a:effectLst/>
              </a:rPr>
              <a:t>Engagement features correlate </a:t>
            </a:r>
            <a:r>
              <a:rPr lang="en-GB" b="1" dirty="0">
                <a:effectLst/>
              </a:rPr>
              <a:t>negatively</a:t>
            </a:r>
            <a:r>
              <a:rPr lang="en-GB" dirty="0">
                <a:effectLst/>
              </a:rPr>
              <a:t> with churn (higher engagement → lower churn).</a:t>
            </a:r>
            <a:endParaRPr lang="en-GB" dirty="0"/>
          </a:p>
          <a:p>
            <a:r>
              <a:rPr lang="en-GB" dirty="0">
                <a:effectLst/>
              </a:rPr>
              <a:t>Behavioural features (total trips, </a:t>
            </a:r>
            <a:r>
              <a:rPr lang="en-GB" dirty="0" err="1">
                <a:effectLst/>
              </a:rPr>
              <a:t>avg</a:t>
            </a:r>
            <a:r>
              <a:rPr lang="en-GB" dirty="0">
                <a:effectLst/>
              </a:rPr>
              <a:t> fare) moderately correlate with churn.</a:t>
            </a:r>
            <a:endParaRPr lang="en-GB" dirty="0"/>
          </a:p>
          <a:p>
            <a:r>
              <a:rPr lang="en-GB" dirty="0">
                <a:effectLst/>
              </a:rPr>
              <a:t>Age and surge have weak correlations.</a:t>
            </a:r>
            <a:endParaRPr lang="en-GB" dirty="0"/>
          </a:p>
          <a:p>
            <a:r>
              <a:rPr lang="en-GB" dirty="0">
                <a:effectLst/>
              </a:rPr>
              <a:t>“Engagement is the strongest driver of churn. Riders who use the app more and interact more are less likely to churn. Behavioural activity also matters, but demographics and surge pricing have little influence.”</a:t>
            </a:r>
            <a:endParaRPr lang="en-GB" dirty="0"/>
          </a:p>
          <a:p>
            <a:endParaRPr lang="en-US" dirty="0"/>
          </a:p>
        </p:txBody>
      </p:sp>
      <p:sp>
        <p:nvSpPr>
          <p:cNvPr id="4" name="Slide Number Placeholder 3">
            <a:extLst>
              <a:ext uri="{FF2B5EF4-FFF2-40B4-BE49-F238E27FC236}">
                <a16:creationId xmlns:a16="http://schemas.microsoft.com/office/drawing/2014/main" id="{C8B02807-FFFA-EC1D-081A-E7CF10E79F0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05576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Churn Probability by Loyalty Tier</a:t>
            </a:r>
          </a:p>
          <a:p>
            <a:r>
              <a:rPr lang="en-GB" sz="1000" dirty="0">
                <a:effectLst/>
              </a:rPr>
              <a:t>Bronze riders have slightly higher churn. Silver, Gold, and Platinum have similar distributions but fewer extreme outliers.</a:t>
            </a:r>
            <a:endParaRPr lang="en-GB" sz="1000" dirty="0"/>
          </a:p>
          <a:p>
            <a:r>
              <a:rPr lang="en-GB" sz="1000" dirty="0">
                <a:effectLst/>
              </a:rPr>
              <a:t>Loyalty tier still influences churn but not dramatically.</a:t>
            </a:r>
            <a:endParaRPr lang="en-GB" sz="1000" dirty="0"/>
          </a:p>
          <a:p>
            <a:r>
              <a:rPr lang="en-GB" sz="1000" dirty="0">
                <a:effectLst/>
              </a:rPr>
              <a:t>“Loyalty tier does affect churn, especially for Bronze riders. Higher tiers show more stability. This supports using loyalty tier as a feature in the model.”</a:t>
            </a:r>
            <a:endParaRPr lang="en-GB" sz="1000" dirty="0"/>
          </a:p>
          <a:p>
            <a:endParaRPr lang="en-GB" dirty="0"/>
          </a:p>
          <a:p>
            <a:r>
              <a:rPr lang="en-GB" b="1" dirty="0"/>
              <a:t>Trips Distribution by City</a:t>
            </a:r>
          </a:p>
          <a:p>
            <a:r>
              <a:rPr lang="en-GB" dirty="0">
                <a:effectLst/>
              </a:rPr>
              <a:t>All three cities have similar median trip counts (~20 trips).</a:t>
            </a:r>
            <a:endParaRPr lang="en-GB" dirty="0"/>
          </a:p>
          <a:p>
            <a:r>
              <a:rPr lang="en-GB" dirty="0">
                <a:effectLst/>
              </a:rPr>
              <a:t>There are outliers in every city (super‑active riders).</a:t>
            </a:r>
            <a:endParaRPr lang="en-GB" dirty="0"/>
          </a:p>
          <a:p>
            <a:r>
              <a:rPr lang="en-GB" dirty="0">
                <a:effectLst/>
              </a:rPr>
              <a:t>Cairo has slightly more variability.</a:t>
            </a:r>
            <a:endParaRPr lang="en-GB" dirty="0"/>
          </a:p>
          <a:p>
            <a:r>
              <a:rPr lang="en-GB" dirty="0">
                <a:effectLst/>
              </a:rPr>
              <a:t>“Trip behaviour is broadly similar across cities, but each city has its own spread and outliers. This means retention strategies may need slight city‑specific adjustments.”</a:t>
            </a:r>
            <a:endParaRPr lang="en-GB"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2DA0B-0E93-B6C4-5892-9449D0256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6E9DA-10AC-7DFB-C2CB-57A4643498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C29A8-D004-ED4B-D728-0A8462CBADD9}"/>
              </a:ext>
            </a:extLst>
          </p:cNvPr>
          <p:cNvSpPr>
            <a:spLocks noGrp="1"/>
          </p:cNvSpPr>
          <p:nvPr>
            <p:ph type="body" idx="1"/>
          </p:nvPr>
        </p:nvSpPr>
        <p:spPr/>
        <p:txBody>
          <a:bodyPr/>
          <a:lstStyle/>
          <a:p>
            <a:r>
              <a:rPr lang="en-GB" b="1" dirty="0"/>
              <a:t>Outliers in Total Trips</a:t>
            </a:r>
          </a:p>
          <a:p>
            <a:r>
              <a:rPr lang="en-GB" dirty="0">
                <a:effectLst/>
              </a:rPr>
              <a:t>Most riders take 17–23 trips. Some riders take 33–41 trips.</a:t>
            </a:r>
            <a:endParaRPr lang="en-GB" dirty="0"/>
          </a:p>
          <a:p>
            <a:r>
              <a:rPr lang="en-GB" dirty="0">
                <a:effectLst/>
              </a:rPr>
              <a:t>These are high‑value riders.</a:t>
            </a:r>
            <a:endParaRPr lang="en-GB" dirty="0"/>
          </a:p>
          <a:p>
            <a:r>
              <a:rPr lang="en-GB" dirty="0">
                <a:effectLst/>
              </a:rPr>
              <a:t>“Super‑active riders exist in the dataset. They are loyal and represent high lifetime value. Outliers must be handled carefully during modelling.”</a:t>
            </a:r>
          </a:p>
          <a:p>
            <a:endParaRPr lang="en-GB" dirty="0"/>
          </a:p>
          <a:p>
            <a:r>
              <a:rPr lang="en-GB" b="1" dirty="0"/>
              <a:t>Outliers in Total Sessions</a:t>
            </a:r>
          </a:p>
          <a:p>
            <a:r>
              <a:rPr lang="en-GB" dirty="0">
                <a:effectLst/>
              </a:rPr>
              <a:t>Most riders have 3–7 sessions. Some riders have very high sessions (11–16).</a:t>
            </a:r>
            <a:endParaRPr lang="en-GB" dirty="0"/>
          </a:p>
          <a:p>
            <a:r>
              <a:rPr lang="en-GB" dirty="0">
                <a:effectLst/>
              </a:rPr>
              <a:t>These are heavy app users.</a:t>
            </a:r>
            <a:endParaRPr lang="en-GB" dirty="0"/>
          </a:p>
          <a:p>
            <a:r>
              <a:rPr lang="en-GB" dirty="0">
                <a:effectLst/>
              </a:rPr>
              <a:t>“High‑session riders are highly engaged and less likely to churn. Outliers represent super‑users who are valuable and should be protected.”</a:t>
            </a:r>
            <a:endParaRPr lang="en-GB" dirty="0"/>
          </a:p>
          <a:p>
            <a:endParaRPr lang="en-GB" dirty="0"/>
          </a:p>
          <a:p>
            <a:endParaRPr lang="en-US" dirty="0"/>
          </a:p>
        </p:txBody>
      </p:sp>
      <p:sp>
        <p:nvSpPr>
          <p:cNvPr id="4" name="Slide Number Placeholder 3">
            <a:extLst>
              <a:ext uri="{FF2B5EF4-FFF2-40B4-BE49-F238E27FC236}">
                <a16:creationId xmlns:a16="http://schemas.microsoft.com/office/drawing/2014/main" id="{8BE534A2-304B-9633-5E9A-73E11E7FD22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953022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“EDA helped us understand the behavioural and engagement patterns that drive churn. Based on these insights, we engineered features such as recency, frequency, monetary value, engagement score, and loyalty encoding. These features allow the model to learn the underlying drivers of churn and make accurate predictions.”</a:t>
            </a:r>
          </a:p>
          <a:p>
            <a:endParaRPr lang="en-GB" dirty="0"/>
          </a:p>
          <a:p>
            <a:r>
              <a:rPr lang="en-GB" dirty="0">
                <a:effectLst/>
              </a:rPr>
              <a:t>Based on insights from EDA, we engineered features that capture rider behaviour, engagement, loyalty, and value.</a:t>
            </a:r>
            <a:endParaRPr lang="en-GB" dirty="0"/>
          </a:p>
          <a:p>
            <a:r>
              <a:rPr lang="en-GB" b="1" dirty="0">
                <a:effectLst/>
              </a:rPr>
              <a:t>Recency</a:t>
            </a:r>
            <a:r>
              <a:rPr lang="en-GB" dirty="0">
                <a:effectLst/>
              </a:rPr>
              <a:t> measures how long it has been since a rider last used the service. </a:t>
            </a:r>
            <a:r>
              <a:rPr lang="en-GB" b="1" dirty="0">
                <a:effectLst/>
              </a:rPr>
              <a:t>Frequency</a:t>
            </a:r>
            <a:r>
              <a:rPr lang="en-GB" dirty="0">
                <a:effectLst/>
              </a:rPr>
              <a:t> measures how often they ride. </a:t>
            </a:r>
            <a:r>
              <a:rPr lang="en-GB" b="1" dirty="0">
                <a:effectLst/>
              </a:rPr>
              <a:t>Monetary</a:t>
            </a:r>
            <a:r>
              <a:rPr lang="en-GB" dirty="0">
                <a:effectLst/>
              </a:rPr>
              <a:t> measures how much they typically spend. </a:t>
            </a:r>
            <a:r>
              <a:rPr lang="en-GB" b="1" dirty="0">
                <a:effectLst/>
              </a:rPr>
              <a:t>Engagement score</a:t>
            </a:r>
            <a:r>
              <a:rPr lang="en-GB" dirty="0">
                <a:effectLst/>
              </a:rPr>
              <a:t> combines sessions, pages visited, and conversion rate. </a:t>
            </a:r>
            <a:r>
              <a:rPr lang="en-GB" b="1" dirty="0">
                <a:effectLst/>
              </a:rPr>
              <a:t>Loyalty encoding</a:t>
            </a:r>
            <a:r>
              <a:rPr lang="en-GB" dirty="0">
                <a:effectLst/>
              </a:rPr>
              <a:t> converts Bronze/Silver/Gold/Platinum into numeric values. </a:t>
            </a:r>
            <a:r>
              <a:rPr lang="en-GB" b="1" dirty="0">
                <a:effectLst/>
              </a:rPr>
              <a:t>Referral flag</a:t>
            </a:r>
            <a:r>
              <a:rPr lang="en-GB" dirty="0">
                <a:effectLst/>
              </a:rPr>
              <a:t> identifies riders referred by others. </a:t>
            </a:r>
            <a:r>
              <a:rPr lang="en-GB" b="1" dirty="0">
                <a:effectLst/>
              </a:rPr>
              <a:t>City encoding</a:t>
            </a:r>
            <a:r>
              <a:rPr lang="en-GB" dirty="0">
                <a:effectLst/>
              </a:rPr>
              <a:t> captures geographic differences. </a:t>
            </a:r>
            <a:r>
              <a:rPr lang="en-GB" b="1" dirty="0">
                <a:effectLst/>
              </a:rPr>
              <a:t>Age buckets</a:t>
            </a:r>
            <a:r>
              <a:rPr lang="en-GB" dirty="0">
                <a:effectLst/>
              </a:rPr>
              <a:t> group riders into meaningful age categories. </a:t>
            </a:r>
            <a:r>
              <a:rPr lang="en-GB" b="1" dirty="0">
                <a:effectLst/>
              </a:rPr>
              <a:t>Missing‑session flag</a:t>
            </a:r>
            <a:r>
              <a:rPr lang="en-GB" dirty="0">
                <a:effectLst/>
              </a:rPr>
              <a:t> identifies riders with incomplete engagement data.</a:t>
            </a:r>
            <a:endParaRPr lang="en-GB" dirty="0"/>
          </a:p>
          <a:p>
            <a:r>
              <a:rPr lang="en-GB" dirty="0">
                <a:effectLst/>
              </a:rPr>
              <a:t>These engineered features translate real rider behaviour into numeric inputs the model can learn from, improving prediction accuracy and reducing overfitting.”</a:t>
            </a:r>
            <a:endParaRPr lang="en-GB" dirty="0"/>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FCB1-E981-733D-9D7A-EF31DA585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AFDFF-4636-BC48-84B0-333D075FE6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4C69D3-E7ED-DC61-F206-FFF2CA1AEF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28D505-FD59-34AD-FDF4-E3BD92734FF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501923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5BFB5-AE02-9054-899B-D0D872963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AD797-9254-31EE-371C-1B85C34FB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21740-2AC1-C2C5-0474-DFF544FFC8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40B764-5ADA-2535-57DC-6DE44B6AB9D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828172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74E2-5BF2-0BCC-AEA0-721FABF26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F9C42-0C0C-CB39-0EE7-696CDBB29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C063BF-A592-EC66-5709-F981103476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8F7B86-F3C0-6D3C-0AB3-15B8C890D16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187868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B803F-5AC3-8E2A-A4C5-0455097CC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379E4-C10D-5DDF-1C12-13998117E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CD0DA7-BF7B-7D30-7E39-B9808164EE27}"/>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Slide 19 now shows your after-SMOTE classification report. The table carries the updated per-class figures — Non-churners at precision 0.69 / recall 0.55 / F1 0.61 and Churners at 0.34 / 0.48 / F1 0.40 — plus accuracy 0.53, and refreshed macro (0.51 / 0.52 / 0.51) and weighted (0.58 / 0.53 / 0.54) rows. I also synced the "What this means" callouts to the new F1 values (0.61 and 0.40). Support counts and the class-distribution donut were already correct, so I left them as is.</a:t>
            </a:r>
          </a:p>
          <a:p>
            <a:r>
              <a:rPr lang="en-GB" sz="1200" b="0" i="0" kern="1200" dirty="0">
                <a:solidFill>
                  <a:schemeClr val="tx1"/>
                </a:solidFill>
                <a:effectLst/>
                <a:latin typeface="+mn-lt"/>
                <a:ea typeface="+mn-ea"/>
                <a:cs typeface="+mn-cs"/>
              </a:rPr>
              <a:t>If you'd like, I can add a short "before vs after SMOTE" line highlighting the churner recall jump from 0.34 to 0.48, since that's the headline improvement.</a:t>
            </a:r>
          </a:p>
          <a:p>
            <a:br>
              <a:rPr lang="en-GB" dirty="0"/>
            </a:br>
            <a:endParaRPr lang="en-US" dirty="0"/>
          </a:p>
        </p:txBody>
      </p:sp>
      <p:sp>
        <p:nvSpPr>
          <p:cNvPr id="4" name="Slide Number Placeholder 3">
            <a:extLst>
              <a:ext uri="{FF2B5EF4-FFF2-40B4-BE49-F238E27FC236}">
                <a16:creationId xmlns:a16="http://schemas.microsoft.com/office/drawing/2014/main" id="{B44CAA29-6ABC-5ABC-7404-BB611F8DA97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279665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3B65E-4FDC-ADDE-326B-5DFEB8E99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6B9A19-A657-6BBB-3201-6DA3B2212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2A2E1-97BC-C4A3-E88D-EC200F52D4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13E271-914F-651B-01D1-A11A396CE28E}"/>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067729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26B81-AF7D-F739-83ED-DBC648644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D3A96-6387-29D6-C8F8-88287D1107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B7E2F-12D1-01F7-8E72-C7E8A4004E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76EA4F-061D-EB27-E46C-02ADBC62C702}"/>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842306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75463-D0CB-8802-EB7C-042385DD6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5058E-A9C5-977C-CE3B-5AF1FD74B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29CA2-EBC6-0D0F-4457-C68A194C1B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143121-748C-10CB-B27E-3BDAA7102A8F}"/>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536247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A3E4F-3BC3-34AF-6411-2B0E6219D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B5854-67AF-EE3F-5C01-D413A9483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6077A-D634-9040-41F1-279CCBD3A3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24FBE-6C64-A146-069D-3490DB7946B6}"/>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1535184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B33A5-5B3C-83C3-3A6C-0E6A29B0C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611CE-B8AF-5898-0F10-6B711F899A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5204E2-FBD9-90DB-2BCF-2F43BF2908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5CA6CF-85FB-F180-0AAD-36ECDD3CB736}"/>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686384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3440-4A98-A152-B350-2BE5661F4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06483-D057-30D2-D0DA-9D3321756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1E84BA-3878-2877-1403-A5A68C5D2C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ACF9D5-3CCF-C845-56F2-F48D3E7D99D2}"/>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837327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8F9"/>
        </a:solidFill>
        <a:effectLst/>
      </p:bgPr>
    </p:bg>
    <p:spTree>
      <p:nvGrpSpPr>
        <p:cNvPr id="1" name=""/>
        <p:cNvGrpSpPr/>
        <p:nvPr/>
      </p:nvGrpSpPr>
      <p:grpSpPr>
        <a:xfrm>
          <a:off x="0" y="0"/>
          <a:ext cx="0" cy="0"/>
          <a:chOff x="0" y="0"/>
          <a:chExt cx="0" cy="0"/>
        </a:xfrm>
      </p:grpSpPr>
      <p:pic>
        <p:nvPicPr>
          <p:cNvPr id="2" name="Image 0" descr="RideWise logo"/>
          <p:cNvPicPr>
            <a:picLocks noChangeAspect="1"/>
          </p:cNvPicPr>
          <p:nvPr/>
        </p:nvPicPr>
        <p:blipFill>
          <a:blip r:embed="rId2"/>
          <a:stretch>
            <a:fillRect/>
          </a:stretch>
        </p:blipFill>
        <p:spPr>
          <a:xfrm>
            <a:off x="7818120" y="292608"/>
            <a:ext cx="868680" cy="757238"/>
          </a:xfrm>
          <a:prstGeom prst="rect">
            <a:avLst/>
          </a:prstGeom>
        </p:spPr>
      </p:pic>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lstStyle>
            <a:lvl1pPr marL="0" indent="0" algn="l">
              <a:buNone/>
              <a:defRPr lang="en-US" sz="3300" b="1" dirty="0">
                <a:solidFill>
                  <a:srgbClr val="0F2C48"/>
                </a:solidFill>
                <a:latin typeface="Calibri Light" pitchFamily="34" charset="0"/>
                <a:ea typeface="Calibri Light" pitchFamily="34" charset="-122"/>
                <a:cs typeface="Calibri Light" pitchFamily="34" charset="-120"/>
              </a:defRPr>
            </a:lvl1pPr>
          </a:lstStyle>
          <a:p>
            <a:pPr marL="0" indent="0" algn="l">
              <a:buNone/>
            </a:pPr>
            <a:endParaRPr lang="en-US" sz="3300"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487168"/>
            <a:ext cx="7498080" cy="1234440"/>
          </a:xfrm>
          <a:prstGeom prst="rect">
            <a:avLst/>
          </a:prstGeom>
          <a:noFill/>
          <a:ln/>
        </p:spPr>
        <p:txBody>
          <a:bodyPr wrap="square" rtlCol="0"/>
          <a:lstStyle>
            <a:lvl1pPr marL="0" indent="0" algn="ctr">
              <a:buNone/>
              <a:defRPr lang="en-US" sz="3400" b="1" dirty="0">
                <a:solidFill>
                  <a:srgbClr val="FFFFFF"/>
                </a:solidFill>
                <a:latin typeface="Calibri Light" pitchFamily="34" charset="0"/>
                <a:ea typeface="Calibri Light" pitchFamily="34" charset="-122"/>
                <a:cs typeface="Calibri Light" pitchFamily="34" charset="-120"/>
              </a:defRPr>
            </a:lvl1pPr>
          </a:lstStyle>
          <a:p>
            <a:pPr marL="0" indent="0" algn="ctr">
              <a:buNone/>
            </a:pPr>
            <a:endParaRPr lang="en-US" sz="3400"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8891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ottom bar">
            <a:extLst>
              <a:ext uri="{C183D7F6-B498-43B3-948B-1728B52AA6E4}">
                <adec:decorative xmlns:adec="http://schemas.microsoft.com/office/drawing/2017/decorative" val="1"/>
              </a:ext>
            </a:extLst>
          </p:cNvPr>
          <p:cNvSpPr/>
          <p:nvPr/>
        </p:nvSpPr>
        <p:spPr>
          <a:xfrm>
            <a:off x="0" y="5015484"/>
            <a:ext cx="9144000" cy="128016"/>
          </a:xfrm>
          <a:prstGeom prst="rect">
            <a:avLst/>
          </a:prstGeom>
          <a:solidFill>
            <a:srgbClr val="128F90"/>
          </a:solidFill>
          <a:ln/>
        </p:spPr>
        <p:txBody>
          <a:bodyPr/>
          <a:lstStyle/>
          <a:p>
            <a:endParaRPr lang="en-GB"/>
          </a:p>
        </p:txBody>
      </p:sp>
      <p:sp>
        <p:nvSpPr>
          <p:cNvPr id="3" name="logo card">
            <a:extLst>
              <a:ext uri="{C183D7F6-B498-43B3-948B-1728B52AA6E4}">
                <adec:decorative xmlns:adec="http://schemas.microsoft.com/office/drawing/2017/decorative" val="1"/>
              </a:ext>
            </a:extLst>
          </p:cNvPr>
          <p:cNvSpPr/>
          <p:nvPr/>
        </p:nvSpPr>
        <p:spPr>
          <a:xfrm>
            <a:off x="3680460" y="658368"/>
            <a:ext cx="1783080" cy="1463040"/>
          </a:xfrm>
          <a:prstGeom prst="roundRect">
            <a:avLst>
              <a:gd name="adj" fmla="val 7500"/>
            </a:avLst>
          </a:prstGeom>
          <a:solidFill>
            <a:srgbClr val="FFFFFF"/>
          </a:solidFill>
          <a:ln/>
          <a:effectLst>
            <a:outerShdw blurRad="152400" dist="50800" dir="5400000" algn="bl" rotWithShape="0">
              <a:srgbClr val="05121F">
                <a:alpha val="35000"/>
              </a:srgbClr>
            </a:outerShdw>
          </a:effectLst>
        </p:spPr>
        <p:txBody>
          <a:bodyPr/>
          <a:lstStyle/>
          <a:p>
            <a:endParaRPr lang="en-GB"/>
          </a:p>
        </p:txBody>
      </p:sp>
      <p:pic>
        <p:nvPicPr>
          <p:cNvPr id="4" name="Image 0" descr="RideWise logo"/>
          <p:cNvPicPr>
            <a:picLocks noChangeAspect="1"/>
          </p:cNvPicPr>
          <p:nvPr/>
        </p:nvPicPr>
        <p:blipFill>
          <a:blip r:embed="rId3"/>
          <a:stretch>
            <a:fillRect/>
          </a:stretch>
        </p:blipFill>
        <p:spPr>
          <a:xfrm>
            <a:off x="3963596" y="859536"/>
            <a:ext cx="1216808" cy="1060704"/>
          </a:xfrm>
          <a:prstGeom prst="rect">
            <a:avLst/>
          </a:prstGeom>
        </p:spPr>
      </p:pic>
      <p:sp>
        <p:nvSpPr>
          <p:cNvPr id="5" name="Text 0"/>
          <p:cNvSpPr>
            <a:spLocks noGrp="1"/>
          </p:cNvSpPr>
          <p:nvPr>
            <p:ph type="title" idx="100" hasCustomPrompt="1"/>
          </p:nvPr>
        </p:nvSpPr>
        <p:spPr>
          <a:xfrm>
            <a:off x="822960" y="2487168"/>
            <a:ext cx="7498080" cy="1234440"/>
          </a:xfrm>
          <a:prstGeom prst="rect">
            <a:avLst/>
          </a:prstGeom>
          <a:noFill/>
          <a:ln/>
        </p:spPr>
        <p:txBody>
          <a:bodyPr wrap="square" rtlCol="0" anchor="t"/>
          <a:lstStyle/>
          <a:p>
            <a:pPr marL="0" indent="0" algn="ctr">
              <a:buNone/>
            </a:pPr>
            <a:r>
              <a:rPr lang="en-US" sz="3400" b="1" dirty="0">
                <a:solidFill>
                  <a:srgbClr val="FFFFFF"/>
                </a:solidFill>
                <a:latin typeface="Calibri Light" pitchFamily="34" charset="0"/>
                <a:ea typeface="Calibri Light" pitchFamily="34" charset="-122"/>
                <a:cs typeface="Calibri Light" pitchFamily="34" charset="-120"/>
              </a:rPr>
              <a:t>RideWise Customer Analytics</a:t>
            </a:r>
            <a:endParaRPr lang="en-US" sz="3400" dirty="0"/>
          </a:p>
          <a:p>
            <a:pPr marL="0" indent="0" algn="ctr">
              <a:buNone/>
            </a:pPr>
            <a:r>
              <a:rPr lang="en-US" sz="3400" b="1" dirty="0">
                <a:solidFill>
                  <a:srgbClr val="FFFFFF"/>
                </a:solidFill>
                <a:latin typeface="Calibri Light" pitchFamily="34" charset="0"/>
                <a:ea typeface="Calibri Light" pitchFamily="34" charset="-122"/>
                <a:cs typeface="Calibri Light" pitchFamily="34" charset="-120"/>
              </a:rPr>
              <a:t>&amp; Churn Prediction System</a:t>
            </a:r>
            <a:endParaRPr lang="en-US" sz="3400" dirty="0"/>
          </a:p>
        </p:txBody>
      </p:sp>
      <p:sp>
        <p:nvSpPr>
          <p:cNvPr id="6" name="Text 3"/>
          <p:cNvSpPr/>
          <p:nvPr/>
        </p:nvSpPr>
        <p:spPr>
          <a:xfrm>
            <a:off x="914400" y="3913632"/>
            <a:ext cx="7315200" cy="384048"/>
          </a:xfrm>
          <a:prstGeom prst="rect">
            <a:avLst/>
          </a:prstGeom>
          <a:noFill/>
          <a:ln/>
        </p:spPr>
        <p:txBody>
          <a:bodyPr wrap="square" lIns="0" tIns="0" rIns="0" bIns="0" rtlCol="0" anchor="ctr"/>
          <a:lstStyle/>
          <a:p>
            <a:pPr marL="0" indent="0" algn="ctr">
              <a:buNone/>
            </a:pPr>
            <a:r>
              <a:rPr lang="en-US" sz="3600" b="1" i="1" spc="600" dirty="0">
                <a:solidFill>
                  <a:srgbClr val="3FB0A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OLUWATOSIN ABRAHAM</a:t>
            </a:r>
            <a:endParaRPr lang="en-US" sz="3600" i="1" spc="600" dirty="0">
              <a:effectLst>
                <a:outerShdw blurRad="38100" dist="38100" dir="2700000" algn="tl">
                  <a:srgbClr val="000000">
                    <a:alpha val="43137"/>
                  </a:srgbClr>
                </a:outerShdw>
              </a:effectLst>
            </a:endParaRPr>
          </a:p>
        </p:txBody>
      </p:sp>
      <p:sp>
        <p:nvSpPr>
          <p:cNvPr id="7" name="Text 4"/>
          <p:cNvSpPr/>
          <p:nvPr/>
        </p:nvSpPr>
        <p:spPr>
          <a:xfrm>
            <a:off x="914399" y="4334256"/>
            <a:ext cx="7411453" cy="634786"/>
          </a:xfrm>
          <a:prstGeom prst="rect">
            <a:avLst/>
          </a:prstGeom>
          <a:noFill/>
          <a:ln/>
        </p:spPr>
        <p:txBody>
          <a:bodyPr wrap="square" lIns="0" tIns="0" rIns="0" bIns="0" rtlCol="0" anchor="ctr"/>
          <a:lstStyle/>
          <a:p>
            <a:pPr marL="0" indent="0" algn="ctr">
              <a:buNone/>
            </a:pPr>
            <a:r>
              <a:rPr lang="en-US" sz="1500" dirty="0">
                <a:solidFill>
                  <a:srgbClr val="C7D6DC"/>
                </a:solidFill>
                <a:latin typeface="Calibri" pitchFamily="34" charset="0"/>
                <a:ea typeface="Calibri" pitchFamily="34" charset="-122"/>
                <a:cs typeface="Calibri" pitchFamily="34" charset="-120"/>
              </a:rPr>
              <a:t>Data Analytics &amp; Machine Learning</a:t>
            </a:r>
          </a:p>
          <a:p>
            <a:pPr marL="0" indent="0" algn="ctr">
              <a:buNone/>
            </a:pPr>
            <a:r>
              <a:rPr lang="en-US" sz="1500" dirty="0">
                <a:solidFill>
                  <a:srgbClr val="C7D6DC"/>
                </a:solidFill>
                <a:latin typeface="Calibri" pitchFamily="34" charset="0"/>
                <a:ea typeface="Calibri" pitchFamily="34" charset="-122"/>
                <a:cs typeface="Calibri" pitchFamily="34" charset="-120"/>
              </a:rPr>
              <a:t>24/07/2026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455F0-B409-35BC-28CE-ED86A92630BA}"/>
              </a:ext>
            </a:extLst>
          </p:cNvPr>
          <p:cNvSpPr>
            <a:spLocks noGrp="1"/>
          </p:cNvSpPr>
          <p:nvPr>
            <p:ph type="title" idx="101"/>
          </p:nvPr>
        </p:nvSpPr>
        <p:spPr>
          <a:noFill/>
        </p:spPr>
        <p:txBody>
          <a:bodyPr wrap="square">
            <a:spAutoFit/>
          </a:bodyPr>
          <a:lstStyle/>
          <a:p>
            <a:r>
              <a:rPr lang="en-GB" dirty="0"/>
              <a:t>Problem Statement</a:t>
            </a:r>
          </a:p>
        </p:txBody>
      </p:sp>
      <p:sp>
        <p:nvSpPr>
          <p:cNvPr id="3" name="TextBox 2">
            <a:extLst>
              <a:ext uri="{FF2B5EF4-FFF2-40B4-BE49-F238E27FC236}">
                <a16:creationId xmlns:a16="http://schemas.microsoft.com/office/drawing/2014/main" id="{062FF441-6EE8-6B70-D0F3-DEA31CB464E6}"/>
              </a:ext>
            </a:extLst>
          </p:cNvPr>
          <p:cNvSpPr txBox="1"/>
          <p:nvPr/>
        </p:nvSpPr>
        <p:spPr>
          <a:xfrm>
            <a:off x="637674" y="1143001"/>
            <a:ext cx="7628021" cy="3062377"/>
          </a:xfrm>
          <a:prstGeom prst="rect">
            <a:avLst/>
          </a:prstGeom>
          <a:noFill/>
        </p:spPr>
        <p:txBody>
          <a:bodyPr wrap="square" rtlCol="0">
            <a:spAutoFit/>
          </a:bodyPr>
          <a:lstStyle/>
          <a:p>
            <a:pPr marL="285750" indent="-285750">
              <a:buFont typeface="Arial" panose="020B0604020202020204" pitchFamily="34" charset="0"/>
              <a:buChar char="•"/>
            </a:pPr>
            <a:r>
              <a:rPr lang="en-GB" sz="2000" b="1" i="1" dirty="0">
                <a:latin typeface="+mj-lt"/>
              </a:rPr>
              <a:t>Rider churn increases acquisition costs and reduces long‑term revenue.</a:t>
            </a:r>
          </a:p>
          <a:p>
            <a:pPr marL="285750" indent="-285750">
              <a:buFont typeface="Arial" panose="020B0604020202020204" pitchFamily="34" charset="0"/>
              <a:buChar char="•"/>
            </a:pPr>
            <a:r>
              <a:rPr lang="en-GB" sz="2000" b="1" i="1" dirty="0">
                <a:latin typeface="+mj-lt"/>
              </a:rPr>
              <a:t>The business lacks a data‑driven method to identify riders at risk of churn.</a:t>
            </a:r>
          </a:p>
          <a:p>
            <a:r>
              <a:rPr lang="en-GB" sz="3300" b="1" dirty="0">
                <a:solidFill>
                  <a:srgbClr val="0F2C48"/>
                </a:solidFill>
                <a:latin typeface="Calibri Light" pitchFamily="34" charset="0"/>
                <a:ea typeface="Calibri Light" pitchFamily="34" charset="-122"/>
                <a:cs typeface="Calibri Light" pitchFamily="34" charset="-120"/>
              </a:rPr>
              <a:t>Objective:</a:t>
            </a:r>
          </a:p>
          <a:p>
            <a:pPr marL="342900" indent="-342900">
              <a:buFont typeface="Wingdings" panose="05000000000000000000" pitchFamily="2" charset="2"/>
              <a:buChar char="v"/>
            </a:pPr>
            <a:r>
              <a:rPr lang="en-GB" sz="2000" b="1" i="1" dirty="0">
                <a:latin typeface="+mj-lt"/>
              </a:rPr>
              <a:t>Predict churn probability for each rider.</a:t>
            </a:r>
          </a:p>
          <a:p>
            <a:pPr marL="342900" indent="-342900">
              <a:buFont typeface="Wingdings" panose="05000000000000000000" pitchFamily="2" charset="2"/>
              <a:buChar char="v"/>
            </a:pPr>
            <a:r>
              <a:rPr lang="en-GB" sz="2000" b="1" i="1" dirty="0">
                <a:latin typeface="+mj-lt"/>
              </a:rPr>
              <a:t>Identify the behavioural, engagement and loyalty of riders.</a:t>
            </a:r>
          </a:p>
          <a:p>
            <a:pPr marL="342900" indent="-342900">
              <a:buFont typeface="Wingdings" panose="05000000000000000000" pitchFamily="2" charset="2"/>
              <a:buChar char="v"/>
            </a:pPr>
            <a:r>
              <a:rPr lang="en-GB" sz="2000" b="1" i="1" dirty="0">
                <a:latin typeface="+mj-lt"/>
              </a:rPr>
              <a:t>Segment riders for targeted retention.</a:t>
            </a:r>
          </a:p>
          <a:p>
            <a:pPr marL="342900" indent="-342900">
              <a:buFont typeface="Wingdings" panose="05000000000000000000" pitchFamily="2" charset="2"/>
              <a:buChar char="v"/>
            </a:pPr>
            <a:r>
              <a:rPr lang="en-GB" sz="2000" b="1" i="1" dirty="0">
                <a:latin typeface="+mj-lt"/>
              </a:rPr>
              <a:t>Provide actionable insights for marketing and operations.</a:t>
            </a:r>
          </a:p>
          <a:p>
            <a:endParaRPr lang="en-GB" sz="2000" dirty="0">
              <a:latin typeface="+mj-lt"/>
            </a:endParaRPr>
          </a:p>
        </p:txBody>
      </p:sp>
    </p:spTree>
    <p:extLst>
      <p:ext uri="{BB962C8B-B14F-4D97-AF65-F5344CB8AC3E}">
        <p14:creationId xmlns:p14="http://schemas.microsoft.com/office/powerpoint/2010/main" val="4100682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a:extLst>
              <a:ext uri="{C183D7F6-B498-43B3-948B-1728B52AA6E4}">
                <adec:decorative xmlns:adec="http://schemas.microsoft.com/office/drawing/2017/decorative" val="1"/>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OBJECTIVES</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What the system delivers</a:t>
            </a:r>
            <a:endParaRPr lang="en-US" sz="3300" dirty="0"/>
          </a:p>
        </p:txBody>
      </p:sp>
      <p:sp>
        <p:nvSpPr>
          <p:cNvPr id="4" name="card">
            <a:extLst>
              <a:ext uri="{C183D7F6-B498-43B3-948B-1728B52AA6E4}">
                <adec:decorative xmlns:adec="http://schemas.microsoft.com/office/drawing/2017/decorative" val="1"/>
              </a:ext>
            </a:extLst>
          </p:cNvPr>
          <p:cNvSpPr/>
          <p:nvPr/>
        </p:nvSpPr>
        <p:spPr>
          <a:xfrm>
            <a:off x="566928" y="1417320"/>
            <a:ext cx="3840480" cy="7315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5" name="badge">
            <a:extLst>
              <a:ext uri="{C183D7F6-B498-43B3-948B-1728B52AA6E4}">
                <adec:decorative xmlns:adec="http://schemas.microsoft.com/office/drawing/2017/decorative" val="1"/>
              </a:ext>
            </a:extLst>
          </p:cNvPr>
          <p:cNvSpPr/>
          <p:nvPr/>
        </p:nvSpPr>
        <p:spPr>
          <a:xfrm>
            <a:off x="749808" y="1618488"/>
            <a:ext cx="402336" cy="402336"/>
          </a:xfrm>
          <a:prstGeom prst="ellipse">
            <a:avLst/>
          </a:prstGeom>
          <a:solidFill>
            <a:srgbClr val="0F2C48"/>
          </a:solidFill>
          <a:ln/>
        </p:spPr>
        <p:txBody>
          <a:bodyPr/>
          <a:lstStyle/>
          <a:p>
            <a:endParaRPr lang="en-GB"/>
          </a:p>
        </p:txBody>
      </p:sp>
      <p:sp>
        <p:nvSpPr>
          <p:cNvPr id="6" name="Text 4">
            <a:extLst>
              <a:ext uri="{C183D7F6-B498-43B3-948B-1728B52AA6E4}">
                <adec:decorative xmlns:adec="http://schemas.microsoft.com/office/drawing/2017/decorative" val="1"/>
              </a:ext>
            </a:extLst>
          </p:cNvPr>
          <p:cNvSpPr/>
          <p:nvPr/>
        </p:nvSpPr>
        <p:spPr>
          <a:xfrm>
            <a:off x="749808" y="1618488"/>
            <a:ext cx="402336" cy="402336"/>
          </a:xfrm>
          <a:prstGeom prst="rect">
            <a:avLst/>
          </a:prstGeom>
          <a:noFill/>
          <a:ln/>
        </p:spPr>
        <p:txBody>
          <a:bodyPr wrap="square" lIns="0" tIns="0" rIns="0" bIns="0" rtlCol="0" anchor="ctr"/>
          <a:lstStyle/>
          <a:p>
            <a:pPr marL="0" indent="0" algn="ctr">
              <a:buNone/>
            </a:pPr>
            <a:r>
              <a:rPr lang="en-US" sz="1500" b="1" dirty="0">
                <a:solidFill>
                  <a:srgbClr val="3FB0AE"/>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16736" y="1417320"/>
            <a:ext cx="2926080" cy="731520"/>
          </a:xfrm>
          <a:prstGeom prst="rect">
            <a:avLst/>
          </a:prstGeom>
          <a:noFill/>
          <a:ln/>
        </p:spPr>
        <p:txBody>
          <a:bodyPr wrap="square" lIns="0" tIns="0" rIns="0" bIns="0" rtlCol="0" anchor="ctr"/>
          <a:lstStyle/>
          <a:p>
            <a:pPr marL="0" indent="0">
              <a:buNone/>
            </a:pPr>
            <a:r>
              <a:rPr lang="en-US" sz="1550" b="1" dirty="0">
                <a:solidFill>
                  <a:srgbClr val="0F2C48"/>
                </a:solidFill>
                <a:latin typeface="Calibri" pitchFamily="34" charset="0"/>
                <a:ea typeface="Calibri" pitchFamily="34" charset="-122"/>
                <a:cs typeface="Calibri" pitchFamily="34" charset="-120"/>
              </a:rPr>
              <a:t>Customer churn prediction</a:t>
            </a:r>
            <a:endParaRPr lang="en-US" sz="1550" dirty="0"/>
          </a:p>
        </p:txBody>
      </p:sp>
      <p:sp>
        <p:nvSpPr>
          <p:cNvPr id="8" name="card">
            <a:extLst>
              <a:ext uri="{C183D7F6-B498-43B3-948B-1728B52AA6E4}">
                <adec:decorative xmlns:adec="http://schemas.microsoft.com/office/drawing/2017/decorative" val="1"/>
              </a:ext>
            </a:extLst>
          </p:cNvPr>
          <p:cNvSpPr/>
          <p:nvPr/>
        </p:nvSpPr>
        <p:spPr>
          <a:xfrm>
            <a:off x="566928" y="2240280"/>
            <a:ext cx="3840480" cy="7315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9" name="badge">
            <a:extLst>
              <a:ext uri="{C183D7F6-B498-43B3-948B-1728B52AA6E4}">
                <adec:decorative xmlns:adec="http://schemas.microsoft.com/office/drawing/2017/decorative" val="1"/>
              </a:ext>
            </a:extLst>
          </p:cNvPr>
          <p:cNvSpPr/>
          <p:nvPr/>
        </p:nvSpPr>
        <p:spPr>
          <a:xfrm>
            <a:off x="749808" y="2441448"/>
            <a:ext cx="402336" cy="402336"/>
          </a:xfrm>
          <a:prstGeom prst="ellipse">
            <a:avLst/>
          </a:prstGeom>
          <a:solidFill>
            <a:srgbClr val="0F2C48"/>
          </a:solidFill>
          <a:ln/>
        </p:spPr>
        <p:txBody>
          <a:bodyPr/>
          <a:lstStyle/>
          <a:p>
            <a:endParaRPr lang="en-GB"/>
          </a:p>
        </p:txBody>
      </p:sp>
      <p:sp>
        <p:nvSpPr>
          <p:cNvPr id="10" name="Text 8">
            <a:extLst>
              <a:ext uri="{C183D7F6-B498-43B3-948B-1728B52AA6E4}">
                <adec:decorative xmlns:adec="http://schemas.microsoft.com/office/drawing/2017/decorative" val="1"/>
              </a:ext>
            </a:extLst>
          </p:cNvPr>
          <p:cNvSpPr/>
          <p:nvPr/>
        </p:nvSpPr>
        <p:spPr>
          <a:xfrm>
            <a:off x="749808" y="2441448"/>
            <a:ext cx="402336" cy="402336"/>
          </a:xfrm>
          <a:prstGeom prst="rect">
            <a:avLst/>
          </a:prstGeom>
          <a:noFill/>
          <a:ln/>
        </p:spPr>
        <p:txBody>
          <a:bodyPr wrap="square" lIns="0" tIns="0" rIns="0" bIns="0" rtlCol="0" anchor="ctr"/>
          <a:lstStyle/>
          <a:p>
            <a:pPr marL="0" indent="0" algn="ctr">
              <a:buNone/>
            </a:pPr>
            <a:r>
              <a:rPr lang="en-US" sz="1500" b="1" dirty="0">
                <a:solidFill>
                  <a:srgbClr val="3FB0AE"/>
                </a:solidFill>
                <a:latin typeface="Calibri" pitchFamily="34" charset="0"/>
                <a:ea typeface="Calibri" pitchFamily="34" charset="-122"/>
                <a:cs typeface="Calibri" pitchFamily="34" charset="-120"/>
              </a:rPr>
              <a:t>2</a:t>
            </a:r>
            <a:endParaRPr lang="en-US" sz="1500" dirty="0"/>
          </a:p>
        </p:txBody>
      </p:sp>
      <p:sp>
        <p:nvSpPr>
          <p:cNvPr id="11" name="Text 9">
            <a:extLst>
              <a:ext uri="{C183D7F6-B498-43B3-948B-1728B52AA6E4}">
                <adec:decorative xmlns:adec="http://schemas.microsoft.com/office/drawing/2017/decorative" val="1"/>
              </a:ext>
            </a:extLst>
          </p:cNvPr>
          <p:cNvSpPr/>
          <p:nvPr/>
        </p:nvSpPr>
        <p:spPr>
          <a:xfrm>
            <a:off x="1316736" y="2240280"/>
            <a:ext cx="2926080" cy="731520"/>
          </a:xfrm>
          <a:prstGeom prst="rect">
            <a:avLst/>
          </a:prstGeom>
          <a:noFill/>
          <a:ln/>
        </p:spPr>
        <p:txBody>
          <a:bodyPr wrap="square" lIns="0" tIns="0" rIns="0" bIns="0" rtlCol="0" anchor="ctr"/>
          <a:lstStyle/>
          <a:p>
            <a:pPr marL="0" indent="0">
              <a:buNone/>
            </a:pPr>
            <a:r>
              <a:rPr lang="en-US" sz="1550" b="1" dirty="0">
                <a:solidFill>
                  <a:srgbClr val="0F2C48"/>
                </a:solidFill>
                <a:latin typeface="Calibri" pitchFamily="34" charset="0"/>
                <a:ea typeface="Calibri" pitchFamily="34" charset="-122"/>
                <a:cs typeface="Calibri" pitchFamily="34" charset="-120"/>
              </a:rPr>
              <a:t>Rider segmentation</a:t>
            </a:r>
            <a:endParaRPr lang="en-US" sz="1550" dirty="0"/>
          </a:p>
        </p:txBody>
      </p:sp>
      <p:sp>
        <p:nvSpPr>
          <p:cNvPr id="12" name="card">
            <a:extLst>
              <a:ext uri="{C183D7F6-B498-43B3-948B-1728B52AA6E4}">
                <adec:decorative xmlns:adec="http://schemas.microsoft.com/office/drawing/2017/decorative" val="1"/>
              </a:ext>
            </a:extLst>
          </p:cNvPr>
          <p:cNvSpPr/>
          <p:nvPr/>
        </p:nvSpPr>
        <p:spPr>
          <a:xfrm>
            <a:off x="566928" y="3063240"/>
            <a:ext cx="3840480" cy="7315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3" name="badge">
            <a:extLst>
              <a:ext uri="{C183D7F6-B498-43B3-948B-1728B52AA6E4}">
                <adec:decorative xmlns:adec="http://schemas.microsoft.com/office/drawing/2017/decorative" val="1"/>
              </a:ext>
            </a:extLst>
          </p:cNvPr>
          <p:cNvSpPr/>
          <p:nvPr/>
        </p:nvSpPr>
        <p:spPr>
          <a:xfrm>
            <a:off x="749808" y="3264408"/>
            <a:ext cx="402336" cy="402336"/>
          </a:xfrm>
          <a:prstGeom prst="ellipse">
            <a:avLst/>
          </a:prstGeom>
          <a:solidFill>
            <a:srgbClr val="0F2C48"/>
          </a:solidFill>
          <a:ln/>
        </p:spPr>
        <p:txBody>
          <a:bodyPr/>
          <a:lstStyle/>
          <a:p>
            <a:endParaRPr lang="en-GB"/>
          </a:p>
        </p:txBody>
      </p:sp>
      <p:sp>
        <p:nvSpPr>
          <p:cNvPr id="14" name="Text 12">
            <a:extLst>
              <a:ext uri="{C183D7F6-B498-43B3-948B-1728B52AA6E4}">
                <adec:decorative xmlns:adec="http://schemas.microsoft.com/office/drawing/2017/decorative" val="1"/>
              </a:ext>
            </a:extLst>
          </p:cNvPr>
          <p:cNvSpPr/>
          <p:nvPr/>
        </p:nvSpPr>
        <p:spPr>
          <a:xfrm>
            <a:off x="749808" y="3264408"/>
            <a:ext cx="402336" cy="402336"/>
          </a:xfrm>
          <a:prstGeom prst="rect">
            <a:avLst/>
          </a:prstGeom>
          <a:noFill/>
          <a:ln/>
        </p:spPr>
        <p:txBody>
          <a:bodyPr wrap="square" lIns="0" tIns="0" rIns="0" bIns="0" rtlCol="0" anchor="ctr"/>
          <a:lstStyle/>
          <a:p>
            <a:pPr marL="0" indent="0" algn="ctr">
              <a:buNone/>
            </a:pPr>
            <a:r>
              <a:rPr lang="en-US" sz="1500" b="1" dirty="0">
                <a:solidFill>
                  <a:srgbClr val="3FB0AE"/>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316736" y="3063240"/>
            <a:ext cx="2926080" cy="731520"/>
          </a:xfrm>
          <a:prstGeom prst="rect">
            <a:avLst/>
          </a:prstGeom>
          <a:noFill/>
          <a:ln/>
        </p:spPr>
        <p:txBody>
          <a:bodyPr wrap="square" lIns="0" tIns="0" rIns="0" bIns="0" rtlCol="0" anchor="ctr"/>
          <a:lstStyle/>
          <a:p>
            <a:pPr marL="0" indent="0">
              <a:buNone/>
            </a:pPr>
            <a:r>
              <a:rPr lang="en-US" sz="1550" b="1" dirty="0">
                <a:solidFill>
                  <a:srgbClr val="0F2C48"/>
                </a:solidFill>
                <a:latin typeface="Calibri" pitchFamily="34" charset="0"/>
                <a:ea typeface="Calibri" pitchFamily="34" charset="-122"/>
                <a:cs typeface="Calibri" pitchFamily="34" charset="-120"/>
              </a:rPr>
              <a:t>Feature engineering pipeline</a:t>
            </a:r>
            <a:endParaRPr lang="en-US" sz="1550" dirty="0"/>
          </a:p>
        </p:txBody>
      </p:sp>
      <p:sp>
        <p:nvSpPr>
          <p:cNvPr id="16" name="card">
            <a:extLst>
              <a:ext uri="{C183D7F6-B498-43B3-948B-1728B52AA6E4}">
                <adec:decorative xmlns:adec="http://schemas.microsoft.com/office/drawing/2017/decorative" val="1"/>
              </a:ext>
            </a:extLst>
          </p:cNvPr>
          <p:cNvSpPr/>
          <p:nvPr/>
        </p:nvSpPr>
        <p:spPr>
          <a:xfrm>
            <a:off x="566928" y="3886200"/>
            <a:ext cx="3840480" cy="7315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7" name="badge">
            <a:extLst>
              <a:ext uri="{C183D7F6-B498-43B3-948B-1728B52AA6E4}">
                <adec:decorative xmlns:adec="http://schemas.microsoft.com/office/drawing/2017/decorative" val="1"/>
              </a:ext>
            </a:extLst>
          </p:cNvPr>
          <p:cNvSpPr/>
          <p:nvPr/>
        </p:nvSpPr>
        <p:spPr>
          <a:xfrm>
            <a:off x="749808" y="4087368"/>
            <a:ext cx="402336" cy="402336"/>
          </a:xfrm>
          <a:prstGeom prst="ellipse">
            <a:avLst/>
          </a:prstGeom>
          <a:solidFill>
            <a:srgbClr val="0F2C48"/>
          </a:solidFill>
          <a:ln/>
        </p:spPr>
        <p:txBody>
          <a:bodyPr/>
          <a:lstStyle/>
          <a:p>
            <a:endParaRPr lang="en-GB"/>
          </a:p>
        </p:txBody>
      </p:sp>
      <p:sp>
        <p:nvSpPr>
          <p:cNvPr id="18" name="Text 16"/>
          <p:cNvSpPr/>
          <p:nvPr/>
        </p:nvSpPr>
        <p:spPr>
          <a:xfrm>
            <a:off x="749808" y="4087368"/>
            <a:ext cx="402336" cy="402336"/>
          </a:xfrm>
          <a:prstGeom prst="rect">
            <a:avLst/>
          </a:prstGeom>
          <a:noFill/>
          <a:ln/>
        </p:spPr>
        <p:txBody>
          <a:bodyPr wrap="square" lIns="0" tIns="0" rIns="0" bIns="0" rtlCol="0" anchor="ctr"/>
          <a:lstStyle/>
          <a:p>
            <a:pPr marL="0" indent="0" algn="ctr">
              <a:buNone/>
            </a:pPr>
            <a:r>
              <a:rPr lang="en-US" sz="1500" b="1" dirty="0">
                <a:solidFill>
                  <a:srgbClr val="3FB0AE"/>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316736" y="3886200"/>
            <a:ext cx="2926080" cy="731520"/>
          </a:xfrm>
          <a:prstGeom prst="rect">
            <a:avLst/>
          </a:prstGeom>
          <a:noFill/>
          <a:ln/>
        </p:spPr>
        <p:txBody>
          <a:bodyPr wrap="square" lIns="0" tIns="0" rIns="0" bIns="0" rtlCol="0" anchor="ctr"/>
          <a:lstStyle/>
          <a:p>
            <a:pPr marL="0" indent="0">
              <a:buNone/>
            </a:pPr>
            <a:r>
              <a:rPr lang="en-US" sz="1550" b="1" dirty="0">
                <a:solidFill>
                  <a:srgbClr val="0F2C48"/>
                </a:solidFill>
                <a:latin typeface="Calibri" pitchFamily="34" charset="0"/>
                <a:ea typeface="Calibri" pitchFamily="34" charset="-122"/>
                <a:cs typeface="Calibri" pitchFamily="34" charset="-120"/>
              </a:rPr>
              <a:t>Model interpretability</a:t>
            </a:r>
            <a:endParaRPr lang="en-US" sz="1550" dirty="0"/>
          </a:p>
        </p:txBody>
      </p:sp>
      <p:sp>
        <p:nvSpPr>
          <p:cNvPr id="20" name="card">
            <a:extLst>
              <a:ext uri="{C183D7F6-B498-43B3-948B-1728B52AA6E4}">
                <adec:decorative xmlns:adec="http://schemas.microsoft.com/office/drawing/2017/decorative" val="1"/>
              </a:ext>
            </a:extLst>
          </p:cNvPr>
          <p:cNvSpPr/>
          <p:nvPr/>
        </p:nvSpPr>
        <p:spPr>
          <a:xfrm>
            <a:off x="4727448" y="1417320"/>
            <a:ext cx="3840480" cy="7315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1" name="badge">
            <a:extLst>
              <a:ext uri="{C183D7F6-B498-43B3-948B-1728B52AA6E4}">
                <adec:decorative xmlns:adec="http://schemas.microsoft.com/office/drawing/2017/decorative" val="1"/>
              </a:ext>
            </a:extLst>
          </p:cNvPr>
          <p:cNvSpPr/>
          <p:nvPr/>
        </p:nvSpPr>
        <p:spPr>
          <a:xfrm>
            <a:off x="4910328" y="1618488"/>
            <a:ext cx="402336" cy="402336"/>
          </a:xfrm>
          <a:prstGeom prst="ellipse">
            <a:avLst/>
          </a:prstGeom>
          <a:solidFill>
            <a:srgbClr val="0F2C48"/>
          </a:solidFill>
          <a:ln/>
        </p:spPr>
        <p:txBody>
          <a:bodyPr/>
          <a:lstStyle/>
          <a:p>
            <a:endParaRPr lang="en-GB"/>
          </a:p>
        </p:txBody>
      </p:sp>
      <p:sp>
        <p:nvSpPr>
          <p:cNvPr id="22" name="Text 20"/>
          <p:cNvSpPr/>
          <p:nvPr/>
        </p:nvSpPr>
        <p:spPr>
          <a:xfrm>
            <a:off x="4910328" y="1618488"/>
            <a:ext cx="402336" cy="402336"/>
          </a:xfrm>
          <a:prstGeom prst="rect">
            <a:avLst/>
          </a:prstGeom>
          <a:noFill/>
          <a:ln/>
        </p:spPr>
        <p:txBody>
          <a:bodyPr wrap="square" lIns="0" tIns="0" rIns="0" bIns="0" rtlCol="0" anchor="ctr"/>
          <a:lstStyle/>
          <a:p>
            <a:pPr marL="0" indent="0" algn="ctr">
              <a:buNone/>
            </a:pPr>
            <a:r>
              <a:rPr lang="en-US" sz="1500" b="1" dirty="0">
                <a:solidFill>
                  <a:srgbClr val="3FB0AE"/>
                </a:solidFill>
                <a:latin typeface="Calibri" pitchFamily="34" charset="0"/>
                <a:ea typeface="Calibri" pitchFamily="34" charset="-122"/>
                <a:cs typeface="Calibri" pitchFamily="34" charset="-120"/>
              </a:rPr>
              <a:t>5</a:t>
            </a:r>
            <a:endParaRPr lang="en-US" sz="1500" dirty="0"/>
          </a:p>
        </p:txBody>
      </p:sp>
      <p:sp>
        <p:nvSpPr>
          <p:cNvPr id="23" name="Text 21">
            <a:extLst>
              <a:ext uri="{C183D7F6-B498-43B3-948B-1728B52AA6E4}">
                <adec:decorative xmlns:adec="http://schemas.microsoft.com/office/drawing/2017/decorative" val="1"/>
              </a:ext>
            </a:extLst>
          </p:cNvPr>
          <p:cNvSpPr/>
          <p:nvPr/>
        </p:nvSpPr>
        <p:spPr>
          <a:xfrm>
            <a:off x="5477256" y="1417320"/>
            <a:ext cx="2926080" cy="731520"/>
          </a:xfrm>
          <a:prstGeom prst="rect">
            <a:avLst/>
          </a:prstGeom>
          <a:noFill/>
          <a:ln/>
        </p:spPr>
        <p:txBody>
          <a:bodyPr wrap="square" lIns="0" tIns="0" rIns="0" bIns="0" rtlCol="0" anchor="ctr"/>
          <a:lstStyle/>
          <a:p>
            <a:pPr marL="0" indent="0">
              <a:buNone/>
            </a:pPr>
            <a:r>
              <a:rPr lang="en-US" sz="1550" b="1" dirty="0">
                <a:solidFill>
                  <a:srgbClr val="0F2C48"/>
                </a:solidFill>
                <a:latin typeface="Calibri" pitchFamily="34" charset="0"/>
                <a:ea typeface="Calibri" pitchFamily="34" charset="-122"/>
                <a:cs typeface="Calibri" pitchFamily="34" charset="-120"/>
              </a:rPr>
              <a:t>Real-time scoring API</a:t>
            </a:r>
            <a:endParaRPr lang="en-US" sz="1550" dirty="0"/>
          </a:p>
        </p:txBody>
      </p:sp>
      <p:sp>
        <p:nvSpPr>
          <p:cNvPr id="24" name="card">
            <a:extLst>
              <a:ext uri="{C183D7F6-B498-43B3-948B-1728B52AA6E4}">
                <adec:decorative xmlns:adec="http://schemas.microsoft.com/office/drawing/2017/decorative" val="1"/>
              </a:ext>
            </a:extLst>
          </p:cNvPr>
          <p:cNvSpPr/>
          <p:nvPr/>
        </p:nvSpPr>
        <p:spPr>
          <a:xfrm>
            <a:off x="4727448" y="2240280"/>
            <a:ext cx="3840480" cy="7315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5" name="badge">
            <a:extLst>
              <a:ext uri="{C183D7F6-B498-43B3-948B-1728B52AA6E4}">
                <adec:decorative xmlns:adec="http://schemas.microsoft.com/office/drawing/2017/decorative" val="1"/>
              </a:ext>
            </a:extLst>
          </p:cNvPr>
          <p:cNvSpPr/>
          <p:nvPr/>
        </p:nvSpPr>
        <p:spPr>
          <a:xfrm>
            <a:off x="4910328" y="2441448"/>
            <a:ext cx="402336" cy="402336"/>
          </a:xfrm>
          <a:prstGeom prst="ellipse">
            <a:avLst/>
          </a:prstGeom>
          <a:solidFill>
            <a:srgbClr val="0F2C48"/>
          </a:solidFill>
          <a:ln/>
        </p:spPr>
        <p:txBody>
          <a:bodyPr/>
          <a:lstStyle/>
          <a:p>
            <a:endParaRPr lang="en-GB"/>
          </a:p>
        </p:txBody>
      </p:sp>
      <p:sp>
        <p:nvSpPr>
          <p:cNvPr id="26" name="Text 24">
            <a:extLst>
              <a:ext uri="{C183D7F6-B498-43B3-948B-1728B52AA6E4}">
                <adec:decorative xmlns:adec="http://schemas.microsoft.com/office/drawing/2017/decorative" val="1"/>
              </a:ext>
            </a:extLst>
          </p:cNvPr>
          <p:cNvSpPr/>
          <p:nvPr/>
        </p:nvSpPr>
        <p:spPr>
          <a:xfrm>
            <a:off x="4910328" y="2441448"/>
            <a:ext cx="402336" cy="402336"/>
          </a:xfrm>
          <a:prstGeom prst="rect">
            <a:avLst/>
          </a:prstGeom>
          <a:noFill/>
          <a:ln/>
        </p:spPr>
        <p:txBody>
          <a:bodyPr wrap="square" lIns="0" tIns="0" rIns="0" bIns="0" rtlCol="0" anchor="ctr"/>
          <a:lstStyle/>
          <a:p>
            <a:pPr marL="0" indent="0" algn="ctr">
              <a:buNone/>
            </a:pPr>
            <a:r>
              <a:rPr lang="en-US" sz="1500" b="1" dirty="0">
                <a:solidFill>
                  <a:srgbClr val="3FB0AE"/>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5477256" y="2240280"/>
            <a:ext cx="2926080" cy="731520"/>
          </a:xfrm>
          <a:prstGeom prst="rect">
            <a:avLst/>
          </a:prstGeom>
          <a:noFill/>
          <a:ln/>
        </p:spPr>
        <p:txBody>
          <a:bodyPr wrap="square" lIns="0" tIns="0" rIns="0" bIns="0" rtlCol="0" anchor="ctr"/>
          <a:lstStyle/>
          <a:p>
            <a:pPr marL="0" indent="0">
              <a:buNone/>
            </a:pPr>
            <a:r>
              <a:rPr lang="en-US" sz="1550" b="1" dirty="0">
                <a:solidFill>
                  <a:srgbClr val="0F2C48"/>
                </a:solidFill>
                <a:latin typeface="Calibri" pitchFamily="34" charset="0"/>
                <a:ea typeface="Calibri" pitchFamily="34" charset="-122"/>
                <a:cs typeface="Calibri" pitchFamily="34" charset="-120"/>
              </a:rPr>
              <a:t>MLflow tracking</a:t>
            </a:r>
            <a:endParaRPr lang="en-US" sz="1550" dirty="0"/>
          </a:p>
        </p:txBody>
      </p:sp>
      <p:sp>
        <p:nvSpPr>
          <p:cNvPr id="28" name="card">
            <a:extLst>
              <a:ext uri="{C183D7F6-B498-43B3-948B-1728B52AA6E4}">
                <adec:decorative xmlns:adec="http://schemas.microsoft.com/office/drawing/2017/decorative" val="1"/>
              </a:ext>
            </a:extLst>
          </p:cNvPr>
          <p:cNvSpPr/>
          <p:nvPr/>
        </p:nvSpPr>
        <p:spPr>
          <a:xfrm>
            <a:off x="4727448" y="3063240"/>
            <a:ext cx="3840480" cy="7315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9" name="badge">
            <a:extLst>
              <a:ext uri="{C183D7F6-B498-43B3-948B-1728B52AA6E4}">
                <adec:decorative xmlns:adec="http://schemas.microsoft.com/office/drawing/2017/decorative" val="1"/>
              </a:ext>
            </a:extLst>
          </p:cNvPr>
          <p:cNvSpPr/>
          <p:nvPr/>
        </p:nvSpPr>
        <p:spPr>
          <a:xfrm>
            <a:off x="4910328" y="3264408"/>
            <a:ext cx="402336" cy="402336"/>
          </a:xfrm>
          <a:prstGeom prst="ellipse">
            <a:avLst/>
          </a:prstGeom>
          <a:solidFill>
            <a:srgbClr val="0F2C48"/>
          </a:solidFill>
          <a:ln/>
        </p:spPr>
        <p:txBody>
          <a:bodyPr/>
          <a:lstStyle/>
          <a:p>
            <a:endParaRPr lang="en-GB"/>
          </a:p>
        </p:txBody>
      </p:sp>
      <p:sp>
        <p:nvSpPr>
          <p:cNvPr id="30" name="Text 28"/>
          <p:cNvSpPr/>
          <p:nvPr/>
        </p:nvSpPr>
        <p:spPr>
          <a:xfrm>
            <a:off x="4910328" y="3264408"/>
            <a:ext cx="402336" cy="402336"/>
          </a:xfrm>
          <a:prstGeom prst="rect">
            <a:avLst/>
          </a:prstGeom>
          <a:noFill/>
          <a:ln/>
        </p:spPr>
        <p:txBody>
          <a:bodyPr wrap="square" lIns="0" tIns="0" rIns="0" bIns="0" rtlCol="0" anchor="ctr"/>
          <a:lstStyle/>
          <a:p>
            <a:pPr marL="0" indent="0" algn="ctr">
              <a:buNone/>
            </a:pPr>
            <a:r>
              <a:rPr lang="en-US" sz="1500" b="1" dirty="0">
                <a:solidFill>
                  <a:srgbClr val="3FB0AE"/>
                </a:solidFill>
                <a:latin typeface="Calibri" pitchFamily="34" charset="0"/>
                <a:ea typeface="Calibri" pitchFamily="34" charset="-122"/>
                <a:cs typeface="Calibri" pitchFamily="34" charset="-120"/>
              </a:rPr>
              <a:t>7</a:t>
            </a:r>
            <a:endParaRPr lang="en-US" sz="1500" dirty="0"/>
          </a:p>
        </p:txBody>
      </p:sp>
      <p:sp>
        <p:nvSpPr>
          <p:cNvPr id="31" name="Text 29"/>
          <p:cNvSpPr/>
          <p:nvPr/>
        </p:nvSpPr>
        <p:spPr>
          <a:xfrm>
            <a:off x="5477256" y="3063240"/>
            <a:ext cx="2926080" cy="731520"/>
          </a:xfrm>
          <a:prstGeom prst="rect">
            <a:avLst/>
          </a:prstGeom>
          <a:noFill/>
          <a:ln/>
        </p:spPr>
        <p:txBody>
          <a:bodyPr wrap="square" lIns="0" tIns="0" rIns="0" bIns="0" rtlCol="0" anchor="ctr"/>
          <a:lstStyle/>
          <a:p>
            <a:pPr marL="0" indent="0">
              <a:buNone/>
            </a:pPr>
            <a:r>
              <a:rPr lang="en-US" sz="1550" b="1" dirty="0">
                <a:solidFill>
                  <a:srgbClr val="0F2C48"/>
                </a:solidFill>
                <a:latin typeface="Calibri" pitchFamily="34" charset="0"/>
                <a:ea typeface="Calibri" pitchFamily="34" charset="-122"/>
                <a:cs typeface="Calibri" pitchFamily="34" charset="-120"/>
              </a:rPr>
              <a:t>Monitoring &amp; dashboarding</a:t>
            </a:r>
            <a:endParaRPr lang="en-US" sz="1550" dirty="0"/>
          </a:p>
        </p:txBody>
      </p:sp>
      <p:sp>
        <p:nvSpPr>
          <p:cNvPr id="32" name="Text 30"/>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02</a:t>
            </a:r>
            <a:endParaRPr lang="en-US" sz="1100" dirty="0"/>
          </a:p>
        </p:txBody>
      </p:sp>
      <p:sp>
        <p:nvSpPr>
          <p:cNvPr id="33" name="Text 31"/>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8" name="card">
            <a:extLst>
              <a:ext uri="{FF2B5EF4-FFF2-40B4-BE49-F238E27FC236}">
                <a16:creationId xmlns:a16="http://schemas.microsoft.com/office/drawing/2014/main" id="{25747C41-8E80-A0A0-88E2-4695426A7B97}"/>
              </a:ext>
              <a:ext uri="{C183D7F6-B498-43B3-948B-1728B52AA6E4}">
                <adec:decorative xmlns:adec="http://schemas.microsoft.com/office/drawing/2017/decorative" val="1"/>
              </a:ext>
            </a:extLst>
          </p:cNvPr>
          <p:cNvSpPr/>
          <p:nvPr/>
        </p:nvSpPr>
        <p:spPr>
          <a:xfrm>
            <a:off x="933651" y="4126832"/>
            <a:ext cx="7680960" cy="6473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DATA ARCHITECTURE</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Core data entities</a:t>
            </a:r>
            <a:endParaRPr lang="en-US" sz="3300" dirty="0"/>
          </a:p>
        </p:txBody>
      </p:sp>
      <p:sp>
        <p:nvSpPr>
          <p:cNvPr id="4" name="Text 2"/>
          <p:cNvSpPr/>
          <p:nvPr/>
        </p:nvSpPr>
        <p:spPr>
          <a:xfrm>
            <a:off x="566928" y="1298448"/>
            <a:ext cx="7498080" cy="365760"/>
          </a:xfrm>
          <a:prstGeom prst="rect">
            <a:avLst/>
          </a:prstGeom>
          <a:noFill/>
          <a:ln/>
        </p:spPr>
        <p:txBody>
          <a:bodyPr wrap="square" lIns="0" tIns="0" rIns="0" bIns="0" rtlCol="0" anchor="ctr"/>
          <a:lstStyle/>
          <a:p>
            <a:pPr marL="0" indent="0">
              <a:buNone/>
            </a:pPr>
            <a:r>
              <a:rPr lang="en-US" sz="1500" dirty="0">
                <a:solidFill>
                  <a:srgbClr val="3F5261"/>
                </a:solidFill>
                <a:latin typeface="Calibri" pitchFamily="34" charset="0"/>
                <a:ea typeface="Calibri" pitchFamily="34" charset="-122"/>
                <a:cs typeface="Calibri" pitchFamily="34" charset="-120"/>
              </a:rPr>
              <a:t>Riders sit at the centre, enriched by behavioural, engagement and performance data.</a:t>
            </a:r>
            <a:endParaRPr lang="en-US" sz="1500" dirty="0"/>
          </a:p>
        </p:txBody>
      </p:sp>
      <p:sp>
        <p:nvSpPr>
          <p:cNvPr id="5" name="entity">
            <a:extLst>
              <a:ext uri="{C183D7F6-B498-43B3-948B-1728B52AA6E4}">
                <adec:decorative xmlns:adec="http://schemas.microsoft.com/office/drawing/2017/decorative" val="1"/>
              </a:ext>
            </a:extLst>
          </p:cNvPr>
          <p:cNvSpPr/>
          <p:nvPr/>
        </p:nvSpPr>
        <p:spPr>
          <a:xfrm>
            <a:off x="411480" y="2264343"/>
            <a:ext cx="1517904" cy="1737360"/>
          </a:xfrm>
          <a:prstGeom prst="rect">
            <a:avLst/>
          </a:prstGeom>
          <a:solidFill>
            <a:srgbClr val="0F2C48"/>
          </a:solidFill>
          <a:ln/>
          <a:effectLst>
            <a:outerShdw blurRad="50800" dist="38100" dir="2700000" algn="tl" rotWithShape="0">
              <a:prstClr val="black">
                <a:alpha val="40000"/>
              </a:prstClr>
            </a:outerShdw>
          </a:effectLst>
        </p:spPr>
        <p:txBody>
          <a:bodyPr/>
          <a:lstStyle/>
          <a:p>
            <a:endParaRPr lang="en-GB"/>
          </a:p>
        </p:txBody>
      </p:sp>
      <p:sp>
        <p:nvSpPr>
          <p:cNvPr id="6" name="accent">
            <a:extLst>
              <a:ext uri="{C183D7F6-B498-43B3-948B-1728B52AA6E4}">
                <adec:decorative xmlns:adec="http://schemas.microsoft.com/office/drawing/2017/decorative" val="1"/>
              </a:ext>
            </a:extLst>
          </p:cNvPr>
          <p:cNvSpPr/>
          <p:nvPr/>
        </p:nvSpPr>
        <p:spPr>
          <a:xfrm>
            <a:off x="411480" y="2148840"/>
            <a:ext cx="1517904" cy="82296"/>
          </a:xfrm>
          <a:prstGeom prst="rect">
            <a:avLst/>
          </a:prstGeom>
          <a:solidFill>
            <a:srgbClr val="3FB0AE"/>
          </a:solidFill>
          <a:ln/>
        </p:spPr>
        <p:txBody>
          <a:bodyPr/>
          <a:lstStyle/>
          <a:p>
            <a:endParaRPr lang="en-GB"/>
          </a:p>
        </p:txBody>
      </p:sp>
      <p:sp>
        <p:nvSpPr>
          <p:cNvPr id="7" name="Text 5"/>
          <p:cNvSpPr/>
          <p:nvPr/>
        </p:nvSpPr>
        <p:spPr>
          <a:xfrm>
            <a:off x="539496" y="2651760"/>
            <a:ext cx="1261872"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Riders</a:t>
            </a:r>
            <a:endParaRPr lang="en-US" sz="1700" dirty="0"/>
          </a:p>
        </p:txBody>
      </p:sp>
      <p:sp>
        <p:nvSpPr>
          <p:cNvPr id="8" name="Text 6"/>
          <p:cNvSpPr/>
          <p:nvPr/>
        </p:nvSpPr>
        <p:spPr>
          <a:xfrm>
            <a:off x="521208" y="3108960"/>
            <a:ext cx="1298448" cy="548640"/>
          </a:xfrm>
          <a:prstGeom prst="rect">
            <a:avLst/>
          </a:prstGeom>
          <a:noFill/>
          <a:ln/>
        </p:spPr>
        <p:txBody>
          <a:bodyPr wrap="square" lIns="0" tIns="0" rIns="0" bIns="0" rtlCol="0" anchor="ctr"/>
          <a:lstStyle/>
          <a:p>
            <a:pPr marL="0" indent="0" algn="ctr">
              <a:buNone/>
            </a:pPr>
            <a:r>
              <a:rPr lang="en-US" sz="1250" dirty="0">
                <a:solidFill>
                  <a:srgbClr val="CBD8DE"/>
                </a:solidFill>
                <a:latin typeface="Calibri" pitchFamily="34" charset="0"/>
                <a:ea typeface="Calibri" pitchFamily="34" charset="-122"/>
                <a:cs typeface="Calibri" pitchFamily="34" charset="-120"/>
              </a:rPr>
              <a:t>Primary entity</a:t>
            </a:r>
            <a:endParaRPr lang="en-US" sz="1250" dirty="0"/>
          </a:p>
        </p:txBody>
      </p:sp>
      <p:sp>
        <p:nvSpPr>
          <p:cNvPr id="9" name="card">
            <a:extLst>
              <a:ext uri="{C183D7F6-B498-43B3-948B-1728B52AA6E4}">
                <adec:decorative xmlns:adec="http://schemas.microsoft.com/office/drawing/2017/decorative" val="1"/>
              </a:ext>
            </a:extLst>
          </p:cNvPr>
          <p:cNvSpPr/>
          <p:nvPr/>
        </p:nvSpPr>
        <p:spPr>
          <a:xfrm>
            <a:off x="2112264" y="2148840"/>
            <a:ext cx="1517904" cy="17373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0" name="accent">
            <a:extLst>
              <a:ext uri="{C183D7F6-B498-43B3-948B-1728B52AA6E4}">
                <adec:decorative xmlns:adec="http://schemas.microsoft.com/office/drawing/2017/decorative" val="1"/>
              </a:ext>
            </a:extLst>
          </p:cNvPr>
          <p:cNvSpPr/>
          <p:nvPr/>
        </p:nvSpPr>
        <p:spPr>
          <a:xfrm>
            <a:off x="2112264" y="2148840"/>
            <a:ext cx="1517904" cy="82296"/>
          </a:xfrm>
          <a:prstGeom prst="rect">
            <a:avLst/>
          </a:prstGeom>
          <a:solidFill>
            <a:srgbClr val="128F90"/>
          </a:solidFill>
          <a:ln/>
        </p:spPr>
        <p:txBody>
          <a:bodyPr/>
          <a:lstStyle/>
          <a:p>
            <a:endParaRPr lang="en-GB"/>
          </a:p>
        </p:txBody>
      </p:sp>
      <p:sp>
        <p:nvSpPr>
          <p:cNvPr id="11" name="Text 9">
            <a:extLst>
              <a:ext uri="{C183D7F6-B498-43B3-948B-1728B52AA6E4}">
                <adec:decorative xmlns:adec="http://schemas.microsoft.com/office/drawing/2017/decorative" val="1"/>
              </a:ext>
            </a:extLst>
          </p:cNvPr>
          <p:cNvSpPr/>
          <p:nvPr/>
        </p:nvSpPr>
        <p:spPr>
          <a:xfrm>
            <a:off x="2221992" y="2651760"/>
            <a:ext cx="1298448" cy="457200"/>
          </a:xfrm>
          <a:prstGeom prst="rect">
            <a:avLst/>
          </a:prstGeom>
          <a:noFill/>
          <a:ln/>
        </p:spPr>
        <p:txBody>
          <a:bodyPr wrap="square" lIns="0" tIns="0" rIns="0" bIns="0" rtlCol="0" anchor="ctr"/>
          <a:lstStyle/>
          <a:p>
            <a:pPr marL="0" indent="0" algn="ctr">
              <a:buNone/>
            </a:pPr>
            <a:r>
              <a:rPr lang="en-US" sz="1600" b="1" dirty="0">
                <a:solidFill>
                  <a:srgbClr val="0F2C48"/>
                </a:solidFill>
                <a:latin typeface="Calibri" pitchFamily="34" charset="0"/>
                <a:ea typeface="Calibri" pitchFamily="34" charset="-122"/>
                <a:cs typeface="Calibri" pitchFamily="34" charset="-120"/>
              </a:rPr>
              <a:t>Trips</a:t>
            </a:r>
            <a:endParaRPr lang="en-US" sz="1600" dirty="0"/>
          </a:p>
        </p:txBody>
      </p:sp>
      <p:sp>
        <p:nvSpPr>
          <p:cNvPr id="12" name="Text 10">
            <a:extLst>
              <a:ext uri="{C183D7F6-B498-43B3-948B-1728B52AA6E4}">
                <adec:decorative xmlns:adec="http://schemas.microsoft.com/office/drawing/2017/decorative" val="1"/>
              </a:ext>
            </a:extLst>
          </p:cNvPr>
          <p:cNvSpPr/>
          <p:nvPr/>
        </p:nvSpPr>
        <p:spPr>
          <a:xfrm>
            <a:off x="2203704" y="3108960"/>
            <a:ext cx="1335024" cy="548640"/>
          </a:xfrm>
          <a:prstGeom prst="rect">
            <a:avLst/>
          </a:prstGeom>
          <a:noFill/>
          <a:ln/>
        </p:spPr>
        <p:txBody>
          <a:bodyPr wrap="square" lIns="0" tIns="0" rIns="0" bIns="0" rtlCol="0" anchor="ctr"/>
          <a:lstStyle/>
          <a:p>
            <a:pPr marL="0" indent="0" algn="ctr">
              <a:buNone/>
            </a:pPr>
            <a:r>
              <a:rPr lang="en-US" sz="1200" dirty="0">
                <a:solidFill>
                  <a:srgbClr val="3F5261"/>
                </a:solidFill>
                <a:latin typeface="Calibri" pitchFamily="34" charset="0"/>
                <a:ea typeface="Calibri" pitchFamily="34" charset="-122"/>
                <a:cs typeface="Calibri" pitchFamily="34" charset="-120"/>
              </a:rPr>
              <a:t>Behavioural features</a:t>
            </a:r>
            <a:endParaRPr lang="en-US" sz="1200" dirty="0"/>
          </a:p>
        </p:txBody>
      </p:sp>
      <p:sp>
        <p:nvSpPr>
          <p:cNvPr id="13" name="card">
            <a:extLst>
              <a:ext uri="{C183D7F6-B498-43B3-948B-1728B52AA6E4}">
                <adec:decorative xmlns:adec="http://schemas.microsoft.com/office/drawing/2017/decorative" val="1"/>
              </a:ext>
            </a:extLst>
          </p:cNvPr>
          <p:cNvSpPr/>
          <p:nvPr/>
        </p:nvSpPr>
        <p:spPr>
          <a:xfrm>
            <a:off x="3813048" y="2148840"/>
            <a:ext cx="1517904" cy="17373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4" name="accent">
            <a:extLst>
              <a:ext uri="{C183D7F6-B498-43B3-948B-1728B52AA6E4}">
                <adec:decorative xmlns:adec="http://schemas.microsoft.com/office/drawing/2017/decorative" val="1"/>
              </a:ext>
            </a:extLst>
          </p:cNvPr>
          <p:cNvSpPr/>
          <p:nvPr/>
        </p:nvSpPr>
        <p:spPr>
          <a:xfrm>
            <a:off x="3813048" y="2148840"/>
            <a:ext cx="1517904" cy="82296"/>
          </a:xfrm>
          <a:prstGeom prst="rect">
            <a:avLst/>
          </a:prstGeom>
          <a:solidFill>
            <a:srgbClr val="128F90"/>
          </a:solidFill>
          <a:ln/>
        </p:spPr>
        <p:txBody>
          <a:bodyPr/>
          <a:lstStyle/>
          <a:p>
            <a:endParaRPr lang="en-GB"/>
          </a:p>
        </p:txBody>
      </p:sp>
      <p:sp>
        <p:nvSpPr>
          <p:cNvPr id="15" name="Text 13"/>
          <p:cNvSpPr/>
          <p:nvPr/>
        </p:nvSpPr>
        <p:spPr>
          <a:xfrm>
            <a:off x="3922776" y="2651760"/>
            <a:ext cx="1298448" cy="457200"/>
          </a:xfrm>
          <a:prstGeom prst="rect">
            <a:avLst/>
          </a:prstGeom>
          <a:noFill/>
          <a:ln/>
        </p:spPr>
        <p:txBody>
          <a:bodyPr wrap="square" lIns="0" tIns="0" rIns="0" bIns="0" rtlCol="0" anchor="ctr"/>
          <a:lstStyle/>
          <a:p>
            <a:pPr marL="0" indent="0" algn="ctr">
              <a:buNone/>
            </a:pPr>
            <a:r>
              <a:rPr lang="en-US" sz="1600" b="1" dirty="0">
                <a:solidFill>
                  <a:srgbClr val="0F2C48"/>
                </a:solidFill>
                <a:latin typeface="Calibri" pitchFamily="34" charset="0"/>
                <a:ea typeface="Calibri" pitchFamily="34" charset="-122"/>
                <a:cs typeface="Calibri" pitchFamily="34" charset="-120"/>
              </a:rPr>
              <a:t>Sessions</a:t>
            </a:r>
            <a:endParaRPr lang="en-US" sz="1600" dirty="0"/>
          </a:p>
        </p:txBody>
      </p:sp>
      <p:sp>
        <p:nvSpPr>
          <p:cNvPr id="16" name="Text 14">
            <a:extLst>
              <a:ext uri="{C183D7F6-B498-43B3-948B-1728B52AA6E4}">
                <adec:decorative xmlns:adec="http://schemas.microsoft.com/office/drawing/2017/decorative" val="1"/>
              </a:ext>
            </a:extLst>
          </p:cNvPr>
          <p:cNvSpPr/>
          <p:nvPr/>
        </p:nvSpPr>
        <p:spPr>
          <a:xfrm>
            <a:off x="3904488" y="3108960"/>
            <a:ext cx="1335024" cy="548640"/>
          </a:xfrm>
          <a:prstGeom prst="rect">
            <a:avLst/>
          </a:prstGeom>
          <a:noFill/>
          <a:ln/>
        </p:spPr>
        <p:txBody>
          <a:bodyPr wrap="square" lIns="0" tIns="0" rIns="0" bIns="0" rtlCol="0" anchor="ctr"/>
          <a:lstStyle/>
          <a:p>
            <a:pPr marL="0" indent="0" algn="ctr">
              <a:buNone/>
            </a:pPr>
            <a:r>
              <a:rPr lang="en-US" sz="1200" dirty="0">
                <a:solidFill>
                  <a:srgbClr val="3F5261"/>
                </a:solidFill>
                <a:latin typeface="Calibri" pitchFamily="34" charset="0"/>
                <a:ea typeface="Calibri" pitchFamily="34" charset="-122"/>
                <a:cs typeface="Calibri" pitchFamily="34" charset="-120"/>
              </a:rPr>
              <a:t>Engagement features</a:t>
            </a:r>
            <a:endParaRPr lang="en-US" sz="1200" dirty="0"/>
          </a:p>
        </p:txBody>
      </p:sp>
      <p:sp>
        <p:nvSpPr>
          <p:cNvPr id="17" name="card">
            <a:extLst>
              <a:ext uri="{C183D7F6-B498-43B3-948B-1728B52AA6E4}">
                <adec:decorative xmlns:adec="http://schemas.microsoft.com/office/drawing/2017/decorative" val="1"/>
              </a:ext>
            </a:extLst>
          </p:cNvPr>
          <p:cNvSpPr/>
          <p:nvPr/>
        </p:nvSpPr>
        <p:spPr>
          <a:xfrm>
            <a:off x="5513832" y="2148840"/>
            <a:ext cx="1517904" cy="17373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8" name="accent">
            <a:extLst>
              <a:ext uri="{C183D7F6-B498-43B3-948B-1728B52AA6E4}">
                <adec:decorative xmlns:adec="http://schemas.microsoft.com/office/drawing/2017/decorative" val="1"/>
              </a:ext>
            </a:extLst>
          </p:cNvPr>
          <p:cNvSpPr/>
          <p:nvPr/>
        </p:nvSpPr>
        <p:spPr>
          <a:xfrm>
            <a:off x="5513832" y="2148840"/>
            <a:ext cx="1517904" cy="82296"/>
          </a:xfrm>
          <a:prstGeom prst="rect">
            <a:avLst/>
          </a:prstGeom>
          <a:solidFill>
            <a:srgbClr val="128F90"/>
          </a:solidFill>
          <a:ln/>
        </p:spPr>
        <p:txBody>
          <a:bodyPr/>
          <a:lstStyle/>
          <a:p>
            <a:endParaRPr lang="en-GB"/>
          </a:p>
        </p:txBody>
      </p:sp>
      <p:sp>
        <p:nvSpPr>
          <p:cNvPr id="19" name="Text 17"/>
          <p:cNvSpPr/>
          <p:nvPr/>
        </p:nvSpPr>
        <p:spPr>
          <a:xfrm>
            <a:off x="5623560" y="2651760"/>
            <a:ext cx="1298448" cy="457200"/>
          </a:xfrm>
          <a:prstGeom prst="rect">
            <a:avLst/>
          </a:prstGeom>
          <a:noFill/>
          <a:ln/>
        </p:spPr>
        <p:txBody>
          <a:bodyPr wrap="square" lIns="0" tIns="0" rIns="0" bIns="0" rtlCol="0" anchor="ctr"/>
          <a:lstStyle/>
          <a:p>
            <a:pPr marL="0" indent="0" algn="ctr">
              <a:buNone/>
            </a:pPr>
            <a:r>
              <a:rPr lang="en-US" sz="1600" b="1" dirty="0">
                <a:solidFill>
                  <a:srgbClr val="0F2C48"/>
                </a:solidFill>
                <a:latin typeface="Calibri" pitchFamily="34" charset="0"/>
                <a:ea typeface="Calibri" pitchFamily="34" charset="-122"/>
                <a:cs typeface="Calibri" pitchFamily="34" charset="-120"/>
              </a:rPr>
              <a:t>Drivers</a:t>
            </a:r>
            <a:endParaRPr lang="en-US" sz="1600" dirty="0"/>
          </a:p>
        </p:txBody>
      </p:sp>
      <p:sp>
        <p:nvSpPr>
          <p:cNvPr id="20" name="Text 18"/>
          <p:cNvSpPr/>
          <p:nvPr/>
        </p:nvSpPr>
        <p:spPr>
          <a:xfrm>
            <a:off x="5605272" y="3108960"/>
            <a:ext cx="1335024" cy="548640"/>
          </a:xfrm>
          <a:prstGeom prst="rect">
            <a:avLst/>
          </a:prstGeom>
          <a:noFill/>
          <a:ln/>
        </p:spPr>
        <p:txBody>
          <a:bodyPr wrap="square" lIns="0" tIns="0" rIns="0" bIns="0" rtlCol="0" anchor="ctr"/>
          <a:lstStyle/>
          <a:p>
            <a:pPr marL="0" indent="0" algn="ctr">
              <a:buNone/>
            </a:pPr>
            <a:r>
              <a:rPr lang="en-US" sz="1200" dirty="0">
                <a:solidFill>
                  <a:srgbClr val="3F5261"/>
                </a:solidFill>
                <a:latin typeface="Calibri" pitchFamily="34" charset="0"/>
                <a:ea typeface="Calibri" pitchFamily="34" charset="-122"/>
                <a:cs typeface="Calibri" pitchFamily="34" charset="-120"/>
              </a:rPr>
              <a:t>Performance features</a:t>
            </a:r>
            <a:endParaRPr lang="en-US" sz="1200" dirty="0"/>
          </a:p>
        </p:txBody>
      </p:sp>
      <p:sp>
        <p:nvSpPr>
          <p:cNvPr id="21" name="card">
            <a:extLst>
              <a:ext uri="{C183D7F6-B498-43B3-948B-1728B52AA6E4}">
                <adec:decorative xmlns:adec="http://schemas.microsoft.com/office/drawing/2017/decorative" val="1"/>
              </a:ext>
            </a:extLst>
          </p:cNvPr>
          <p:cNvSpPr/>
          <p:nvPr/>
        </p:nvSpPr>
        <p:spPr>
          <a:xfrm>
            <a:off x="7214616" y="2148840"/>
            <a:ext cx="1517904" cy="17373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2" name="accent">
            <a:extLst>
              <a:ext uri="{C183D7F6-B498-43B3-948B-1728B52AA6E4}">
                <adec:decorative xmlns:adec="http://schemas.microsoft.com/office/drawing/2017/decorative" val="1"/>
              </a:ext>
            </a:extLst>
          </p:cNvPr>
          <p:cNvSpPr/>
          <p:nvPr/>
        </p:nvSpPr>
        <p:spPr>
          <a:xfrm>
            <a:off x="7214616" y="2148840"/>
            <a:ext cx="1517904" cy="82296"/>
          </a:xfrm>
          <a:prstGeom prst="rect">
            <a:avLst/>
          </a:prstGeom>
          <a:solidFill>
            <a:srgbClr val="128F90"/>
          </a:solidFill>
          <a:ln/>
        </p:spPr>
        <p:txBody>
          <a:bodyPr/>
          <a:lstStyle/>
          <a:p>
            <a:endParaRPr lang="en-GB"/>
          </a:p>
        </p:txBody>
      </p:sp>
      <p:sp>
        <p:nvSpPr>
          <p:cNvPr id="23" name="Text 21">
            <a:extLst>
              <a:ext uri="{C183D7F6-B498-43B3-948B-1728B52AA6E4}">
                <adec:decorative xmlns:adec="http://schemas.microsoft.com/office/drawing/2017/decorative" val="1"/>
              </a:ext>
            </a:extLst>
          </p:cNvPr>
          <p:cNvSpPr/>
          <p:nvPr/>
        </p:nvSpPr>
        <p:spPr>
          <a:xfrm>
            <a:off x="7324344" y="2651760"/>
            <a:ext cx="1298448" cy="457200"/>
          </a:xfrm>
          <a:prstGeom prst="rect">
            <a:avLst/>
          </a:prstGeom>
          <a:noFill/>
          <a:ln/>
        </p:spPr>
        <p:txBody>
          <a:bodyPr wrap="square" lIns="0" tIns="0" rIns="0" bIns="0" rtlCol="0" anchor="ctr"/>
          <a:lstStyle/>
          <a:p>
            <a:pPr marL="0" indent="0" algn="ctr">
              <a:buNone/>
            </a:pPr>
            <a:r>
              <a:rPr lang="en-US" sz="1600" b="1" dirty="0">
                <a:solidFill>
                  <a:srgbClr val="0F2C48"/>
                </a:solidFill>
                <a:latin typeface="Calibri" pitchFamily="34" charset="0"/>
                <a:ea typeface="Calibri" pitchFamily="34" charset="-122"/>
                <a:cs typeface="Calibri" pitchFamily="34" charset="-120"/>
              </a:rPr>
              <a:t>Promotions</a:t>
            </a:r>
            <a:endParaRPr lang="en-US" sz="1600" dirty="0"/>
          </a:p>
        </p:txBody>
      </p:sp>
      <p:sp>
        <p:nvSpPr>
          <p:cNvPr id="24" name="Text 22">
            <a:extLst>
              <a:ext uri="{C183D7F6-B498-43B3-948B-1728B52AA6E4}">
                <adec:decorative xmlns:adec="http://schemas.microsoft.com/office/drawing/2017/decorative" val="1"/>
              </a:ext>
            </a:extLst>
          </p:cNvPr>
          <p:cNvSpPr/>
          <p:nvPr/>
        </p:nvSpPr>
        <p:spPr>
          <a:xfrm>
            <a:off x="7306056" y="3108960"/>
            <a:ext cx="1335024" cy="548640"/>
          </a:xfrm>
          <a:prstGeom prst="rect">
            <a:avLst/>
          </a:prstGeom>
          <a:noFill/>
          <a:ln/>
        </p:spPr>
        <p:txBody>
          <a:bodyPr wrap="square" lIns="0" tIns="0" rIns="0" bIns="0" rtlCol="0" anchor="ctr"/>
          <a:lstStyle/>
          <a:p>
            <a:pPr marL="0" indent="0" algn="ctr">
              <a:buNone/>
            </a:pPr>
            <a:r>
              <a:rPr lang="en-US" sz="1200" dirty="0">
                <a:solidFill>
                  <a:srgbClr val="3F5261"/>
                </a:solidFill>
                <a:latin typeface="Calibri" pitchFamily="34" charset="0"/>
                <a:ea typeface="Calibri" pitchFamily="34" charset="-122"/>
                <a:cs typeface="Calibri" pitchFamily="34" charset="-120"/>
              </a:rPr>
              <a:t>Optional features</a:t>
            </a:r>
            <a:endParaRPr lang="en-US" sz="1200" dirty="0"/>
          </a:p>
        </p:txBody>
      </p:sp>
      <p:sp>
        <p:nvSpPr>
          <p:cNvPr id="25" name="Text 23"/>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03</a:t>
            </a:r>
            <a:endParaRPr lang="en-US" sz="1100" dirty="0"/>
          </a:p>
        </p:txBody>
      </p:sp>
      <p:sp>
        <p:nvSpPr>
          <p:cNvPr id="26" name="Text 24"/>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8" name="card">
            <a:extLst>
              <a:ext uri="{FF2B5EF4-FFF2-40B4-BE49-F238E27FC236}">
                <a16:creationId xmlns:a16="http://schemas.microsoft.com/office/drawing/2014/main" id="{C334E4B1-71E9-1BBA-98EF-26849D5D9C69}"/>
              </a:ext>
              <a:ext uri="{C183D7F6-B498-43B3-948B-1728B52AA6E4}">
                <adec:decorative xmlns:adec="http://schemas.microsoft.com/office/drawing/2017/decorative" val="1"/>
              </a:ext>
            </a:extLst>
          </p:cNvPr>
          <p:cNvSpPr/>
          <p:nvPr/>
        </p:nvSpPr>
        <p:spPr>
          <a:xfrm>
            <a:off x="1560000" y="4374683"/>
            <a:ext cx="6150000" cy="206942"/>
          </a:xfrm>
          <a:prstGeom prst="rect">
            <a:avLst/>
          </a:prstGeom>
          <a:solidFill>
            <a:srgbClr val="FFFFFF"/>
          </a:solidFill>
          <a:ln w="12700">
            <a:noFill/>
            <a:prstDash val="solid"/>
          </a:ln>
          <a:effectLst>
            <a:outerShdw blurRad="114300" dist="38100" dir="5400000" algn="bl" rotWithShape="0">
              <a:srgbClr val="9FB2B8">
                <a:alpha val="22000"/>
              </a:srgbClr>
            </a:outerShdw>
          </a:effectLst>
        </p:spPr>
        <p:txBody>
          <a:bodyPr/>
          <a:lstStyle/>
          <a:p>
            <a:r>
              <a:rPr lang="en-GB" sz="1200" dirty="0">
                <a:solidFill>
                  <a:srgbClr val="3F5261"/>
                </a:solidFill>
                <a:latin typeface="Calibri" pitchFamily="34" charset="0"/>
                <a:ea typeface="Calibri" pitchFamily="34" charset="-122"/>
                <a:cs typeface="Calibri" pitchFamily="34" charset="-120"/>
              </a:rPr>
              <a:t>Demographics, loyalty status, behavioural aggregates, engagement metrics, churn probability</a:t>
            </a:r>
          </a:p>
        </p:txBody>
      </p:sp>
      <p:sp>
        <p:nvSpPr>
          <p:cNvPr id="30" name="accent">
            <a:extLst>
              <a:ext uri="{FF2B5EF4-FFF2-40B4-BE49-F238E27FC236}">
                <a16:creationId xmlns:a16="http://schemas.microsoft.com/office/drawing/2014/main" id="{18E12751-B6DA-C18B-2A21-890CB5458B26}"/>
              </a:ext>
              <a:ext uri="{C183D7F6-B498-43B3-948B-1728B52AA6E4}">
                <adec:decorative xmlns:adec="http://schemas.microsoft.com/office/drawing/2017/decorative" val="1"/>
              </a:ext>
            </a:extLst>
          </p:cNvPr>
          <p:cNvSpPr/>
          <p:nvPr/>
        </p:nvSpPr>
        <p:spPr>
          <a:xfrm>
            <a:off x="904775" y="4036291"/>
            <a:ext cx="7675807" cy="92364"/>
          </a:xfrm>
          <a:prstGeom prst="rect">
            <a:avLst/>
          </a:prstGeom>
          <a:solidFill>
            <a:srgbClr val="128F90"/>
          </a:solidFill>
          <a:ln/>
        </p:spPr>
        <p:txBody>
          <a:bodyPr/>
          <a:lstStyle/>
          <a:p>
            <a:endParaRPr lang="en-GB"/>
          </a:p>
        </p:txBody>
      </p:sp>
      <p:sp>
        <p:nvSpPr>
          <p:cNvPr id="36" name="TextBox 35">
            <a:extLst>
              <a:ext uri="{FF2B5EF4-FFF2-40B4-BE49-F238E27FC236}">
                <a16:creationId xmlns:a16="http://schemas.microsoft.com/office/drawing/2014/main" id="{6FDE8457-3379-3A21-7C0B-E93F72B1BAF9}"/>
              </a:ext>
            </a:extLst>
          </p:cNvPr>
          <p:cNvSpPr txBox="1"/>
          <p:nvPr/>
        </p:nvSpPr>
        <p:spPr>
          <a:xfrm>
            <a:off x="3428147" y="4167436"/>
            <a:ext cx="2815389" cy="281415"/>
          </a:xfrm>
          <a:prstGeom prst="rect">
            <a:avLst/>
          </a:prstGeom>
          <a:noFill/>
        </p:spPr>
        <p:txBody>
          <a:bodyPr wrap="square">
            <a:normAutofit fontScale="92500" lnSpcReduction="20000"/>
          </a:bodyPr>
          <a:lstStyle/>
          <a:p>
            <a:pPr marL="0" indent="0" algn="ctr">
              <a:buNone/>
            </a:pPr>
            <a:r>
              <a:rPr lang="en-US" sz="1600" b="1" dirty="0" err="1">
                <a:solidFill>
                  <a:srgbClr val="0F2C48"/>
                </a:solidFill>
                <a:latin typeface="Calibri" pitchFamily="34" charset="0"/>
                <a:ea typeface="Calibri" pitchFamily="34" charset="-122"/>
                <a:cs typeface="Calibri" pitchFamily="34" charset="-120"/>
              </a:rPr>
              <a:t>Riders_ml</a:t>
            </a:r>
            <a:r>
              <a:rPr lang="en-US" sz="1600" b="1" dirty="0">
                <a:solidFill>
                  <a:srgbClr val="0F2C48"/>
                </a:solidFill>
                <a:latin typeface="Calibri" pitchFamily="34" charset="0"/>
                <a:ea typeface="Calibri" pitchFamily="34" charset="-122"/>
                <a:cs typeface="Calibri" pitchFamily="34" charset="-120"/>
              </a:rPr>
              <a:t> = One row per rider </a:t>
            </a:r>
            <a:endParaRPr lang="en-US" sz="1600" dirty="0"/>
          </a:p>
        </p:txBody>
      </p:sp>
      <p:sp>
        <p:nvSpPr>
          <p:cNvPr id="100" name="icon badge Riders">
            <a:extLst>
              <a:ext uri="{C183D7F6-B498-43B3-948B-1728B52AA6E4}">
                <adec:decorative xmlns:adec="http://schemas.microsoft.com/office/drawing/2017/decorative" val="1"/>
              </a:ext>
            </a:extLst>
          </p:cNvPr>
          <p:cNvSpPr/>
          <p:nvPr/>
        </p:nvSpPr>
        <p:spPr>
          <a:xfrm>
            <a:off x="990432" y="2255000"/>
            <a:ext cx="360000" cy="360000"/>
          </a:xfrm>
          <a:prstGeom prst="ellipse">
            <a:avLst/>
          </a:prstGeom>
          <a:solidFill>
            <a:srgbClr val="128F90"/>
          </a:solidFill>
          <a:ln/>
        </p:spPr>
        <p:txBody>
          <a:bodyPr/>
          <a:lstStyle/>
          <a:p>
            <a:endParaRPr lang="en-GB"/>
          </a:p>
        </p:txBody>
      </p:sp>
      <p:sp>
        <p:nvSpPr>
          <p:cNvPr id="101" name="icon glyph Riders">
            <a:extLst>
              <a:ext uri="{C183D7F6-B498-43B3-948B-1728B52AA6E4}">
                <adec:decorative xmlns:adec="http://schemas.microsoft.com/office/drawing/2017/decorative" val="1"/>
              </a:ext>
            </a:extLst>
          </p:cNvPr>
          <p:cNvSpPr/>
          <p:nvPr/>
        </p:nvSpPr>
        <p:spPr>
          <a:xfrm>
            <a:off x="1070432" y="2335000"/>
            <a:ext cx="200000" cy="200000"/>
          </a:xfrm>
          <a:prstGeom prst="smileyFace">
            <a:avLst/>
          </a:prstGeom>
          <a:solidFill>
            <a:srgbClr val="FFFFFF"/>
          </a:solidFill>
          <a:ln/>
        </p:spPr>
        <p:txBody>
          <a:bodyPr/>
          <a:lstStyle/>
          <a:p>
            <a:endParaRPr lang="en-GB"/>
          </a:p>
        </p:txBody>
      </p:sp>
      <p:sp>
        <p:nvSpPr>
          <p:cNvPr id="102" name="icon badge Trips">
            <a:extLst>
              <a:ext uri="{C183D7F6-B498-43B3-948B-1728B52AA6E4}">
                <adec:decorative xmlns:adec="http://schemas.microsoft.com/office/drawing/2017/decorative" val="1"/>
              </a:ext>
            </a:extLst>
          </p:cNvPr>
          <p:cNvSpPr/>
          <p:nvPr/>
        </p:nvSpPr>
        <p:spPr>
          <a:xfrm>
            <a:off x="2691216" y="2255000"/>
            <a:ext cx="360000" cy="360000"/>
          </a:xfrm>
          <a:prstGeom prst="ellipse">
            <a:avLst/>
          </a:prstGeom>
          <a:solidFill>
            <a:srgbClr val="128F90"/>
          </a:solidFill>
          <a:ln/>
        </p:spPr>
        <p:txBody>
          <a:bodyPr/>
          <a:lstStyle/>
          <a:p>
            <a:endParaRPr lang="en-GB"/>
          </a:p>
        </p:txBody>
      </p:sp>
      <p:sp>
        <p:nvSpPr>
          <p:cNvPr id="103" name="icon glyph Trips">
            <a:extLst>
              <a:ext uri="{C183D7F6-B498-43B3-948B-1728B52AA6E4}">
                <adec:decorative xmlns:adec="http://schemas.microsoft.com/office/drawing/2017/decorative" val="1"/>
              </a:ext>
            </a:extLst>
          </p:cNvPr>
          <p:cNvSpPr/>
          <p:nvPr/>
        </p:nvSpPr>
        <p:spPr>
          <a:xfrm>
            <a:off x="2771216" y="2335000"/>
            <a:ext cx="200000" cy="200000"/>
          </a:xfrm>
          <a:prstGeom prst="rightArrow">
            <a:avLst/>
          </a:prstGeom>
          <a:solidFill>
            <a:srgbClr val="FFFFFF"/>
          </a:solidFill>
          <a:ln/>
        </p:spPr>
        <p:txBody>
          <a:bodyPr/>
          <a:lstStyle/>
          <a:p>
            <a:endParaRPr lang="en-GB"/>
          </a:p>
        </p:txBody>
      </p:sp>
      <p:sp>
        <p:nvSpPr>
          <p:cNvPr id="104" name="icon badge Sessions">
            <a:extLst>
              <a:ext uri="{C183D7F6-B498-43B3-948B-1728B52AA6E4}">
                <adec:decorative xmlns:adec="http://schemas.microsoft.com/office/drawing/2017/decorative" val="1"/>
              </a:ext>
            </a:extLst>
          </p:cNvPr>
          <p:cNvSpPr/>
          <p:nvPr/>
        </p:nvSpPr>
        <p:spPr>
          <a:xfrm>
            <a:off x="4392000" y="2255000"/>
            <a:ext cx="360000" cy="360000"/>
          </a:xfrm>
          <a:prstGeom prst="ellipse">
            <a:avLst/>
          </a:prstGeom>
          <a:solidFill>
            <a:srgbClr val="128F90"/>
          </a:solidFill>
          <a:ln/>
        </p:spPr>
        <p:txBody>
          <a:bodyPr/>
          <a:lstStyle/>
          <a:p>
            <a:endParaRPr lang="en-GB"/>
          </a:p>
        </p:txBody>
      </p:sp>
      <p:sp>
        <p:nvSpPr>
          <p:cNvPr id="105" name="icon glyph Sessions">
            <a:extLst>
              <a:ext uri="{C183D7F6-B498-43B3-948B-1728B52AA6E4}">
                <adec:decorative xmlns:adec="http://schemas.microsoft.com/office/drawing/2017/decorative" val="1"/>
              </a:ext>
            </a:extLst>
          </p:cNvPr>
          <p:cNvSpPr/>
          <p:nvPr/>
        </p:nvSpPr>
        <p:spPr>
          <a:xfrm>
            <a:off x="4472000" y="2335000"/>
            <a:ext cx="200000" cy="200000"/>
          </a:xfrm>
          <a:prstGeom prst="lightningBolt">
            <a:avLst/>
          </a:prstGeom>
          <a:solidFill>
            <a:srgbClr val="FFFFFF"/>
          </a:solidFill>
          <a:ln/>
        </p:spPr>
        <p:txBody>
          <a:bodyPr/>
          <a:lstStyle/>
          <a:p>
            <a:endParaRPr lang="en-GB"/>
          </a:p>
        </p:txBody>
      </p:sp>
      <p:sp>
        <p:nvSpPr>
          <p:cNvPr id="106" name="icon badge Drivers">
            <a:extLst>
              <a:ext uri="{C183D7F6-B498-43B3-948B-1728B52AA6E4}">
                <adec:decorative xmlns:adec="http://schemas.microsoft.com/office/drawing/2017/decorative" val="1"/>
              </a:ext>
            </a:extLst>
          </p:cNvPr>
          <p:cNvSpPr/>
          <p:nvPr/>
        </p:nvSpPr>
        <p:spPr>
          <a:xfrm>
            <a:off x="6092784" y="2255000"/>
            <a:ext cx="360000" cy="360000"/>
          </a:xfrm>
          <a:prstGeom prst="ellipse">
            <a:avLst/>
          </a:prstGeom>
          <a:solidFill>
            <a:srgbClr val="128F90"/>
          </a:solidFill>
          <a:ln/>
        </p:spPr>
        <p:txBody>
          <a:bodyPr/>
          <a:lstStyle/>
          <a:p>
            <a:endParaRPr lang="en-GB"/>
          </a:p>
        </p:txBody>
      </p:sp>
      <p:sp>
        <p:nvSpPr>
          <p:cNvPr id="107" name="icon glyph Drivers">
            <a:extLst>
              <a:ext uri="{C183D7F6-B498-43B3-948B-1728B52AA6E4}">
                <adec:decorative xmlns:adec="http://schemas.microsoft.com/office/drawing/2017/decorative" val="1"/>
              </a:ext>
            </a:extLst>
          </p:cNvPr>
          <p:cNvSpPr/>
          <p:nvPr/>
        </p:nvSpPr>
        <p:spPr>
          <a:xfrm>
            <a:off x="6172784" y="2335000"/>
            <a:ext cx="200000" cy="200000"/>
          </a:xfrm>
          <a:prstGeom prst="donut">
            <a:avLst/>
          </a:prstGeom>
          <a:solidFill>
            <a:srgbClr val="FFFFFF"/>
          </a:solidFill>
          <a:ln/>
        </p:spPr>
        <p:txBody>
          <a:bodyPr/>
          <a:lstStyle/>
          <a:p>
            <a:endParaRPr lang="en-GB"/>
          </a:p>
        </p:txBody>
      </p:sp>
      <p:sp>
        <p:nvSpPr>
          <p:cNvPr id="108" name="icon badge Promotions">
            <a:extLst>
              <a:ext uri="{C183D7F6-B498-43B3-948B-1728B52AA6E4}">
                <adec:decorative xmlns:adec="http://schemas.microsoft.com/office/drawing/2017/decorative" val="1"/>
              </a:ext>
            </a:extLst>
          </p:cNvPr>
          <p:cNvSpPr/>
          <p:nvPr/>
        </p:nvSpPr>
        <p:spPr>
          <a:xfrm>
            <a:off x="7793568" y="2255000"/>
            <a:ext cx="360000" cy="360000"/>
          </a:xfrm>
          <a:prstGeom prst="ellipse">
            <a:avLst/>
          </a:prstGeom>
          <a:solidFill>
            <a:srgbClr val="128F90"/>
          </a:solidFill>
          <a:ln/>
        </p:spPr>
        <p:txBody>
          <a:bodyPr/>
          <a:lstStyle/>
          <a:p>
            <a:endParaRPr lang="en-GB"/>
          </a:p>
        </p:txBody>
      </p:sp>
      <p:sp>
        <p:nvSpPr>
          <p:cNvPr id="109" name="icon glyph Promotions">
            <a:extLst>
              <a:ext uri="{C183D7F6-B498-43B3-948B-1728B52AA6E4}">
                <adec:decorative xmlns:adec="http://schemas.microsoft.com/office/drawing/2017/decorative" val="1"/>
              </a:ext>
            </a:extLst>
          </p:cNvPr>
          <p:cNvSpPr/>
          <p:nvPr/>
        </p:nvSpPr>
        <p:spPr>
          <a:xfrm>
            <a:off x="7873568" y="2335000"/>
            <a:ext cx="200000" cy="200000"/>
          </a:xfrm>
          <a:prstGeom prst="star5">
            <a:avLst/>
          </a:prstGeom>
          <a:solidFill>
            <a:srgbClr val="FFFFFF"/>
          </a:solidFill>
          <a:ln/>
        </p:spPr>
        <p:txBody>
          <a:bodyPr/>
          <a:lstStyle/>
          <a:p>
            <a:endParaRPr lang="en-GB"/>
          </a:p>
        </p:txBody>
      </p:sp>
      <p:sp>
        <p:nvSpPr>
          <p:cNvPr id="110" name="icon badge Dataset">
            <a:extLst>
              <a:ext uri="{C183D7F6-B498-43B3-948B-1728B52AA6E4}">
                <adec:decorative xmlns:adec="http://schemas.microsoft.com/office/drawing/2017/decorative" val="1"/>
              </a:ext>
            </a:extLst>
          </p:cNvPr>
          <p:cNvSpPr/>
          <p:nvPr/>
        </p:nvSpPr>
        <p:spPr>
          <a:xfrm>
            <a:off x="1040000" y="4280000"/>
            <a:ext cx="360000" cy="360000"/>
          </a:xfrm>
          <a:prstGeom prst="ellipse">
            <a:avLst/>
          </a:prstGeom>
          <a:solidFill>
            <a:srgbClr val="128F90"/>
          </a:solidFill>
          <a:ln/>
        </p:spPr>
        <p:txBody>
          <a:bodyPr/>
          <a:lstStyle/>
          <a:p>
            <a:endParaRPr lang="en-GB"/>
          </a:p>
        </p:txBody>
      </p:sp>
      <p:sp>
        <p:nvSpPr>
          <p:cNvPr id="111" name="icon glyph Dataset">
            <a:extLst>
              <a:ext uri="{C183D7F6-B498-43B3-948B-1728B52AA6E4}">
                <adec:decorative xmlns:adec="http://schemas.microsoft.com/office/drawing/2017/decorative" val="1"/>
              </a:ext>
            </a:extLst>
          </p:cNvPr>
          <p:cNvSpPr/>
          <p:nvPr/>
        </p:nvSpPr>
        <p:spPr>
          <a:xfrm>
            <a:off x="1120000" y="4360000"/>
            <a:ext cx="200000" cy="200000"/>
          </a:xfrm>
          <a:prstGeom prst="flowChartMagneticDisk">
            <a:avLst/>
          </a:prstGeom>
          <a:solidFill>
            <a:srgbClr val="FFFFFF"/>
          </a:solidFill>
          <a:ln/>
        </p:spPr>
        <p:txBody>
          <a:bodyPr/>
          <a:lstStyle/>
          <a:p>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A8271-5518-3002-8932-C402398D9F78}"/>
            </a:ext>
          </a:extLst>
        </p:cNvPr>
        <p:cNvGrpSpPr/>
        <p:nvPr/>
      </p:nvGrpSpPr>
      <p:grpSpPr>
        <a:xfrm>
          <a:off x="0" y="0"/>
          <a:ext cx="0" cy="0"/>
          <a:chOff x="0" y="0"/>
          <a:chExt cx="0" cy="0"/>
        </a:xfrm>
      </p:grpSpPr>
      <p:sp>
        <p:nvSpPr>
          <p:cNvPr id="38" name="card">
            <a:extLst>
              <a:ext uri="{FF2B5EF4-FFF2-40B4-BE49-F238E27FC236}">
                <a16:creationId xmlns:a16="http://schemas.microsoft.com/office/drawing/2014/main" id="{912A1560-5698-D23A-CED4-1357D3B82E66}"/>
              </a:ext>
              <a:ext uri="{C183D7F6-B498-43B3-948B-1728B52AA6E4}">
                <adec:decorative xmlns:adec="http://schemas.microsoft.com/office/drawing/2017/decorative" val="1"/>
              </a:ext>
            </a:extLst>
          </p:cNvPr>
          <p:cNvSpPr/>
          <p:nvPr/>
        </p:nvSpPr>
        <p:spPr>
          <a:xfrm>
            <a:off x="933651" y="4126832"/>
            <a:ext cx="7680960" cy="6473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 name="Text 0">
            <a:extLst>
              <a:ext uri="{FF2B5EF4-FFF2-40B4-BE49-F238E27FC236}">
                <a16:creationId xmlns:a16="http://schemas.microsoft.com/office/drawing/2014/main" id="{6B324B13-0704-8457-B4E9-4F57A2AD38B8}"/>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DATA ARCHITECTURE</a:t>
            </a:r>
            <a:endParaRPr lang="en-US" sz="1250" dirty="0"/>
          </a:p>
        </p:txBody>
      </p:sp>
      <p:sp>
        <p:nvSpPr>
          <p:cNvPr id="3" name="Text 0">
            <a:extLst>
              <a:ext uri="{FF2B5EF4-FFF2-40B4-BE49-F238E27FC236}">
                <a16:creationId xmlns:a16="http://schemas.microsoft.com/office/drawing/2014/main" id="{E3D7C957-92FF-A822-4CBC-66DBB5956269}"/>
              </a:ext>
            </a:extLst>
          </p:cNvPr>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Core data entities</a:t>
            </a:r>
            <a:endParaRPr lang="en-US" sz="3300" dirty="0"/>
          </a:p>
        </p:txBody>
      </p:sp>
      <p:sp>
        <p:nvSpPr>
          <p:cNvPr id="4" name="Text 2">
            <a:extLst>
              <a:ext uri="{FF2B5EF4-FFF2-40B4-BE49-F238E27FC236}">
                <a16:creationId xmlns:a16="http://schemas.microsoft.com/office/drawing/2014/main" id="{FC2CE823-F86A-AED2-EAD8-9D1754028C19}"/>
              </a:ext>
            </a:extLst>
          </p:cNvPr>
          <p:cNvSpPr/>
          <p:nvPr/>
        </p:nvSpPr>
        <p:spPr>
          <a:xfrm>
            <a:off x="566928" y="1298448"/>
            <a:ext cx="7498080" cy="365760"/>
          </a:xfrm>
          <a:prstGeom prst="rect">
            <a:avLst/>
          </a:prstGeom>
          <a:noFill/>
          <a:ln/>
        </p:spPr>
        <p:txBody>
          <a:bodyPr wrap="square" lIns="0" tIns="0" rIns="0" bIns="0" rtlCol="0" anchor="ctr"/>
          <a:lstStyle/>
          <a:p>
            <a:pPr marL="0" indent="0">
              <a:buNone/>
            </a:pPr>
            <a:r>
              <a:rPr lang="en-US" sz="1500" dirty="0">
                <a:solidFill>
                  <a:srgbClr val="3F5261"/>
                </a:solidFill>
                <a:latin typeface="Calibri" pitchFamily="34" charset="0"/>
                <a:ea typeface="Calibri" pitchFamily="34" charset="-122"/>
                <a:cs typeface="Calibri" pitchFamily="34" charset="-120"/>
              </a:rPr>
              <a:t>Riders sit at the centre, enriched by behavioural, engagement and performance data.</a:t>
            </a:r>
            <a:endParaRPr lang="en-US" sz="1500" dirty="0"/>
          </a:p>
        </p:txBody>
      </p:sp>
      <p:sp>
        <p:nvSpPr>
          <p:cNvPr id="5" name="entity">
            <a:extLst>
              <a:ext uri="{FF2B5EF4-FFF2-40B4-BE49-F238E27FC236}">
                <a16:creationId xmlns:a16="http://schemas.microsoft.com/office/drawing/2014/main" id="{FBB7C8FD-14DC-8520-B14E-69A6257B7A4E}"/>
              </a:ext>
              <a:ext uri="{C183D7F6-B498-43B3-948B-1728B52AA6E4}">
                <adec:decorative xmlns:adec="http://schemas.microsoft.com/office/drawing/2017/decorative" val="1"/>
              </a:ext>
            </a:extLst>
          </p:cNvPr>
          <p:cNvSpPr/>
          <p:nvPr/>
        </p:nvSpPr>
        <p:spPr>
          <a:xfrm>
            <a:off x="411480" y="2264343"/>
            <a:ext cx="1517904" cy="1737360"/>
          </a:xfrm>
          <a:prstGeom prst="rect">
            <a:avLst/>
          </a:prstGeom>
          <a:solidFill>
            <a:srgbClr val="0F2C48"/>
          </a:solidFill>
          <a:ln/>
          <a:effectLst>
            <a:outerShdw blurRad="50800" dist="38100" dir="2700000" algn="tl" rotWithShape="0">
              <a:prstClr val="black">
                <a:alpha val="40000"/>
              </a:prstClr>
            </a:outerShdw>
          </a:effectLst>
        </p:spPr>
        <p:txBody>
          <a:bodyPr/>
          <a:lstStyle/>
          <a:p>
            <a:endParaRPr lang="en-GB"/>
          </a:p>
        </p:txBody>
      </p:sp>
      <p:sp>
        <p:nvSpPr>
          <p:cNvPr id="6" name="accent">
            <a:extLst>
              <a:ext uri="{FF2B5EF4-FFF2-40B4-BE49-F238E27FC236}">
                <a16:creationId xmlns:a16="http://schemas.microsoft.com/office/drawing/2014/main" id="{BC290358-F128-49B6-D895-0D8A9B904655}"/>
              </a:ext>
              <a:ext uri="{C183D7F6-B498-43B3-948B-1728B52AA6E4}">
                <adec:decorative xmlns:adec="http://schemas.microsoft.com/office/drawing/2017/decorative" val="1"/>
              </a:ext>
            </a:extLst>
          </p:cNvPr>
          <p:cNvSpPr/>
          <p:nvPr/>
        </p:nvSpPr>
        <p:spPr>
          <a:xfrm>
            <a:off x="411480" y="2148840"/>
            <a:ext cx="1517904" cy="82296"/>
          </a:xfrm>
          <a:prstGeom prst="rect">
            <a:avLst/>
          </a:prstGeom>
          <a:solidFill>
            <a:srgbClr val="3FB0AE"/>
          </a:solidFill>
          <a:ln/>
        </p:spPr>
        <p:txBody>
          <a:bodyPr/>
          <a:lstStyle/>
          <a:p>
            <a:endParaRPr lang="en-GB"/>
          </a:p>
        </p:txBody>
      </p:sp>
      <p:sp>
        <p:nvSpPr>
          <p:cNvPr id="7" name="Text 5">
            <a:extLst>
              <a:ext uri="{FF2B5EF4-FFF2-40B4-BE49-F238E27FC236}">
                <a16:creationId xmlns:a16="http://schemas.microsoft.com/office/drawing/2014/main" id="{7B97AD23-C2DE-45B6-FD2D-C010BD6B389D}"/>
              </a:ext>
            </a:extLst>
          </p:cNvPr>
          <p:cNvSpPr/>
          <p:nvPr/>
        </p:nvSpPr>
        <p:spPr>
          <a:xfrm>
            <a:off x="539496" y="2651760"/>
            <a:ext cx="1261872"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Riders</a:t>
            </a:r>
            <a:endParaRPr lang="en-US" sz="1700" dirty="0"/>
          </a:p>
        </p:txBody>
      </p:sp>
      <p:sp>
        <p:nvSpPr>
          <p:cNvPr id="8" name="Text 6">
            <a:extLst>
              <a:ext uri="{FF2B5EF4-FFF2-40B4-BE49-F238E27FC236}">
                <a16:creationId xmlns:a16="http://schemas.microsoft.com/office/drawing/2014/main" id="{5F1C4744-EF96-C6A2-D303-C69BA6FD936A}"/>
              </a:ext>
            </a:extLst>
          </p:cNvPr>
          <p:cNvSpPr/>
          <p:nvPr/>
        </p:nvSpPr>
        <p:spPr>
          <a:xfrm>
            <a:off x="521208" y="3108960"/>
            <a:ext cx="1298448" cy="548640"/>
          </a:xfrm>
          <a:prstGeom prst="rect">
            <a:avLst/>
          </a:prstGeom>
          <a:noFill/>
          <a:ln/>
        </p:spPr>
        <p:txBody>
          <a:bodyPr wrap="square" lIns="0" tIns="0" rIns="0" bIns="0" rtlCol="0" anchor="ctr"/>
          <a:lstStyle/>
          <a:p>
            <a:pPr marL="0" indent="0" algn="ctr">
              <a:buNone/>
            </a:pPr>
            <a:r>
              <a:rPr lang="en-US" sz="1250" dirty="0">
                <a:solidFill>
                  <a:srgbClr val="CBD8DE"/>
                </a:solidFill>
                <a:latin typeface="Calibri" pitchFamily="34" charset="0"/>
                <a:ea typeface="Calibri" pitchFamily="34" charset="-122"/>
                <a:cs typeface="Calibri" pitchFamily="34" charset="-120"/>
              </a:rPr>
              <a:t>Primary entity</a:t>
            </a:r>
            <a:endParaRPr lang="en-US" sz="1250" dirty="0"/>
          </a:p>
        </p:txBody>
      </p:sp>
      <p:sp>
        <p:nvSpPr>
          <p:cNvPr id="9" name="card">
            <a:extLst>
              <a:ext uri="{FF2B5EF4-FFF2-40B4-BE49-F238E27FC236}">
                <a16:creationId xmlns:a16="http://schemas.microsoft.com/office/drawing/2014/main" id="{50857F21-E87B-BDA3-E324-8F066F934ACF}"/>
              </a:ext>
              <a:ext uri="{C183D7F6-B498-43B3-948B-1728B52AA6E4}">
                <adec:decorative xmlns:adec="http://schemas.microsoft.com/office/drawing/2017/decorative" val="1"/>
              </a:ext>
            </a:extLst>
          </p:cNvPr>
          <p:cNvSpPr/>
          <p:nvPr/>
        </p:nvSpPr>
        <p:spPr>
          <a:xfrm>
            <a:off x="2112264" y="2148840"/>
            <a:ext cx="1517904" cy="17373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0" name="accent">
            <a:extLst>
              <a:ext uri="{FF2B5EF4-FFF2-40B4-BE49-F238E27FC236}">
                <a16:creationId xmlns:a16="http://schemas.microsoft.com/office/drawing/2014/main" id="{C2BCFEDF-3E34-E2BA-C06E-BF52E41BB7CA}"/>
              </a:ext>
              <a:ext uri="{C183D7F6-B498-43B3-948B-1728B52AA6E4}">
                <adec:decorative xmlns:adec="http://schemas.microsoft.com/office/drawing/2017/decorative" val="1"/>
              </a:ext>
            </a:extLst>
          </p:cNvPr>
          <p:cNvSpPr/>
          <p:nvPr/>
        </p:nvSpPr>
        <p:spPr>
          <a:xfrm>
            <a:off x="2112264" y="2148840"/>
            <a:ext cx="1517904" cy="82296"/>
          </a:xfrm>
          <a:prstGeom prst="rect">
            <a:avLst/>
          </a:prstGeom>
          <a:solidFill>
            <a:srgbClr val="128F90"/>
          </a:solidFill>
          <a:ln/>
        </p:spPr>
        <p:txBody>
          <a:bodyPr/>
          <a:lstStyle/>
          <a:p>
            <a:endParaRPr lang="en-GB"/>
          </a:p>
        </p:txBody>
      </p:sp>
      <p:sp>
        <p:nvSpPr>
          <p:cNvPr id="11" name="Text 9">
            <a:extLst>
              <a:ext uri="{FF2B5EF4-FFF2-40B4-BE49-F238E27FC236}">
                <a16:creationId xmlns:a16="http://schemas.microsoft.com/office/drawing/2014/main" id="{086430E0-F4A1-ED80-ADC3-9D3085562A0B}"/>
              </a:ext>
              <a:ext uri="{C183D7F6-B498-43B3-948B-1728B52AA6E4}">
                <adec:decorative xmlns:adec="http://schemas.microsoft.com/office/drawing/2017/decorative" val="1"/>
              </a:ext>
            </a:extLst>
          </p:cNvPr>
          <p:cNvSpPr/>
          <p:nvPr/>
        </p:nvSpPr>
        <p:spPr>
          <a:xfrm>
            <a:off x="2221992" y="2651760"/>
            <a:ext cx="1298448" cy="457200"/>
          </a:xfrm>
          <a:prstGeom prst="rect">
            <a:avLst/>
          </a:prstGeom>
          <a:noFill/>
          <a:ln/>
        </p:spPr>
        <p:txBody>
          <a:bodyPr wrap="square" lIns="0" tIns="0" rIns="0" bIns="0" rtlCol="0" anchor="ctr"/>
          <a:lstStyle/>
          <a:p>
            <a:pPr marL="0" indent="0" algn="ctr">
              <a:buNone/>
            </a:pPr>
            <a:r>
              <a:rPr lang="en-US" sz="1600" b="1" dirty="0">
                <a:solidFill>
                  <a:srgbClr val="0F2C48"/>
                </a:solidFill>
                <a:latin typeface="Calibri" pitchFamily="34" charset="0"/>
                <a:ea typeface="Calibri" pitchFamily="34" charset="-122"/>
                <a:cs typeface="Calibri" pitchFamily="34" charset="-120"/>
              </a:rPr>
              <a:t>Trips</a:t>
            </a:r>
            <a:endParaRPr lang="en-US" sz="1600" dirty="0"/>
          </a:p>
        </p:txBody>
      </p:sp>
      <p:sp>
        <p:nvSpPr>
          <p:cNvPr id="12" name="Text 10">
            <a:extLst>
              <a:ext uri="{FF2B5EF4-FFF2-40B4-BE49-F238E27FC236}">
                <a16:creationId xmlns:a16="http://schemas.microsoft.com/office/drawing/2014/main" id="{D246055A-2500-00E7-2168-411AE3DFD044}"/>
              </a:ext>
              <a:ext uri="{C183D7F6-B498-43B3-948B-1728B52AA6E4}">
                <adec:decorative xmlns:adec="http://schemas.microsoft.com/office/drawing/2017/decorative" val="1"/>
              </a:ext>
            </a:extLst>
          </p:cNvPr>
          <p:cNvSpPr/>
          <p:nvPr/>
        </p:nvSpPr>
        <p:spPr>
          <a:xfrm>
            <a:off x="2203704" y="3108960"/>
            <a:ext cx="1335024" cy="548640"/>
          </a:xfrm>
          <a:prstGeom prst="rect">
            <a:avLst/>
          </a:prstGeom>
          <a:noFill/>
          <a:ln/>
        </p:spPr>
        <p:txBody>
          <a:bodyPr wrap="square" lIns="0" tIns="0" rIns="0" bIns="0" rtlCol="0" anchor="ctr"/>
          <a:lstStyle/>
          <a:p>
            <a:pPr marL="0" indent="0" algn="ctr">
              <a:buNone/>
            </a:pPr>
            <a:r>
              <a:rPr lang="en-US" sz="1200" dirty="0">
                <a:solidFill>
                  <a:srgbClr val="3F5261"/>
                </a:solidFill>
                <a:latin typeface="Calibri" pitchFamily="34" charset="0"/>
                <a:ea typeface="Calibri" pitchFamily="34" charset="-122"/>
                <a:cs typeface="Calibri" pitchFamily="34" charset="-120"/>
              </a:rPr>
              <a:t>Behavioural features</a:t>
            </a:r>
            <a:endParaRPr lang="en-US" sz="1200" dirty="0"/>
          </a:p>
        </p:txBody>
      </p:sp>
      <p:sp>
        <p:nvSpPr>
          <p:cNvPr id="13" name="card">
            <a:extLst>
              <a:ext uri="{FF2B5EF4-FFF2-40B4-BE49-F238E27FC236}">
                <a16:creationId xmlns:a16="http://schemas.microsoft.com/office/drawing/2014/main" id="{92F76690-CAD5-B843-393C-1E8E6FCE30E7}"/>
              </a:ext>
              <a:ext uri="{C183D7F6-B498-43B3-948B-1728B52AA6E4}">
                <adec:decorative xmlns:adec="http://schemas.microsoft.com/office/drawing/2017/decorative" val="1"/>
              </a:ext>
            </a:extLst>
          </p:cNvPr>
          <p:cNvSpPr/>
          <p:nvPr/>
        </p:nvSpPr>
        <p:spPr>
          <a:xfrm>
            <a:off x="3813048" y="2148840"/>
            <a:ext cx="1517904" cy="17373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4" name="accent">
            <a:extLst>
              <a:ext uri="{FF2B5EF4-FFF2-40B4-BE49-F238E27FC236}">
                <a16:creationId xmlns:a16="http://schemas.microsoft.com/office/drawing/2014/main" id="{2F47A12E-5787-9A93-27BC-8603982A4C58}"/>
              </a:ext>
              <a:ext uri="{C183D7F6-B498-43B3-948B-1728B52AA6E4}">
                <adec:decorative xmlns:adec="http://schemas.microsoft.com/office/drawing/2017/decorative" val="1"/>
              </a:ext>
            </a:extLst>
          </p:cNvPr>
          <p:cNvSpPr/>
          <p:nvPr/>
        </p:nvSpPr>
        <p:spPr>
          <a:xfrm>
            <a:off x="3813048" y="2148840"/>
            <a:ext cx="1517904" cy="82296"/>
          </a:xfrm>
          <a:prstGeom prst="rect">
            <a:avLst/>
          </a:prstGeom>
          <a:solidFill>
            <a:srgbClr val="128F90"/>
          </a:solidFill>
          <a:ln/>
        </p:spPr>
        <p:txBody>
          <a:bodyPr/>
          <a:lstStyle/>
          <a:p>
            <a:endParaRPr lang="en-GB"/>
          </a:p>
        </p:txBody>
      </p:sp>
      <p:sp>
        <p:nvSpPr>
          <p:cNvPr id="15" name="Text 13">
            <a:extLst>
              <a:ext uri="{FF2B5EF4-FFF2-40B4-BE49-F238E27FC236}">
                <a16:creationId xmlns:a16="http://schemas.microsoft.com/office/drawing/2014/main" id="{6B62439B-92CA-AD92-8C16-27B122581CA7}"/>
              </a:ext>
            </a:extLst>
          </p:cNvPr>
          <p:cNvSpPr/>
          <p:nvPr/>
        </p:nvSpPr>
        <p:spPr>
          <a:xfrm>
            <a:off x="3922776" y="2651760"/>
            <a:ext cx="1298448" cy="457200"/>
          </a:xfrm>
          <a:prstGeom prst="rect">
            <a:avLst/>
          </a:prstGeom>
          <a:noFill/>
          <a:ln/>
        </p:spPr>
        <p:txBody>
          <a:bodyPr wrap="square" lIns="0" tIns="0" rIns="0" bIns="0" rtlCol="0" anchor="ctr"/>
          <a:lstStyle/>
          <a:p>
            <a:pPr marL="0" indent="0" algn="ctr">
              <a:buNone/>
            </a:pPr>
            <a:r>
              <a:rPr lang="en-US" sz="1600" b="1" dirty="0">
                <a:solidFill>
                  <a:srgbClr val="0F2C48"/>
                </a:solidFill>
                <a:latin typeface="Calibri" pitchFamily="34" charset="0"/>
                <a:ea typeface="Calibri" pitchFamily="34" charset="-122"/>
                <a:cs typeface="Calibri" pitchFamily="34" charset="-120"/>
              </a:rPr>
              <a:t>Sessions</a:t>
            </a:r>
            <a:endParaRPr lang="en-US" sz="1600" dirty="0"/>
          </a:p>
        </p:txBody>
      </p:sp>
      <p:sp>
        <p:nvSpPr>
          <p:cNvPr id="16" name="Text 14">
            <a:extLst>
              <a:ext uri="{FF2B5EF4-FFF2-40B4-BE49-F238E27FC236}">
                <a16:creationId xmlns:a16="http://schemas.microsoft.com/office/drawing/2014/main" id="{997B2266-7398-1DE6-7915-41ADE537E40B}"/>
              </a:ext>
              <a:ext uri="{C183D7F6-B498-43B3-948B-1728B52AA6E4}">
                <adec:decorative xmlns:adec="http://schemas.microsoft.com/office/drawing/2017/decorative" val="1"/>
              </a:ext>
            </a:extLst>
          </p:cNvPr>
          <p:cNvSpPr/>
          <p:nvPr/>
        </p:nvSpPr>
        <p:spPr>
          <a:xfrm>
            <a:off x="3904488" y="3108960"/>
            <a:ext cx="1335024" cy="548640"/>
          </a:xfrm>
          <a:prstGeom prst="rect">
            <a:avLst/>
          </a:prstGeom>
          <a:noFill/>
          <a:ln/>
        </p:spPr>
        <p:txBody>
          <a:bodyPr wrap="square" lIns="0" tIns="0" rIns="0" bIns="0" rtlCol="0" anchor="ctr"/>
          <a:lstStyle/>
          <a:p>
            <a:pPr marL="0" indent="0" algn="ctr">
              <a:buNone/>
            </a:pPr>
            <a:r>
              <a:rPr lang="en-US" sz="1200" dirty="0">
                <a:solidFill>
                  <a:srgbClr val="3F5261"/>
                </a:solidFill>
                <a:latin typeface="Calibri" pitchFamily="34" charset="0"/>
                <a:ea typeface="Calibri" pitchFamily="34" charset="-122"/>
                <a:cs typeface="Calibri" pitchFamily="34" charset="-120"/>
              </a:rPr>
              <a:t>Engagement features</a:t>
            </a:r>
            <a:endParaRPr lang="en-US" sz="1200" dirty="0"/>
          </a:p>
        </p:txBody>
      </p:sp>
      <p:sp>
        <p:nvSpPr>
          <p:cNvPr id="17" name="card">
            <a:extLst>
              <a:ext uri="{FF2B5EF4-FFF2-40B4-BE49-F238E27FC236}">
                <a16:creationId xmlns:a16="http://schemas.microsoft.com/office/drawing/2014/main" id="{266F6CB3-BCF4-13E5-3367-7E4248E6125A}"/>
              </a:ext>
              <a:ext uri="{C183D7F6-B498-43B3-948B-1728B52AA6E4}">
                <adec:decorative xmlns:adec="http://schemas.microsoft.com/office/drawing/2017/decorative" val="1"/>
              </a:ext>
            </a:extLst>
          </p:cNvPr>
          <p:cNvSpPr/>
          <p:nvPr/>
        </p:nvSpPr>
        <p:spPr>
          <a:xfrm>
            <a:off x="5513832" y="2148840"/>
            <a:ext cx="1517904" cy="17373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8" name="accent">
            <a:extLst>
              <a:ext uri="{FF2B5EF4-FFF2-40B4-BE49-F238E27FC236}">
                <a16:creationId xmlns:a16="http://schemas.microsoft.com/office/drawing/2014/main" id="{5DBF545B-807B-99E7-FD53-58F35329568B}"/>
              </a:ext>
              <a:ext uri="{C183D7F6-B498-43B3-948B-1728B52AA6E4}">
                <adec:decorative xmlns:adec="http://schemas.microsoft.com/office/drawing/2017/decorative" val="1"/>
              </a:ext>
            </a:extLst>
          </p:cNvPr>
          <p:cNvSpPr/>
          <p:nvPr/>
        </p:nvSpPr>
        <p:spPr>
          <a:xfrm>
            <a:off x="5513832" y="2148840"/>
            <a:ext cx="1517904" cy="82296"/>
          </a:xfrm>
          <a:prstGeom prst="rect">
            <a:avLst/>
          </a:prstGeom>
          <a:solidFill>
            <a:srgbClr val="128F90"/>
          </a:solidFill>
          <a:ln/>
        </p:spPr>
        <p:txBody>
          <a:bodyPr/>
          <a:lstStyle/>
          <a:p>
            <a:endParaRPr lang="en-GB"/>
          </a:p>
        </p:txBody>
      </p:sp>
      <p:sp>
        <p:nvSpPr>
          <p:cNvPr id="19" name="Text 17">
            <a:extLst>
              <a:ext uri="{FF2B5EF4-FFF2-40B4-BE49-F238E27FC236}">
                <a16:creationId xmlns:a16="http://schemas.microsoft.com/office/drawing/2014/main" id="{C2DB1C17-2374-AE2C-CAA1-1BF20697C81B}"/>
              </a:ext>
            </a:extLst>
          </p:cNvPr>
          <p:cNvSpPr/>
          <p:nvPr/>
        </p:nvSpPr>
        <p:spPr>
          <a:xfrm>
            <a:off x="5623560" y="2651760"/>
            <a:ext cx="1298448" cy="457200"/>
          </a:xfrm>
          <a:prstGeom prst="rect">
            <a:avLst/>
          </a:prstGeom>
          <a:noFill/>
          <a:ln/>
        </p:spPr>
        <p:txBody>
          <a:bodyPr wrap="square" lIns="0" tIns="0" rIns="0" bIns="0" rtlCol="0" anchor="ctr"/>
          <a:lstStyle/>
          <a:p>
            <a:pPr marL="0" indent="0" algn="ctr">
              <a:buNone/>
            </a:pPr>
            <a:r>
              <a:rPr lang="en-US" sz="1600" b="1" dirty="0">
                <a:solidFill>
                  <a:srgbClr val="0F2C48"/>
                </a:solidFill>
                <a:latin typeface="Calibri" pitchFamily="34" charset="0"/>
                <a:ea typeface="Calibri" pitchFamily="34" charset="-122"/>
                <a:cs typeface="Calibri" pitchFamily="34" charset="-120"/>
              </a:rPr>
              <a:t>Drivers</a:t>
            </a:r>
            <a:endParaRPr lang="en-US" sz="1600" dirty="0"/>
          </a:p>
        </p:txBody>
      </p:sp>
      <p:sp>
        <p:nvSpPr>
          <p:cNvPr id="20" name="Text 18">
            <a:extLst>
              <a:ext uri="{FF2B5EF4-FFF2-40B4-BE49-F238E27FC236}">
                <a16:creationId xmlns:a16="http://schemas.microsoft.com/office/drawing/2014/main" id="{067E5153-830C-3F3F-25CF-844D2CEE9607}"/>
              </a:ext>
            </a:extLst>
          </p:cNvPr>
          <p:cNvSpPr/>
          <p:nvPr/>
        </p:nvSpPr>
        <p:spPr>
          <a:xfrm>
            <a:off x="5605272" y="3108960"/>
            <a:ext cx="1335024" cy="548640"/>
          </a:xfrm>
          <a:prstGeom prst="rect">
            <a:avLst/>
          </a:prstGeom>
          <a:noFill/>
          <a:ln/>
        </p:spPr>
        <p:txBody>
          <a:bodyPr wrap="square" lIns="0" tIns="0" rIns="0" bIns="0" rtlCol="0" anchor="ctr"/>
          <a:lstStyle/>
          <a:p>
            <a:pPr marL="0" indent="0" algn="ctr">
              <a:buNone/>
            </a:pPr>
            <a:r>
              <a:rPr lang="en-US" sz="1200" dirty="0">
                <a:solidFill>
                  <a:srgbClr val="3F5261"/>
                </a:solidFill>
                <a:latin typeface="Calibri" pitchFamily="34" charset="0"/>
                <a:ea typeface="Calibri" pitchFamily="34" charset="-122"/>
                <a:cs typeface="Calibri" pitchFamily="34" charset="-120"/>
              </a:rPr>
              <a:t>Performance features</a:t>
            </a:r>
            <a:endParaRPr lang="en-US" sz="1200" dirty="0"/>
          </a:p>
        </p:txBody>
      </p:sp>
      <p:sp>
        <p:nvSpPr>
          <p:cNvPr id="21" name="card">
            <a:extLst>
              <a:ext uri="{FF2B5EF4-FFF2-40B4-BE49-F238E27FC236}">
                <a16:creationId xmlns:a16="http://schemas.microsoft.com/office/drawing/2014/main" id="{F2A74661-39A9-F3D7-7BE8-8C4858FD1C36}"/>
              </a:ext>
              <a:ext uri="{C183D7F6-B498-43B3-948B-1728B52AA6E4}">
                <adec:decorative xmlns:adec="http://schemas.microsoft.com/office/drawing/2017/decorative" val="1"/>
              </a:ext>
            </a:extLst>
          </p:cNvPr>
          <p:cNvSpPr/>
          <p:nvPr/>
        </p:nvSpPr>
        <p:spPr>
          <a:xfrm>
            <a:off x="7214616" y="2148840"/>
            <a:ext cx="1517904" cy="17373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2" name="accent">
            <a:extLst>
              <a:ext uri="{FF2B5EF4-FFF2-40B4-BE49-F238E27FC236}">
                <a16:creationId xmlns:a16="http://schemas.microsoft.com/office/drawing/2014/main" id="{F5282557-03EE-0EAA-7643-5F002C8E4959}"/>
              </a:ext>
              <a:ext uri="{C183D7F6-B498-43B3-948B-1728B52AA6E4}">
                <adec:decorative xmlns:adec="http://schemas.microsoft.com/office/drawing/2017/decorative" val="1"/>
              </a:ext>
            </a:extLst>
          </p:cNvPr>
          <p:cNvSpPr/>
          <p:nvPr/>
        </p:nvSpPr>
        <p:spPr>
          <a:xfrm>
            <a:off x="7214616" y="2148840"/>
            <a:ext cx="1517904" cy="82296"/>
          </a:xfrm>
          <a:prstGeom prst="rect">
            <a:avLst/>
          </a:prstGeom>
          <a:solidFill>
            <a:srgbClr val="128F90"/>
          </a:solidFill>
          <a:ln/>
        </p:spPr>
        <p:txBody>
          <a:bodyPr/>
          <a:lstStyle/>
          <a:p>
            <a:endParaRPr lang="en-GB"/>
          </a:p>
        </p:txBody>
      </p:sp>
      <p:sp>
        <p:nvSpPr>
          <p:cNvPr id="23" name="Text 21">
            <a:extLst>
              <a:ext uri="{FF2B5EF4-FFF2-40B4-BE49-F238E27FC236}">
                <a16:creationId xmlns:a16="http://schemas.microsoft.com/office/drawing/2014/main" id="{6506729E-5436-5F10-15B6-B1F8438FA7D2}"/>
              </a:ext>
              <a:ext uri="{C183D7F6-B498-43B3-948B-1728B52AA6E4}">
                <adec:decorative xmlns:adec="http://schemas.microsoft.com/office/drawing/2017/decorative" val="1"/>
              </a:ext>
            </a:extLst>
          </p:cNvPr>
          <p:cNvSpPr/>
          <p:nvPr/>
        </p:nvSpPr>
        <p:spPr>
          <a:xfrm>
            <a:off x="7324344" y="2651760"/>
            <a:ext cx="1298448" cy="457200"/>
          </a:xfrm>
          <a:prstGeom prst="rect">
            <a:avLst/>
          </a:prstGeom>
          <a:noFill/>
          <a:ln/>
        </p:spPr>
        <p:txBody>
          <a:bodyPr wrap="square" lIns="0" tIns="0" rIns="0" bIns="0" rtlCol="0" anchor="ctr"/>
          <a:lstStyle/>
          <a:p>
            <a:pPr marL="0" indent="0" algn="ctr">
              <a:buNone/>
            </a:pPr>
            <a:r>
              <a:rPr lang="en-US" sz="1600" b="1" dirty="0">
                <a:solidFill>
                  <a:srgbClr val="0F2C48"/>
                </a:solidFill>
                <a:latin typeface="Calibri" pitchFamily="34" charset="0"/>
                <a:ea typeface="Calibri" pitchFamily="34" charset="-122"/>
                <a:cs typeface="Calibri" pitchFamily="34" charset="-120"/>
              </a:rPr>
              <a:t>Promotions</a:t>
            </a:r>
            <a:endParaRPr lang="en-US" sz="1600" dirty="0"/>
          </a:p>
        </p:txBody>
      </p:sp>
      <p:sp>
        <p:nvSpPr>
          <p:cNvPr id="24" name="Text 22">
            <a:extLst>
              <a:ext uri="{FF2B5EF4-FFF2-40B4-BE49-F238E27FC236}">
                <a16:creationId xmlns:a16="http://schemas.microsoft.com/office/drawing/2014/main" id="{977989FB-D445-6C62-049E-97B211BE2D91}"/>
              </a:ext>
              <a:ext uri="{C183D7F6-B498-43B3-948B-1728B52AA6E4}">
                <adec:decorative xmlns:adec="http://schemas.microsoft.com/office/drawing/2017/decorative" val="1"/>
              </a:ext>
            </a:extLst>
          </p:cNvPr>
          <p:cNvSpPr/>
          <p:nvPr/>
        </p:nvSpPr>
        <p:spPr>
          <a:xfrm>
            <a:off x="7306056" y="3108960"/>
            <a:ext cx="1335024" cy="548640"/>
          </a:xfrm>
          <a:prstGeom prst="rect">
            <a:avLst/>
          </a:prstGeom>
          <a:noFill/>
          <a:ln/>
        </p:spPr>
        <p:txBody>
          <a:bodyPr wrap="square" lIns="0" tIns="0" rIns="0" bIns="0" rtlCol="0" anchor="ctr"/>
          <a:lstStyle/>
          <a:p>
            <a:pPr marL="0" indent="0" algn="ctr">
              <a:buNone/>
            </a:pPr>
            <a:r>
              <a:rPr lang="en-US" sz="1200" dirty="0">
                <a:solidFill>
                  <a:srgbClr val="3F5261"/>
                </a:solidFill>
                <a:latin typeface="Calibri" pitchFamily="34" charset="0"/>
                <a:ea typeface="Calibri" pitchFamily="34" charset="-122"/>
                <a:cs typeface="Calibri" pitchFamily="34" charset="-120"/>
              </a:rPr>
              <a:t>Optional features</a:t>
            </a:r>
            <a:endParaRPr lang="en-US" sz="1200" dirty="0"/>
          </a:p>
        </p:txBody>
      </p:sp>
      <p:sp>
        <p:nvSpPr>
          <p:cNvPr id="25" name="Text 23">
            <a:extLst>
              <a:ext uri="{FF2B5EF4-FFF2-40B4-BE49-F238E27FC236}">
                <a16:creationId xmlns:a16="http://schemas.microsoft.com/office/drawing/2014/main" id="{16C535B6-ABE5-90C9-01C3-47A85DCD5EA8}"/>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03</a:t>
            </a:r>
            <a:endParaRPr lang="en-US" sz="1100" dirty="0"/>
          </a:p>
        </p:txBody>
      </p:sp>
      <p:sp>
        <p:nvSpPr>
          <p:cNvPr id="26" name="Text 24">
            <a:extLst>
              <a:ext uri="{FF2B5EF4-FFF2-40B4-BE49-F238E27FC236}">
                <a16:creationId xmlns:a16="http://schemas.microsoft.com/office/drawing/2014/main" id="{A7ACBB15-F2C7-7750-BC4E-8210A12354A6}"/>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8" name="card">
            <a:extLst>
              <a:ext uri="{FF2B5EF4-FFF2-40B4-BE49-F238E27FC236}">
                <a16:creationId xmlns:a16="http://schemas.microsoft.com/office/drawing/2014/main" id="{7DD64163-E807-7039-A177-9654158F42C8}"/>
              </a:ext>
              <a:ext uri="{C183D7F6-B498-43B3-948B-1728B52AA6E4}">
                <adec:decorative xmlns:adec="http://schemas.microsoft.com/office/drawing/2017/decorative" val="1"/>
              </a:ext>
            </a:extLst>
          </p:cNvPr>
          <p:cNvSpPr/>
          <p:nvPr/>
        </p:nvSpPr>
        <p:spPr>
          <a:xfrm>
            <a:off x="1560000" y="4374683"/>
            <a:ext cx="6150000" cy="206942"/>
          </a:xfrm>
          <a:prstGeom prst="rect">
            <a:avLst/>
          </a:prstGeom>
          <a:solidFill>
            <a:srgbClr val="FFFFFF"/>
          </a:solidFill>
          <a:ln w="12700">
            <a:noFill/>
            <a:prstDash val="solid"/>
          </a:ln>
          <a:effectLst>
            <a:outerShdw blurRad="114300" dist="38100" dir="5400000" algn="bl" rotWithShape="0">
              <a:srgbClr val="9FB2B8">
                <a:alpha val="22000"/>
              </a:srgbClr>
            </a:outerShdw>
          </a:effectLst>
        </p:spPr>
        <p:txBody>
          <a:bodyPr/>
          <a:lstStyle/>
          <a:p>
            <a:r>
              <a:rPr lang="en-GB" sz="1200" dirty="0">
                <a:solidFill>
                  <a:srgbClr val="3F5261"/>
                </a:solidFill>
                <a:latin typeface="Calibri" pitchFamily="34" charset="0"/>
                <a:ea typeface="Calibri" pitchFamily="34" charset="-122"/>
                <a:cs typeface="Calibri" pitchFamily="34" charset="-120"/>
              </a:rPr>
              <a:t>Demographics, loyalty status, behavioural aggregates, engagement metrics, churn probability</a:t>
            </a:r>
          </a:p>
        </p:txBody>
      </p:sp>
      <p:sp>
        <p:nvSpPr>
          <p:cNvPr id="30" name="accent">
            <a:extLst>
              <a:ext uri="{FF2B5EF4-FFF2-40B4-BE49-F238E27FC236}">
                <a16:creationId xmlns:a16="http://schemas.microsoft.com/office/drawing/2014/main" id="{E49746F6-1E51-1912-A7FD-27D89797EE5D}"/>
              </a:ext>
              <a:ext uri="{C183D7F6-B498-43B3-948B-1728B52AA6E4}">
                <adec:decorative xmlns:adec="http://schemas.microsoft.com/office/drawing/2017/decorative" val="1"/>
              </a:ext>
            </a:extLst>
          </p:cNvPr>
          <p:cNvSpPr/>
          <p:nvPr/>
        </p:nvSpPr>
        <p:spPr>
          <a:xfrm>
            <a:off x="904775" y="4001704"/>
            <a:ext cx="7613583" cy="117909"/>
          </a:xfrm>
          <a:prstGeom prst="rect">
            <a:avLst/>
          </a:prstGeom>
          <a:solidFill>
            <a:srgbClr val="128F90"/>
          </a:solidFill>
          <a:ln/>
        </p:spPr>
        <p:txBody>
          <a:bodyPr/>
          <a:lstStyle/>
          <a:p>
            <a:endParaRPr lang="en-GB"/>
          </a:p>
        </p:txBody>
      </p:sp>
      <p:sp>
        <p:nvSpPr>
          <p:cNvPr id="36" name="TextBox 35">
            <a:extLst>
              <a:ext uri="{FF2B5EF4-FFF2-40B4-BE49-F238E27FC236}">
                <a16:creationId xmlns:a16="http://schemas.microsoft.com/office/drawing/2014/main" id="{BEB7D93E-8DB3-FB89-C35F-4EE0B3F4CC6A}"/>
              </a:ext>
            </a:extLst>
          </p:cNvPr>
          <p:cNvSpPr txBox="1"/>
          <p:nvPr/>
        </p:nvSpPr>
        <p:spPr>
          <a:xfrm>
            <a:off x="3465093" y="4065836"/>
            <a:ext cx="2815389" cy="281415"/>
          </a:xfrm>
          <a:prstGeom prst="rect">
            <a:avLst/>
          </a:prstGeom>
          <a:noFill/>
        </p:spPr>
        <p:txBody>
          <a:bodyPr wrap="square">
            <a:normAutofit fontScale="92500" lnSpcReduction="20000"/>
          </a:bodyPr>
          <a:lstStyle/>
          <a:p>
            <a:pPr marL="0" indent="0" algn="ctr">
              <a:buNone/>
            </a:pPr>
            <a:r>
              <a:rPr lang="en-US" sz="1600" b="1" dirty="0" err="1">
                <a:solidFill>
                  <a:srgbClr val="0F2C48"/>
                </a:solidFill>
                <a:latin typeface="Calibri" pitchFamily="34" charset="0"/>
                <a:ea typeface="Calibri" pitchFamily="34" charset="-122"/>
                <a:cs typeface="Calibri" pitchFamily="34" charset="-120"/>
              </a:rPr>
              <a:t>Riders_ml</a:t>
            </a:r>
            <a:r>
              <a:rPr lang="en-US" sz="1600" b="1" dirty="0">
                <a:solidFill>
                  <a:srgbClr val="0F2C48"/>
                </a:solidFill>
                <a:latin typeface="Calibri" pitchFamily="34" charset="0"/>
                <a:ea typeface="Calibri" pitchFamily="34" charset="-122"/>
                <a:cs typeface="Calibri" pitchFamily="34" charset="-120"/>
              </a:rPr>
              <a:t> = One row per rider </a:t>
            </a:r>
            <a:endParaRPr lang="en-US" sz="1600" dirty="0"/>
          </a:p>
        </p:txBody>
      </p:sp>
      <p:sp>
        <p:nvSpPr>
          <p:cNvPr id="100" name="icon badge Riders">
            <a:extLst>
              <a:ext uri="{C183D7F6-B498-43B3-948B-1728B52AA6E4}">
                <adec:decorative xmlns:adec="http://schemas.microsoft.com/office/drawing/2017/decorative" val="1"/>
              </a:ext>
            </a:extLst>
          </p:cNvPr>
          <p:cNvSpPr/>
          <p:nvPr/>
        </p:nvSpPr>
        <p:spPr>
          <a:xfrm>
            <a:off x="990432" y="2255000"/>
            <a:ext cx="360000" cy="360000"/>
          </a:xfrm>
          <a:prstGeom prst="ellipse">
            <a:avLst/>
          </a:prstGeom>
          <a:solidFill>
            <a:srgbClr val="128F90"/>
          </a:solidFill>
          <a:ln/>
        </p:spPr>
        <p:txBody>
          <a:bodyPr/>
          <a:lstStyle/>
          <a:p>
            <a:endParaRPr lang="en-GB"/>
          </a:p>
        </p:txBody>
      </p:sp>
      <p:sp>
        <p:nvSpPr>
          <p:cNvPr id="101" name="icon glyph Riders">
            <a:extLst>
              <a:ext uri="{C183D7F6-B498-43B3-948B-1728B52AA6E4}">
                <adec:decorative xmlns:adec="http://schemas.microsoft.com/office/drawing/2017/decorative" val="1"/>
              </a:ext>
            </a:extLst>
          </p:cNvPr>
          <p:cNvSpPr/>
          <p:nvPr/>
        </p:nvSpPr>
        <p:spPr>
          <a:xfrm>
            <a:off x="1070432" y="2335000"/>
            <a:ext cx="200000" cy="200000"/>
          </a:xfrm>
          <a:prstGeom prst="smileyFace">
            <a:avLst/>
          </a:prstGeom>
          <a:solidFill>
            <a:srgbClr val="FFFFFF"/>
          </a:solidFill>
          <a:ln/>
        </p:spPr>
        <p:txBody>
          <a:bodyPr/>
          <a:lstStyle/>
          <a:p>
            <a:endParaRPr lang="en-GB"/>
          </a:p>
        </p:txBody>
      </p:sp>
      <p:sp>
        <p:nvSpPr>
          <p:cNvPr id="102" name="icon badge Trips">
            <a:extLst>
              <a:ext uri="{C183D7F6-B498-43B3-948B-1728B52AA6E4}">
                <adec:decorative xmlns:adec="http://schemas.microsoft.com/office/drawing/2017/decorative" val="1"/>
              </a:ext>
            </a:extLst>
          </p:cNvPr>
          <p:cNvSpPr/>
          <p:nvPr/>
        </p:nvSpPr>
        <p:spPr>
          <a:xfrm>
            <a:off x="2691216" y="2255000"/>
            <a:ext cx="360000" cy="360000"/>
          </a:xfrm>
          <a:prstGeom prst="ellipse">
            <a:avLst/>
          </a:prstGeom>
          <a:solidFill>
            <a:srgbClr val="128F90"/>
          </a:solidFill>
          <a:ln/>
        </p:spPr>
        <p:txBody>
          <a:bodyPr/>
          <a:lstStyle/>
          <a:p>
            <a:endParaRPr lang="en-GB"/>
          </a:p>
        </p:txBody>
      </p:sp>
      <p:sp>
        <p:nvSpPr>
          <p:cNvPr id="103" name="icon glyph Trips">
            <a:extLst>
              <a:ext uri="{C183D7F6-B498-43B3-948B-1728B52AA6E4}">
                <adec:decorative xmlns:adec="http://schemas.microsoft.com/office/drawing/2017/decorative" val="1"/>
              </a:ext>
            </a:extLst>
          </p:cNvPr>
          <p:cNvSpPr/>
          <p:nvPr/>
        </p:nvSpPr>
        <p:spPr>
          <a:xfrm>
            <a:off x="2771216" y="2335000"/>
            <a:ext cx="200000" cy="200000"/>
          </a:xfrm>
          <a:prstGeom prst="rightArrow">
            <a:avLst/>
          </a:prstGeom>
          <a:solidFill>
            <a:srgbClr val="FFFFFF"/>
          </a:solidFill>
          <a:ln/>
        </p:spPr>
        <p:txBody>
          <a:bodyPr/>
          <a:lstStyle/>
          <a:p>
            <a:endParaRPr lang="en-GB"/>
          </a:p>
        </p:txBody>
      </p:sp>
      <p:sp>
        <p:nvSpPr>
          <p:cNvPr id="104" name="icon badge Sessions">
            <a:extLst>
              <a:ext uri="{C183D7F6-B498-43B3-948B-1728B52AA6E4}">
                <adec:decorative xmlns:adec="http://schemas.microsoft.com/office/drawing/2017/decorative" val="1"/>
              </a:ext>
            </a:extLst>
          </p:cNvPr>
          <p:cNvSpPr/>
          <p:nvPr/>
        </p:nvSpPr>
        <p:spPr>
          <a:xfrm>
            <a:off x="4392000" y="2255000"/>
            <a:ext cx="360000" cy="360000"/>
          </a:xfrm>
          <a:prstGeom prst="ellipse">
            <a:avLst/>
          </a:prstGeom>
          <a:solidFill>
            <a:srgbClr val="128F90"/>
          </a:solidFill>
          <a:ln/>
        </p:spPr>
        <p:txBody>
          <a:bodyPr/>
          <a:lstStyle/>
          <a:p>
            <a:endParaRPr lang="en-GB"/>
          </a:p>
        </p:txBody>
      </p:sp>
      <p:sp>
        <p:nvSpPr>
          <p:cNvPr id="105" name="icon glyph Sessions">
            <a:extLst>
              <a:ext uri="{C183D7F6-B498-43B3-948B-1728B52AA6E4}">
                <adec:decorative xmlns:adec="http://schemas.microsoft.com/office/drawing/2017/decorative" val="1"/>
              </a:ext>
            </a:extLst>
          </p:cNvPr>
          <p:cNvSpPr/>
          <p:nvPr/>
        </p:nvSpPr>
        <p:spPr>
          <a:xfrm>
            <a:off x="4472000" y="2335000"/>
            <a:ext cx="200000" cy="200000"/>
          </a:xfrm>
          <a:prstGeom prst="lightningBolt">
            <a:avLst/>
          </a:prstGeom>
          <a:solidFill>
            <a:srgbClr val="FFFFFF"/>
          </a:solidFill>
          <a:ln/>
        </p:spPr>
        <p:txBody>
          <a:bodyPr/>
          <a:lstStyle/>
          <a:p>
            <a:endParaRPr lang="en-GB"/>
          </a:p>
        </p:txBody>
      </p:sp>
      <p:sp>
        <p:nvSpPr>
          <p:cNvPr id="106" name="icon badge Drivers">
            <a:extLst>
              <a:ext uri="{C183D7F6-B498-43B3-948B-1728B52AA6E4}">
                <adec:decorative xmlns:adec="http://schemas.microsoft.com/office/drawing/2017/decorative" val="1"/>
              </a:ext>
            </a:extLst>
          </p:cNvPr>
          <p:cNvSpPr/>
          <p:nvPr/>
        </p:nvSpPr>
        <p:spPr>
          <a:xfrm>
            <a:off x="6092784" y="2255000"/>
            <a:ext cx="360000" cy="360000"/>
          </a:xfrm>
          <a:prstGeom prst="ellipse">
            <a:avLst/>
          </a:prstGeom>
          <a:solidFill>
            <a:srgbClr val="128F90"/>
          </a:solidFill>
          <a:ln/>
        </p:spPr>
        <p:txBody>
          <a:bodyPr/>
          <a:lstStyle/>
          <a:p>
            <a:endParaRPr lang="en-GB"/>
          </a:p>
        </p:txBody>
      </p:sp>
      <p:sp>
        <p:nvSpPr>
          <p:cNvPr id="107" name="icon glyph Drivers">
            <a:extLst>
              <a:ext uri="{C183D7F6-B498-43B3-948B-1728B52AA6E4}">
                <adec:decorative xmlns:adec="http://schemas.microsoft.com/office/drawing/2017/decorative" val="1"/>
              </a:ext>
            </a:extLst>
          </p:cNvPr>
          <p:cNvSpPr/>
          <p:nvPr/>
        </p:nvSpPr>
        <p:spPr>
          <a:xfrm>
            <a:off x="6172784" y="2335000"/>
            <a:ext cx="200000" cy="200000"/>
          </a:xfrm>
          <a:prstGeom prst="donut">
            <a:avLst/>
          </a:prstGeom>
          <a:solidFill>
            <a:srgbClr val="FFFFFF"/>
          </a:solidFill>
          <a:ln/>
        </p:spPr>
        <p:txBody>
          <a:bodyPr/>
          <a:lstStyle/>
          <a:p>
            <a:endParaRPr lang="en-GB"/>
          </a:p>
        </p:txBody>
      </p:sp>
      <p:sp>
        <p:nvSpPr>
          <p:cNvPr id="108" name="icon badge Promotions">
            <a:extLst>
              <a:ext uri="{C183D7F6-B498-43B3-948B-1728B52AA6E4}">
                <adec:decorative xmlns:adec="http://schemas.microsoft.com/office/drawing/2017/decorative" val="1"/>
              </a:ext>
            </a:extLst>
          </p:cNvPr>
          <p:cNvSpPr/>
          <p:nvPr/>
        </p:nvSpPr>
        <p:spPr>
          <a:xfrm>
            <a:off x="7793568" y="2255000"/>
            <a:ext cx="360000" cy="360000"/>
          </a:xfrm>
          <a:prstGeom prst="ellipse">
            <a:avLst/>
          </a:prstGeom>
          <a:solidFill>
            <a:srgbClr val="128F90"/>
          </a:solidFill>
          <a:ln/>
        </p:spPr>
        <p:txBody>
          <a:bodyPr/>
          <a:lstStyle/>
          <a:p>
            <a:endParaRPr lang="en-GB"/>
          </a:p>
        </p:txBody>
      </p:sp>
      <p:sp>
        <p:nvSpPr>
          <p:cNvPr id="109" name="icon glyph Promotions">
            <a:extLst>
              <a:ext uri="{C183D7F6-B498-43B3-948B-1728B52AA6E4}">
                <adec:decorative xmlns:adec="http://schemas.microsoft.com/office/drawing/2017/decorative" val="1"/>
              </a:ext>
            </a:extLst>
          </p:cNvPr>
          <p:cNvSpPr/>
          <p:nvPr/>
        </p:nvSpPr>
        <p:spPr>
          <a:xfrm>
            <a:off x="7873568" y="2335000"/>
            <a:ext cx="200000" cy="200000"/>
          </a:xfrm>
          <a:prstGeom prst="star5">
            <a:avLst/>
          </a:prstGeom>
          <a:solidFill>
            <a:srgbClr val="FFFFFF"/>
          </a:solidFill>
          <a:ln/>
        </p:spPr>
        <p:txBody>
          <a:bodyPr/>
          <a:lstStyle/>
          <a:p>
            <a:endParaRPr lang="en-GB"/>
          </a:p>
        </p:txBody>
      </p:sp>
      <p:sp>
        <p:nvSpPr>
          <p:cNvPr id="110" name="icon badge Dataset">
            <a:extLst>
              <a:ext uri="{C183D7F6-B498-43B3-948B-1728B52AA6E4}">
                <adec:decorative xmlns:adec="http://schemas.microsoft.com/office/drawing/2017/decorative" val="1"/>
              </a:ext>
            </a:extLst>
          </p:cNvPr>
          <p:cNvSpPr/>
          <p:nvPr/>
        </p:nvSpPr>
        <p:spPr>
          <a:xfrm>
            <a:off x="1040000" y="4280000"/>
            <a:ext cx="360000" cy="360000"/>
          </a:xfrm>
          <a:prstGeom prst="ellipse">
            <a:avLst/>
          </a:prstGeom>
          <a:solidFill>
            <a:srgbClr val="128F90"/>
          </a:solidFill>
          <a:ln/>
        </p:spPr>
        <p:txBody>
          <a:bodyPr/>
          <a:lstStyle/>
          <a:p>
            <a:endParaRPr lang="en-GB"/>
          </a:p>
        </p:txBody>
      </p:sp>
      <p:sp>
        <p:nvSpPr>
          <p:cNvPr id="111" name="icon glyph Dataset">
            <a:extLst>
              <a:ext uri="{C183D7F6-B498-43B3-948B-1728B52AA6E4}">
                <adec:decorative xmlns:adec="http://schemas.microsoft.com/office/drawing/2017/decorative" val="1"/>
              </a:ext>
            </a:extLst>
          </p:cNvPr>
          <p:cNvSpPr/>
          <p:nvPr/>
        </p:nvSpPr>
        <p:spPr>
          <a:xfrm>
            <a:off x="1120000" y="4360000"/>
            <a:ext cx="200000" cy="200000"/>
          </a:xfrm>
          <a:prstGeom prst="flowChartMagneticDisk">
            <a:avLst/>
          </a:prstGeom>
          <a:solidFill>
            <a:srgbClr val="FFFFFF"/>
          </a:solidFill>
          <a:ln/>
        </p:spPr>
        <p:txBody>
          <a:bodyPr/>
          <a:lstStyle/>
          <a:p>
            <a:endParaRPr lang="en-GB"/>
          </a:p>
        </p:txBody>
      </p:sp>
    </p:spTree>
    <p:extLst>
      <p:ext uri="{BB962C8B-B14F-4D97-AF65-F5344CB8AC3E}">
        <p14:creationId xmlns:p14="http://schemas.microsoft.com/office/powerpoint/2010/main" val="482521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ETL PIPELINE</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From raw data to ML-ready dataset</a:t>
            </a:r>
            <a:endParaRPr lang="en-US" sz="3300" dirty="0"/>
          </a:p>
        </p:txBody>
      </p:sp>
      <p:sp>
        <p:nvSpPr>
          <p:cNvPr id="4" name="step">
            <a:extLst>
              <a:ext uri="{C183D7F6-B498-43B3-948B-1728B52AA6E4}">
                <adec:decorative xmlns:adec="http://schemas.microsoft.com/office/drawing/2017/decorative" val="1"/>
              </a:ext>
            </a:extLst>
          </p:cNvPr>
          <p:cNvSpPr/>
          <p:nvPr/>
        </p:nvSpPr>
        <p:spPr>
          <a:xfrm>
            <a:off x="466344" y="2011680"/>
            <a:ext cx="1481328" cy="1783080"/>
          </a:xfrm>
          <a:prstGeom prst="rect">
            <a:avLst/>
          </a:prstGeom>
          <a:solidFill>
            <a:srgbClr val="0F2C48"/>
          </a:solidFill>
          <a:ln/>
          <a:effectLst>
            <a:outerShdw blurRad="114300" dist="38100" dir="5400000" algn="bl" rotWithShape="0">
              <a:srgbClr val="9FB2B8">
                <a:alpha val="22000"/>
              </a:srgbClr>
            </a:outerShdw>
          </a:effectLst>
        </p:spPr>
        <p:txBody>
          <a:bodyPr/>
          <a:lstStyle/>
          <a:p>
            <a:endParaRPr lang="en-GB"/>
          </a:p>
        </p:txBody>
      </p:sp>
      <p:sp>
        <p:nvSpPr>
          <p:cNvPr id="5" name="Text 3">
            <a:extLst>
              <a:ext uri="{C183D7F6-B498-43B3-948B-1728B52AA6E4}">
                <adec:decorative xmlns:adec="http://schemas.microsoft.com/office/drawing/2017/decorative" val="1"/>
              </a:ext>
            </a:extLst>
          </p:cNvPr>
          <p:cNvSpPr/>
          <p:nvPr/>
        </p:nvSpPr>
        <p:spPr>
          <a:xfrm>
            <a:off x="612648" y="2157984"/>
            <a:ext cx="914400" cy="457200"/>
          </a:xfrm>
          <a:prstGeom prst="rect">
            <a:avLst/>
          </a:prstGeom>
          <a:noFill/>
          <a:ln/>
        </p:spPr>
        <p:txBody>
          <a:bodyPr wrap="square" lIns="0" tIns="0" rIns="0" bIns="0" rtlCol="0" anchor="ctr"/>
          <a:lstStyle/>
          <a:p>
            <a:pPr marL="0" indent="0">
              <a:buNone/>
            </a:pPr>
            <a:r>
              <a:rPr lang="en-US" sz="2400" b="1" dirty="0">
                <a:solidFill>
                  <a:srgbClr val="3FB0AE"/>
                </a:solidFill>
                <a:latin typeface="Calibri Light" pitchFamily="34" charset="0"/>
                <a:ea typeface="Calibri Light" pitchFamily="34" charset="-122"/>
                <a:cs typeface="Calibri Light" pitchFamily="34" charset="-120"/>
              </a:rPr>
              <a:t>01</a:t>
            </a:r>
            <a:endParaRPr lang="en-US" sz="2400" dirty="0"/>
          </a:p>
        </p:txBody>
      </p:sp>
      <p:sp>
        <p:nvSpPr>
          <p:cNvPr id="6" name="Text 4">
            <a:extLst>
              <a:ext uri="{C183D7F6-B498-43B3-948B-1728B52AA6E4}">
                <adec:decorative xmlns:adec="http://schemas.microsoft.com/office/drawing/2017/decorative" val="1"/>
              </a:ext>
            </a:extLst>
          </p:cNvPr>
          <p:cNvSpPr/>
          <p:nvPr/>
        </p:nvSpPr>
        <p:spPr>
          <a:xfrm>
            <a:off x="612648" y="2651760"/>
            <a:ext cx="1225296"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Cleaning</a:t>
            </a:r>
            <a:endParaRPr lang="en-US" sz="1400" dirty="0"/>
          </a:p>
        </p:txBody>
      </p:sp>
      <p:sp>
        <p:nvSpPr>
          <p:cNvPr id="7" name="Text 5"/>
          <p:cNvSpPr/>
          <p:nvPr/>
        </p:nvSpPr>
        <p:spPr>
          <a:xfrm>
            <a:off x="612648" y="3182112"/>
            <a:ext cx="1243584" cy="548640"/>
          </a:xfrm>
          <a:prstGeom prst="rect">
            <a:avLst/>
          </a:prstGeom>
          <a:noFill/>
          <a:ln/>
        </p:spPr>
        <p:txBody>
          <a:bodyPr wrap="square" lIns="0" tIns="0" rIns="0" bIns="0" rtlCol="0" anchor="ctr"/>
          <a:lstStyle/>
          <a:p>
            <a:pPr marL="0" indent="0">
              <a:buNone/>
            </a:pPr>
            <a:r>
              <a:rPr lang="en-US" sz="1050" dirty="0">
                <a:solidFill>
                  <a:srgbClr val="CBD8DE"/>
                </a:solidFill>
                <a:latin typeface="Calibri" pitchFamily="34" charset="0"/>
                <a:ea typeface="Calibri" pitchFamily="34" charset="-122"/>
                <a:cs typeface="Calibri" pitchFamily="34" charset="-120"/>
              </a:rPr>
              <a:t>Validate, </a:t>
            </a:r>
            <a:r>
              <a:rPr lang="en-US" sz="1050" dirty="0" err="1">
                <a:solidFill>
                  <a:srgbClr val="CBD8DE"/>
                </a:solidFill>
                <a:latin typeface="Calibri" pitchFamily="34" charset="0"/>
                <a:ea typeface="Calibri" pitchFamily="34" charset="-122"/>
                <a:cs typeface="Calibri" pitchFamily="34" charset="-120"/>
              </a:rPr>
              <a:t>duplicates,,datatypes</a:t>
            </a:r>
            <a:r>
              <a:rPr lang="en-US" sz="1050" dirty="0">
                <a:solidFill>
                  <a:srgbClr val="CBD8DE"/>
                </a:solidFill>
                <a:latin typeface="Calibri" pitchFamily="34" charset="0"/>
                <a:ea typeface="Calibri" pitchFamily="34" charset="-122"/>
                <a:cs typeface="Calibri" pitchFamily="34" charset="-120"/>
              </a:rPr>
              <a:t>, handle missing values</a:t>
            </a:r>
            <a:endParaRPr lang="en-US" sz="1050" dirty="0"/>
          </a:p>
        </p:txBody>
      </p:sp>
      <p:sp>
        <p:nvSpPr>
          <p:cNvPr id="8" name="arrow">
            <a:extLst>
              <a:ext uri="{C183D7F6-B498-43B3-948B-1728B52AA6E4}">
                <adec:decorative xmlns:adec="http://schemas.microsoft.com/office/drawing/2017/decorative" val="1"/>
              </a:ext>
            </a:extLst>
          </p:cNvPr>
          <p:cNvSpPr/>
          <p:nvPr/>
        </p:nvSpPr>
        <p:spPr>
          <a:xfrm>
            <a:off x="1929384" y="2784348"/>
            <a:ext cx="237744" cy="237744"/>
          </a:xfrm>
          <a:prstGeom prst="chevron">
            <a:avLst/>
          </a:prstGeom>
          <a:solidFill>
            <a:srgbClr val="128F90"/>
          </a:solidFill>
          <a:ln/>
        </p:spPr>
        <p:txBody>
          <a:bodyPr/>
          <a:lstStyle/>
          <a:p>
            <a:endParaRPr lang="en-GB"/>
          </a:p>
        </p:txBody>
      </p:sp>
      <p:sp>
        <p:nvSpPr>
          <p:cNvPr id="9" name="step">
            <a:extLst>
              <a:ext uri="{C183D7F6-B498-43B3-948B-1728B52AA6E4}">
                <adec:decorative xmlns:adec="http://schemas.microsoft.com/office/drawing/2017/decorative" val="1"/>
              </a:ext>
            </a:extLst>
          </p:cNvPr>
          <p:cNvSpPr/>
          <p:nvPr/>
        </p:nvSpPr>
        <p:spPr>
          <a:xfrm>
            <a:off x="2148840" y="2011680"/>
            <a:ext cx="1481328" cy="1783080"/>
          </a:xfrm>
          <a:prstGeom prst="rect">
            <a:avLst/>
          </a:prstGeom>
          <a:solidFill>
            <a:srgbClr val="16436B"/>
          </a:solidFill>
          <a:ln/>
          <a:effectLst>
            <a:outerShdw blurRad="114300" dist="38100" dir="5400000" algn="bl" rotWithShape="0">
              <a:srgbClr val="9FB2B8">
                <a:alpha val="22000"/>
              </a:srgbClr>
            </a:outerShdw>
          </a:effectLst>
        </p:spPr>
        <p:txBody>
          <a:bodyPr/>
          <a:lstStyle/>
          <a:p>
            <a:endParaRPr lang="en-GB"/>
          </a:p>
        </p:txBody>
      </p:sp>
      <p:sp>
        <p:nvSpPr>
          <p:cNvPr id="10" name="Text 8">
            <a:extLst>
              <a:ext uri="{C183D7F6-B498-43B3-948B-1728B52AA6E4}">
                <adec:decorative xmlns:adec="http://schemas.microsoft.com/office/drawing/2017/decorative" val="1"/>
              </a:ext>
            </a:extLst>
          </p:cNvPr>
          <p:cNvSpPr/>
          <p:nvPr/>
        </p:nvSpPr>
        <p:spPr>
          <a:xfrm>
            <a:off x="2295144" y="2157984"/>
            <a:ext cx="914400" cy="457200"/>
          </a:xfrm>
          <a:prstGeom prst="rect">
            <a:avLst/>
          </a:prstGeom>
          <a:noFill/>
          <a:ln/>
        </p:spPr>
        <p:txBody>
          <a:bodyPr wrap="square" lIns="0" tIns="0" rIns="0" bIns="0" rtlCol="0" anchor="ctr"/>
          <a:lstStyle/>
          <a:p>
            <a:pPr marL="0" indent="0">
              <a:buNone/>
            </a:pPr>
            <a:r>
              <a:rPr lang="en-US" sz="2400" b="1" dirty="0">
                <a:solidFill>
                  <a:srgbClr val="3FB0AE"/>
                </a:solidFill>
                <a:latin typeface="Calibri Light" pitchFamily="34" charset="0"/>
                <a:ea typeface="Calibri Light" pitchFamily="34" charset="-122"/>
                <a:cs typeface="Calibri Light" pitchFamily="34" charset="-120"/>
              </a:rPr>
              <a:t>02</a:t>
            </a:r>
            <a:endParaRPr lang="en-US" sz="2400" dirty="0"/>
          </a:p>
        </p:txBody>
      </p:sp>
      <p:sp>
        <p:nvSpPr>
          <p:cNvPr id="11" name="Text 9"/>
          <p:cNvSpPr/>
          <p:nvPr/>
        </p:nvSpPr>
        <p:spPr>
          <a:xfrm>
            <a:off x="2295144" y="2651760"/>
            <a:ext cx="1225296"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Merge Strategy</a:t>
            </a:r>
            <a:endParaRPr lang="en-US" sz="1400" dirty="0"/>
          </a:p>
        </p:txBody>
      </p:sp>
      <p:sp>
        <p:nvSpPr>
          <p:cNvPr id="12" name="Text 10">
            <a:extLst>
              <a:ext uri="{C183D7F6-B498-43B3-948B-1728B52AA6E4}">
                <adec:decorative xmlns:adec="http://schemas.microsoft.com/office/drawing/2017/decorative" val="1"/>
              </a:ext>
            </a:extLst>
          </p:cNvPr>
          <p:cNvSpPr/>
          <p:nvPr/>
        </p:nvSpPr>
        <p:spPr>
          <a:xfrm>
            <a:off x="2295144" y="3182112"/>
            <a:ext cx="1243584" cy="548640"/>
          </a:xfrm>
          <a:prstGeom prst="rect">
            <a:avLst/>
          </a:prstGeom>
          <a:noFill/>
          <a:ln/>
        </p:spPr>
        <p:txBody>
          <a:bodyPr wrap="square" lIns="0" tIns="0" rIns="0" bIns="0" rtlCol="0" anchor="ctr"/>
          <a:lstStyle/>
          <a:p>
            <a:pPr marL="0" indent="0">
              <a:buNone/>
            </a:pPr>
            <a:r>
              <a:rPr lang="en-US" sz="1050" dirty="0">
                <a:solidFill>
                  <a:srgbClr val="CBD8DE"/>
                </a:solidFill>
                <a:latin typeface="Calibri" pitchFamily="34" charset="0"/>
                <a:ea typeface="Calibri" pitchFamily="34" charset="-122"/>
                <a:cs typeface="Calibri" pitchFamily="34" charset="-120"/>
              </a:rPr>
              <a:t>Join entities on rider keys. </a:t>
            </a:r>
            <a:endParaRPr lang="en-US" sz="1050" dirty="0"/>
          </a:p>
        </p:txBody>
      </p:sp>
      <p:sp>
        <p:nvSpPr>
          <p:cNvPr id="13" name="arrow">
            <a:extLst>
              <a:ext uri="{C183D7F6-B498-43B3-948B-1728B52AA6E4}">
                <adec:decorative xmlns:adec="http://schemas.microsoft.com/office/drawing/2017/decorative" val="1"/>
              </a:ext>
            </a:extLst>
          </p:cNvPr>
          <p:cNvSpPr/>
          <p:nvPr/>
        </p:nvSpPr>
        <p:spPr>
          <a:xfrm>
            <a:off x="3611880" y="2784348"/>
            <a:ext cx="237744" cy="237744"/>
          </a:xfrm>
          <a:prstGeom prst="chevron">
            <a:avLst/>
          </a:prstGeom>
          <a:solidFill>
            <a:srgbClr val="128F90"/>
          </a:solidFill>
          <a:ln/>
        </p:spPr>
        <p:txBody>
          <a:bodyPr/>
          <a:lstStyle/>
          <a:p>
            <a:endParaRPr lang="en-GB"/>
          </a:p>
        </p:txBody>
      </p:sp>
      <p:sp>
        <p:nvSpPr>
          <p:cNvPr id="14" name="step">
            <a:extLst>
              <a:ext uri="{C183D7F6-B498-43B3-948B-1728B52AA6E4}">
                <adec:decorative xmlns:adec="http://schemas.microsoft.com/office/drawing/2017/decorative" val="1"/>
              </a:ext>
            </a:extLst>
          </p:cNvPr>
          <p:cNvSpPr/>
          <p:nvPr/>
        </p:nvSpPr>
        <p:spPr>
          <a:xfrm>
            <a:off x="3831336" y="2011680"/>
            <a:ext cx="1481328" cy="1783080"/>
          </a:xfrm>
          <a:prstGeom prst="rect">
            <a:avLst/>
          </a:prstGeom>
          <a:solidFill>
            <a:srgbClr val="0F2C48"/>
          </a:solidFill>
          <a:ln/>
          <a:effectLst>
            <a:outerShdw blurRad="114300" dist="38100" dir="5400000" algn="bl" rotWithShape="0">
              <a:srgbClr val="9FB2B8">
                <a:alpha val="22000"/>
              </a:srgbClr>
            </a:outerShdw>
          </a:effectLst>
        </p:spPr>
        <p:txBody>
          <a:bodyPr/>
          <a:lstStyle/>
          <a:p>
            <a:endParaRPr lang="en-GB"/>
          </a:p>
        </p:txBody>
      </p:sp>
      <p:sp>
        <p:nvSpPr>
          <p:cNvPr id="15" name="Text 13"/>
          <p:cNvSpPr/>
          <p:nvPr/>
        </p:nvSpPr>
        <p:spPr>
          <a:xfrm>
            <a:off x="3977640" y="2157984"/>
            <a:ext cx="914400" cy="457200"/>
          </a:xfrm>
          <a:prstGeom prst="rect">
            <a:avLst/>
          </a:prstGeom>
          <a:noFill/>
          <a:ln/>
        </p:spPr>
        <p:txBody>
          <a:bodyPr wrap="square" lIns="0" tIns="0" rIns="0" bIns="0" rtlCol="0" anchor="ctr"/>
          <a:lstStyle/>
          <a:p>
            <a:pPr marL="0" indent="0">
              <a:buNone/>
            </a:pPr>
            <a:r>
              <a:rPr lang="en-US" sz="2400" b="1" dirty="0">
                <a:solidFill>
                  <a:srgbClr val="3FB0AE"/>
                </a:solidFill>
                <a:latin typeface="Calibri Light" pitchFamily="34" charset="0"/>
                <a:ea typeface="Calibri Light" pitchFamily="34" charset="-122"/>
                <a:cs typeface="Calibri Light" pitchFamily="34" charset="-120"/>
              </a:rPr>
              <a:t>03</a:t>
            </a:r>
            <a:endParaRPr lang="en-US" sz="2400" dirty="0"/>
          </a:p>
        </p:txBody>
      </p:sp>
      <p:sp>
        <p:nvSpPr>
          <p:cNvPr id="16" name="Text 14">
            <a:extLst>
              <a:ext uri="{C183D7F6-B498-43B3-948B-1728B52AA6E4}">
                <adec:decorative xmlns:adec="http://schemas.microsoft.com/office/drawing/2017/decorative" val="1"/>
              </a:ext>
            </a:extLst>
          </p:cNvPr>
          <p:cNvSpPr/>
          <p:nvPr/>
        </p:nvSpPr>
        <p:spPr>
          <a:xfrm>
            <a:off x="3977640" y="2651760"/>
            <a:ext cx="1225296"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Aggregation</a:t>
            </a:r>
            <a:endParaRPr lang="en-US" sz="1400" dirty="0"/>
          </a:p>
        </p:txBody>
      </p:sp>
      <p:sp>
        <p:nvSpPr>
          <p:cNvPr id="17" name="Text 15">
            <a:extLst>
              <a:ext uri="{C183D7F6-B498-43B3-948B-1728B52AA6E4}">
                <adec:decorative xmlns:adec="http://schemas.microsoft.com/office/drawing/2017/decorative" val="1"/>
              </a:ext>
            </a:extLst>
          </p:cNvPr>
          <p:cNvSpPr/>
          <p:nvPr/>
        </p:nvSpPr>
        <p:spPr>
          <a:xfrm>
            <a:off x="3977640" y="3182112"/>
            <a:ext cx="1243584" cy="548640"/>
          </a:xfrm>
          <a:prstGeom prst="rect">
            <a:avLst/>
          </a:prstGeom>
          <a:noFill/>
          <a:ln/>
        </p:spPr>
        <p:txBody>
          <a:bodyPr wrap="square" lIns="0" tIns="0" rIns="0" bIns="0" rtlCol="0" anchor="ctr"/>
          <a:lstStyle/>
          <a:p>
            <a:pPr marL="0" indent="0">
              <a:buNone/>
            </a:pPr>
            <a:r>
              <a:rPr lang="en-US" sz="1050" dirty="0">
                <a:solidFill>
                  <a:srgbClr val="CBD8DE"/>
                </a:solidFill>
                <a:latin typeface="Calibri" pitchFamily="34" charset="0"/>
                <a:ea typeface="Calibri" pitchFamily="34" charset="-122"/>
                <a:cs typeface="Calibri" pitchFamily="34" charset="-120"/>
              </a:rPr>
              <a:t>Roll up trips, sessions, promotions</a:t>
            </a:r>
            <a:endParaRPr lang="en-US" sz="1050" dirty="0"/>
          </a:p>
        </p:txBody>
      </p:sp>
      <p:sp>
        <p:nvSpPr>
          <p:cNvPr id="18" name="arrow">
            <a:extLst>
              <a:ext uri="{C183D7F6-B498-43B3-948B-1728B52AA6E4}">
                <adec:decorative xmlns:adec="http://schemas.microsoft.com/office/drawing/2017/decorative" val="1"/>
              </a:ext>
            </a:extLst>
          </p:cNvPr>
          <p:cNvSpPr/>
          <p:nvPr/>
        </p:nvSpPr>
        <p:spPr>
          <a:xfrm>
            <a:off x="5294376" y="2784348"/>
            <a:ext cx="237744" cy="237744"/>
          </a:xfrm>
          <a:prstGeom prst="chevron">
            <a:avLst/>
          </a:prstGeom>
          <a:solidFill>
            <a:srgbClr val="128F90"/>
          </a:solidFill>
          <a:ln/>
        </p:spPr>
        <p:txBody>
          <a:bodyPr/>
          <a:lstStyle/>
          <a:p>
            <a:endParaRPr lang="en-GB"/>
          </a:p>
        </p:txBody>
      </p:sp>
      <p:sp>
        <p:nvSpPr>
          <p:cNvPr id="19" name="step">
            <a:extLst>
              <a:ext uri="{C183D7F6-B498-43B3-948B-1728B52AA6E4}">
                <adec:decorative xmlns:adec="http://schemas.microsoft.com/office/drawing/2017/decorative" val="1"/>
              </a:ext>
            </a:extLst>
          </p:cNvPr>
          <p:cNvSpPr/>
          <p:nvPr/>
        </p:nvSpPr>
        <p:spPr>
          <a:xfrm>
            <a:off x="5513832" y="2011680"/>
            <a:ext cx="1481328" cy="1783080"/>
          </a:xfrm>
          <a:prstGeom prst="rect">
            <a:avLst/>
          </a:prstGeom>
          <a:solidFill>
            <a:srgbClr val="16436B"/>
          </a:solidFill>
          <a:ln/>
          <a:effectLst>
            <a:outerShdw blurRad="114300" dist="38100" dir="5400000" algn="bl" rotWithShape="0">
              <a:srgbClr val="9FB2B8">
                <a:alpha val="22000"/>
              </a:srgbClr>
            </a:outerShdw>
          </a:effectLst>
        </p:spPr>
        <p:txBody>
          <a:bodyPr/>
          <a:lstStyle/>
          <a:p>
            <a:endParaRPr lang="en-GB"/>
          </a:p>
        </p:txBody>
      </p:sp>
      <p:sp>
        <p:nvSpPr>
          <p:cNvPr id="20" name="Text 18">
            <a:extLst>
              <a:ext uri="{C183D7F6-B498-43B3-948B-1728B52AA6E4}">
                <adec:decorative xmlns:adec="http://schemas.microsoft.com/office/drawing/2017/decorative" val="1"/>
              </a:ext>
            </a:extLst>
          </p:cNvPr>
          <p:cNvSpPr/>
          <p:nvPr/>
        </p:nvSpPr>
        <p:spPr>
          <a:xfrm>
            <a:off x="5660136" y="2157984"/>
            <a:ext cx="914400" cy="457200"/>
          </a:xfrm>
          <a:prstGeom prst="rect">
            <a:avLst/>
          </a:prstGeom>
          <a:noFill/>
          <a:ln/>
        </p:spPr>
        <p:txBody>
          <a:bodyPr wrap="square" lIns="0" tIns="0" rIns="0" bIns="0" rtlCol="0" anchor="ctr"/>
          <a:lstStyle/>
          <a:p>
            <a:pPr marL="0" indent="0">
              <a:buNone/>
            </a:pPr>
            <a:r>
              <a:rPr lang="en-US" sz="2400" b="1" dirty="0">
                <a:solidFill>
                  <a:srgbClr val="3FB0AE"/>
                </a:solidFill>
                <a:latin typeface="Calibri Light" pitchFamily="34" charset="0"/>
                <a:ea typeface="Calibri Light" pitchFamily="34" charset="-122"/>
                <a:cs typeface="Calibri Light" pitchFamily="34" charset="-120"/>
              </a:rPr>
              <a:t>04</a:t>
            </a:r>
            <a:endParaRPr lang="en-US" sz="2400" dirty="0"/>
          </a:p>
        </p:txBody>
      </p:sp>
      <p:sp>
        <p:nvSpPr>
          <p:cNvPr id="21" name="Text 19"/>
          <p:cNvSpPr/>
          <p:nvPr/>
        </p:nvSpPr>
        <p:spPr>
          <a:xfrm>
            <a:off x="5660136" y="2651760"/>
            <a:ext cx="1225296"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Feature Engineering</a:t>
            </a:r>
            <a:endParaRPr lang="en-US" sz="1400" dirty="0"/>
          </a:p>
        </p:txBody>
      </p:sp>
      <p:sp>
        <p:nvSpPr>
          <p:cNvPr id="22" name="Text 20">
            <a:extLst>
              <a:ext uri="{C183D7F6-B498-43B3-948B-1728B52AA6E4}">
                <adec:decorative xmlns:adec="http://schemas.microsoft.com/office/drawing/2017/decorative" val="1"/>
              </a:ext>
            </a:extLst>
          </p:cNvPr>
          <p:cNvSpPr/>
          <p:nvPr/>
        </p:nvSpPr>
        <p:spPr>
          <a:xfrm>
            <a:off x="5660136" y="3182112"/>
            <a:ext cx="1243584" cy="548640"/>
          </a:xfrm>
          <a:prstGeom prst="rect">
            <a:avLst/>
          </a:prstGeom>
          <a:noFill/>
          <a:ln/>
        </p:spPr>
        <p:txBody>
          <a:bodyPr wrap="square" lIns="0" tIns="0" rIns="0" bIns="0" rtlCol="0" anchor="ctr"/>
          <a:lstStyle/>
          <a:p>
            <a:pPr marL="0" indent="0">
              <a:buNone/>
            </a:pPr>
            <a:r>
              <a:rPr lang="en-US" sz="1050" dirty="0">
                <a:solidFill>
                  <a:srgbClr val="CBD8DE"/>
                </a:solidFill>
                <a:latin typeface="Calibri" pitchFamily="34" charset="0"/>
                <a:ea typeface="Calibri" pitchFamily="34" charset="-122"/>
                <a:cs typeface="Calibri" pitchFamily="34" charset="-120"/>
              </a:rPr>
              <a:t>Derive behavioural signals</a:t>
            </a:r>
            <a:endParaRPr lang="en-US" sz="1050" dirty="0"/>
          </a:p>
        </p:txBody>
      </p:sp>
      <p:sp>
        <p:nvSpPr>
          <p:cNvPr id="23" name="arrow">
            <a:extLst>
              <a:ext uri="{C183D7F6-B498-43B3-948B-1728B52AA6E4}">
                <adec:decorative xmlns:adec="http://schemas.microsoft.com/office/drawing/2017/decorative" val="1"/>
              </a:ext>
            </a:extLst>
          </p:cNvPr>
          <p:cNvSpPr/>
          <p:nvPr/>
        </p:nvSpPr>
        <p:spPr>
          <a:xfrm>
            <a:off x="6976872" y="2784348"/>
            <a:ext cx="237744" cy="237744"/>
          </a:xfrm>
          <a:prstGeom prst="chevron">
            <a:avLst/>
          </a:prstGeom>
          <a:solidFill>
            <a:srgbClr val="128F90"/>
          </a:solidFill>
          <a:ln/>
        </p:spPr>
        <p:txBody>
          <a:bodyPr/>
          <a:lstStyle/>
          <a:p>
            <a:endParaRPr lang="en-GB"/>
          </a:p>
        </p:txBody>
      </p:sp>
      <p:sp>
        <p:nvSpPr>
          <p:cNvPr id="24" name="step">
            <a:extLst>
              <a:ext uri="{C183D7F6-B498-43B3-948B-1728B52AA6E4}">
                <adec:decorative xmlns:adec="http://schemas.microsoft.com/office/drawing/2017/decorative" val="1"/>
              </a:ext>
            </a:extLst>
          </p:cNvPr>
          <p:cNvSpPr/>
          <p:nvPr/>
        </p:nvSpPr>
        <p:spPr>
          <a:xfrm>
            <a:off x="7196328" y="2011680"/>
            <a:ext cx="1481328" cy="1783080"/>
          </a:xfrm>
          <a:prstGeom prst="rect">
            <a:avLst/>
          </a:prstGeom>
          <a:solidFill>
            <a:srgbClr val="0F2C48"/>
          </a:solidFill>
          <a:ln/>
          <a:effectLst>
            <a:outerShdw blurRad="114300" dist="38100" dir="5400000" algn="bl" rotWithShape="0">
              <a:srgbClr val="9FB2B8">
                <a:alpha val="22000"/>
              </a:srgbClr>
            </a:outerShdw>
          </a:effectLst>
        </p:spPr>
        <p:txBody>
          <a:bodyPr/>
          <a:lstStyle/>
          <a:p>
            <a:endParaRPr lang="en-GB"/>
          </a:p>
        </p:txBody>
      </p:sp>
      <p:sp>
        <p:nvSpPr>
          <p:cNvPr id="25" name="Text 23"/>
          <p:cNvSpPr/>
          <p:nvPr/>
        </p:nvSpPr>
        <p:spPr>
          <a:xfrm>
            <a:off x="7342632" y="2157984"/>
            <a:ext cx="914400" cy="457200"/>
          </a:xfrm>
          <a:prstGeom prst="rect">
            <a:avLst/>
          </a:prstGeom>
          <a:noFill/>
          <a:ln/>
        </p:spPr>
        <p:txBody>
          <a:bodyPr wrap="square" lIns="0" tIns="0" rIns="0" bIns="0" rtlCol="0" anchor="ctr"/>
          <a:lstStyle/>
          <a:p>
            <a:pPr marL="0" indent="0">
              <a:buNone/>
            </a:pPr>
            <a:r>
              <a:rPr lang="en-US" sz="2400" b="1" dirty="0">
                <a:solidFill>
                  <a:srgbClr val="3FB0AE"/>
                </a:solidFill>
                <a:latin typeface="Calibri Light" pitchFamily="34" charset="0"/>
                <a:ea typeface="Calibri Light" pitchFamily="34" charset="-122"/>
                <a:cs typeface="Calibri Light" pitchFamily="34" charset="-120"/>
              </a:rPr>
              <a:t>05</a:t>
            </a:r>
            <a:endParaRPr lang="en-US" sz="2400" dirty="0"/>
          </a:p>
        </p:txBody>
      </p:sp>
      <p:sp>
        <p:nvSpPr>
          <p:cNvPr id="26" name="Text 24"/>
          <p:cNvSpPr/>
          <p:nvPr/>
        </p:nvSpPr>
        <p:spPr>
          <a:xfrm>
            <a:off x="7342632" y="2651760"/>
            <a:ext cx="1225296"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ML Dataset</a:t>
            </a:r>
            <a:endParaRPr lang="en-US" sz="1400" dirty="0"/>
          </a:p>
        </p:txBody>
      </p:sp>
      <p:sp>
        <p:nvSpPr>
          <p:cNvPr id="27" name="Text 25"/>
          <p:cNvSpPr/>
          <p:nvPr/>
        </p:nvSpPr>
        <p:spPr>
          <a:xfrm>
            <a:off x="7342632" y="3182112"/>
            <a:ext cx="1243584" cy="548640"/>
          </a:xfrm>
          <a:prstGeom prst="rect">
            <a:avLst/>
          </a:prstGeom>
          <a:noFill/>
          <a:ln/>
        </p:spPr>
        <p:txBody>
          <a:bodyPr wrap="square" lIns="0" tIns="0" rIns="0" bIns="0" rtlCol="0" anchor="ctr"/>
          <a:lstStyle/>
          <a:p>
            <a:pPr marL="0" indent="0">
              <a:buNone/>
            </a:pPr>
            <a:r>
              <a:rPr lang="en-US" sz="1050" dirty="0">
                <a:solidFill>
                  <a:srgbClr val="CBD8DE"/>
                </a:solidFill>
                <a:latin typeface="Calibri" pitchFamily="34" charset="0"/>
                <a:ea typeface="Calibri" pitchFamily="34" charset="-122"/>
                <a:cs typeface="Calibri" pitchFamily="34" charset="-120"/>
              </a:rPr>
              <a:t>Point-in-time training tables</a:t>
            </a:r>
            <a:endParaRPr lang="en-US" sz="1050" dirty="0"/>
          </a:p>
        </p:txBody>
      </p:sp>
      <p:sp>
        <p:nvSpPr>
          <p:cNvPr id="28" name="Text 26"/>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04</a:t>
            </a:r>
            <a:endParaRPr lang="en-US" sz="1100" dirty="0"/>
          </a:p>
        </p:txBody>
      </p:sp>
      <p:sp>
        <p:nvSpPr>
          <p:cNvPr id="29" name="Text 27"/>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25222-628D-124D-8324-FB93BB57B76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51D11F-AA80-A826-0ADB-4DAA06F56296}"/>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EDA INSIGHTS</a:t>
            </a:r>
            <a:endParaRPr lang="en-US" sz="1250" dirty="0"/>
          </a:p>
        </p:txBody>
      </p:sp>
      <p:sp>
        <p:nvSpPr>
          <p:cNvPr id="3" name="Text 0">
            <a:extLst>
              <a:ext uri="{FF2B5EF4-FFF2-40B4-BE49-F238E27FC236}">
                <a16:creationId xmlns:a16="http://schemas.microsoft.com/office/drawing/2014/main" id="{BB18E5AE-8356-77A8-8789-B59CE237A7B8}"/>
              </a:ext>
            </a:extLst>
          </p:cNvPr>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What the data reveals - EDA</a:t>
            </a:r>
            <a:endParaRPr lang="en-US" sz="3300" dirty="0"/>
          </a:p>
        </p:txBody>
      </p:sp>
      <p:sp>
        <p:nvSpPr>
          <p:cNvPr id="4" name="card">
            <a:extLst>
              <a:ext uri="{FF2B5EF4-FFF2-40B4-BE49-F238E27FC236}">
                <a16:creationId xmlns:a16="http://schemas.microsoft.com/office/drawing/2014/main" id="{799C7368-901D-ED49-F1EA-63611596E606}"/>
              </a:ext>
              <a:ext uri="{C183D7F6-B498-43B3-948B-1728B52AA6E4}">
                <adec:decorative xmlns:adec="http://schemas.microsoft.com/office/drawing/2017/decorative" val="1"/>
              </a:ext>
            </a:extLst>
          </p:cNvPr>
          <p:cNvSpPr/>
          <p:nvPr/>
        </p:nvSpPr>
        <p:spPr>
          <a:xfrm>
            <a:off x="566928" y="1417320"/>
            <a:ext cx="3977640" cy="694944"/>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5" name="marker">
            <a:extLst>
              <a:ext uri="{FF2B5EF4-FFF2-40B4-BE49-F238E27FC236}">
                <a16:creationId xmlns:a16="http://schemas.microsoft.com/office/drawing/2014/main" id="{CD954E2A-AB7A-6B2E-4745-5321DC3713D7}"/>
              </a:ext>
              <a:ext uri="{C183D7F6-B498-43B3-948B-1728B52AA6E4}">
                <adec:decorative xmlns:adec="http://schemas.microsoft.com/office/drawing/2017/decorative" val="1"/>
              </a:ext>
            </a:extLst>
          </p:cNvPr>
          <p:cNvSpPr/>
          <p:nvPr/>
        </p:nvSpPr>
        <p:spPr>
          <a:xfrm>
            <a:off x="566928" y="1417320"/>
            <a:ext cx="82296" cy="694944"/>
          </a:xfrm>
          <a:prstGeom prst="rect">
            <a:avLst/>
          </a:prstGeom>
          <a:solidFill>
            <a:srgbClr val="128F90"/>
          </a:solidFill>
          <a:ln/>
        </p:spPr>
        <p:txBody>
          <a:bodyPr/>
          <a:lstStyle/>
          <a:p>
            <a:endParaRPr lang="en-GB"/>
          </a:p>
        </p:txBody>
      </p:sp>
      <p:sp>
        <p:nvSpPr>
          <p:cNvPr id="6" name="Text 4">
            <a:extLst>
              <a:ext uri="{FF2B5EF4-FFF2-40B4-BE49-F238E27FC236}">
                <a16:creationId xmlns:a16="http://schemas.microsoft.com/office/drawing/2014/main" id="{968DECA0-92B2-1174-4F6F-386265F38369}"/>
              </a:ext>
            </a:extLst>
          </p:cNvPr>
          <p:cNvSpPr/>
          <p:nvPr/>
        </p:nvSpPr>
        <p:spPr>
          <a:xfrm>
            <a:off x="822960" y="1508760"/>
            <a:ext cx="3566160" cy="320040"/>
          </a:xfrm>
          <a:prstGeom prst="rect">
            <a:avLst/>
          </a:prstGeom>
          <a:noFill/>
          <a:ln/>
        </p:spPr>
        <p:txBody>
          <a:bodyPr wrap="square" lIns="0" tIns="0" rIns="0" bIns="0" rtlCol="0" anchor="ctr"/>
          <a:lstStyle/>
          <a:p>
            <a:pPr marL="0" indent="0">
              <a:buNone/>
            </a:pPr>
            <a:r>
              <a:rPr lang="en-US" sz="1450" b="1" dirty="0">
                <a:solidFill>
                  <a:srgbClr val="0F2C48"/>
                </a:solidFill>
                <a:latin typeface="Calibri" pitchFamily="34" charset="0"/>
                <a:ea typeface="Calibri" pitchFamily="34" charset="-122"/>
                <a:cs typeface="Calibri" pitchFamily="34" charset="-120"/>
              </a:rPr>
              <a:t>Rider behaviour patterns</a:t>
            </a:r>
            <a:endParaRPr lang="en-US" sz="1450" dirty="0"/>
          </a:p>
        </p:txBody>
      </p:sp>
      <p:sp>
        <p:nvSpPr>
          <p:cNvPr id="7" name="Text 5">
            <a:extLst>
              <a:ext uri="{FF2B5EF4-FFF2-40B4-BE49-F238E27FC236}">
                <a16:creationId xmlns:a16="http://schemas.microsoft.com/office/drawing/2014/main" id="{8FB818AD-32BB-0E35-9982-853E2AB4873E}"/>
              </a:ext>
            </a:extLst>
          </p:cNvPr>
          <p:cNvSpPr/>
          <p:nvPr/>
        </p:nvSpPr>
        <p:spPr>
          <a:xfrm>
            <a:off x="822960" y="1819656"/>
            <a:ext cx="3566160" cy="292608"/>
          </a:xfrm>
          <a:prstGeom prst="rect">
            <a:avLst/>
          </a:prstGeom>
          <a:noFill/>
          <a:ln/>
        </p:spPr>
        <p:txBody>
          <a:bodyPr wrap="square" lIns="0" tIns="0" rIns="0" bIns="0" rtlCol="0" anchor="ctr"/>
          <a:lstStyle/>
          <a:p>
            <a:pPr marL="0" indent="0">
              <a:buNone/>
            </a:pPr>
            <a:r>
              <a:rPr lang="en-US" sz="1150" dirty="0">
                <a:solidFill>
                  <a:srgbClr val="3F5261"/>
                </a:solidFill>
                <a:latin typeface="Calibri" pitchFamily="34" charset="0"/>
                <a:ea typeface="Calibri" pitchFamily="34" charset="-122"/>
                <a:cs typeface="Calibri" pitchFamily="34" charset="-120"/>
              </a:rPr>
              <a:t>Usage frequency and recency drive value.</a:t>
            </a:r>
            <a:endParaRPr lang="en-US" sz="1150" dirty="0"/>
          </a:p>
        </p:txBody>
      </p:sp>
      <p:sp>
        <p:nvSpPr>
          <p:cNvPr id="8" name="card">
            <a:extLst>
              <a:ext uri="{FF2B5EF4-FFF2-40B4-BE49-F238E27FC236}">
                <a16:creationId xmlns:a16="http://schemas.microsoft.com/office/drawing/2014/main" id="{E1CDE656-B479-C333-52DB-3DBDE6E53C19}"/>
              </a:ext>
              <a:ext uri="{C183D7F6-B498-43B3-948B-1728B52AA6E4}">
                <adec:decorative xmlns:adec="http://schemas.microsoft.com/office/drawing/2017/decorative" val="1"/>
              </a:ext>
            </a:extLst>
          </p:cNvPr>
          <p:cNvSpPr/>
          <p:nvPr/>
        </p:nvSpPr>
        <p:spPr>
          <a:xfrm>
            <a:off x="566928" y="2203704"/>
            <a:ext cx="3977640" cy="694944"/>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9" name="marker">
            <a:extLst>
              <a:ext uri="{FF2B5EF4-FFF2-40B4-BE49-F238E27FC236}">
                <a16:creationId xmlns:a16="http://schemas.microsoft.com/office/drawing/2014/main" id="{29E8A896-6D8A-3395-107B-1ED9D6856B77}"/>
              </a:ext>
              <a:ext uri="{C183D7F6-B498-43B3-948B-1728B52AA6E4}">
                <adec:decorative xmlns:adec="http://schemas.microsoft.com/office/drawing/2017/decorative" val="1"/>
              </a:ext>
            </a:extLst>
          </p:cNvPr>
          <p:cNvSpPr/>
          <p:nvPr/>
        </p:nvSpPr>
        <p:spPr>
          <a:xfrm>
            <a:off x="566928" y="2203704"/>
            <a:ext cx="82296" cy="694944"/>
          </a:xfrm>
          <a:prstGeom prst="rect">
            <a:avLst/>
          </a:prstGeom>
          <a:solidFill>
            <a:srgbClr val="128F90"/>
          </a:solidFill>
          <a:ln/>
        </p:spPr>
        <p:txBody>
          <a:bodyPr/>
          <a:lstStyle/>
          <a:p>
            <a:endParaRPr lang="en-GB"/>
          </a:p>
        </p:txBody>
      </p:sp>
      <p:sp>
        <p:nvSpPr>
          <p:cNvPr id="10" name="Text 8">
            <a:extLst>
              <a:ext uri="{FF2B5EF4-FFF2-40B4-BE49-F238E27FC236}">
                <a16:creationId xmlns:a16="http://schemas.microsoft.com/office/drawing/2014/main" id="{7F634C96-FB79-A979-D149-63D52EC7DB11}"/>
              </a:ext>
              <a:ext uri="{C183D7F6-B498-43B3-948B-1728B52AA6E4}">
                <adec:decorative xmlns:adec="http://schemas.microsoft.com/office/drawing/2017/decorative" val="1"/>
              </a:ext>
            </a:extLst>
          </p:cNvPr>
          <p:cNvSpPr/>
          <p:nvPr/>
        </p:nvSpPr>
        <p:spPr>
          <a:xfrm>
            <a:off x="822960" y="2295144"/>
            <a:ext cx="3566160" cy="320040"/>
          </a:xfrm>
          <a:prstGeom prst="rect">
            <a:avLst/>
          </a:prstGeom>
          <a:noFill/>
          <a:ln/>
        </p:spPr>
        <p:txBody>
          <a:bodyPr wrap="square" lIns="0" tIns="0" rIns="0" bIns="0" rtlCol="0" anchor="ctr"/>
          <a:lstStyle/>
          <a:p>
            <a:pPr marL="0" indent="0">
              <a:buNone/>
            </a:pPr>
            <a:r>
              <a:rPr lang="en-US" sz="1450" b="1" dirty="0">
                <a:solidFill>
                  <a:srgbClr val="0F2C48"/>
                </a:solidFill>
                <a:latin typeface="Calibri" pitchFamily="34" charset="0"/>
                <a:ea typeface="Calibri" pitchFamily="34" charset="-122"/>
                <a:cs typeface="Calibri" pitchFamily="34" charset="-120"/>
              </a:rPr>
              <a:t>Engagement trends</a:t>
            </a:r>
            <a:endParaRPr lang="en-US" sz="1450" dirty="0"/>
          </a:p>
        </p:txBody>
      </p:sp>
      <p:sp>
        <p:nvSpPr>
          <p:cNvPr id="11" name="Text 9">
            <a:extLst>
              <a:ext uri="{FF2B5EF4-FFF2-40B4-BE49-F238E27FC236}">
                <a16:creationId xmlns:a16="http://schemas.microsoft.com/office/drawing/2014/main" id="{9DCA0703-8782-18A1-787D-5B483A6F0ECB}"/>
              </a:ext>
            </a:extLst>
          </p:cNvPr>
          <p:cNvSpPr/>
          <p:nvPr/>
        </p:nvSpPr>
        <p:spPr>
          <a:xfrm>
            <a:off x="822960" y="2606040"/>
            <a:ext cx="3566160" cy="292608"/>
          </a:xfrm>
          <a:prstGeom prst="rect">
            <a:avLst/>
          </a:prstGeom>
          <a:noFill/>
          <a:ln/>
        </p:spPr>
        <p:txBody>
          <a:bodyPr wrap="square" lIns="0" tIns="0" rIns="0" bIns="0" rtlCol="0" anchor="ctr"/>
          <a:lstStyle/>
          <a:p>
            <a:pPr marL="0" indent="0">
              <a:buNone/>
            </a:pPr>
            <a:r>
              <a:rPr lang="en-US" sz="1150" dirty="0">
                <a:solidFill>
                  <a:srgbClr val="3F5261"/>
                </a:solidFill>
                <a:latin typeface="Calibri" pitchFamily="34" charset="0"/>
                <a:ea typeface="Calibri" pitchFamily="34" charset="-122"/>
                <a:cs typeface="Calibri" pitchFamily="34" charset="-120"/>
              </a:rPr>
              <a:t>App sessions decline before churn.</a:t>
            </a:r>
            <a:endParaRPr lang="en-US" sz="1150" dirty="0"/>
          </a:p>
        </p:txBody>
      </p:sp>
      <p:sp>
        <p:nvSpPr>
          <p:cNvPr id="12" name="card">
            <a:extLst>
              <a:ext uri="{FF2B5EF4-FFF2-40B4-BE49-F238E27FC236}">
                <a16:creationId xmlns:a16="http://schemas.microsoft.com/office/drawing/2014/main" id="{ECFB9E3F-269B-F7EC-5134-E877BC821126}"/>
              </a:ext>
              <a:ext uri="{C183D7F6-B498-43B3-948B-1728B52AA6E4}">
                <adec:decorative xmlns:adec="http://schemas.microsoft.com/office/drawing/2017/decorative" val="1"/>
              </a:ext>
            </a:extLst>
          </p:cNvPr>
          <p:cNvSpPr/>
          <p:nvPr/>
        </p:nvSpPr>
        <p:spPr>
          <a:xfrm>
            <a:off x="566928" y="2990088"/>
            <a:ext cx="3977640" cy="694944"/>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3" name="marker">
            <a:extLst>
              <a:ext uri="{FF2B5EF4-FFF2-40B4-BE49-F238E27FC236}">
                <a16:creationId xmlns:a16="http://schemas.microsoft.com/office/drawing/2014/main" id="{011DD348-60F1-6F32-C5D5-A5BC76CA7CB5}"/>
              </a:ext>
              <a:ext uri="{C183D7F6-B498-43B3-948B-1728B52AA6E4}">
                <adec:decorative xmlns:adec="http://schemas.microsoft.com/office/drawing/2017/decorative" val="1"/>
              </a:ext>
            </a:extLst>
          </p:cNvPr>
          <p:cNvSpPr/>
          <p:nvPr/>
        </p:nvSpPr>
        <p:spPr>
          <a:xfrm>
            <a:off x="566928" y="2990088"/>
            <a:ext cx="82296" cy="694944"/>
          </a:xfrm>
          <a:prstGeom prst="rect">
            <a:avLst/>
          </a:prstGeom>
          <a:solidFill>
            <a:srgbClr val="128F90"/>
          </a:solidFill>
          <a:ln/>
        </p:spPr>
        <p:txBody>
          <a:bodyPr/>
          <a:lstStyle/>
          <a:p>
            <a:endParaRPr lang="en-GB"/>
          </a:p>
        </p:txBody>
      </p:sp>
      <p:sp>
        <p:nvSpPr>
          <p:cNvPr id="14" name="Text 12">
            <a:extLst>
              <a:ext uri="{FF2B5EF4-FFF2-40B4-BE49-F238E27FC236}">
                <a16:creationId xmlns:a16="http://schemas.microsoft.com/office/drawing/2014/main" id="{64EBFF0E-3F01-76D9-471B-6D3640B136AA}"/>
              </a:ext>
            </a:extLst>
          </p:cNvPr>
          <p:cNvSpPr/>
          <p:nvPr/>
        </p:nvSpPr>
        <p:spPr>
          <a:xfrm>
            <a:off x="822960" y="3081528"/>
            <a:ext cx="3566160" cy="320040"/>
          </a:xfrm>
          <a:prstGeom prst="rect">
            <a:avLst/>
          </a:prstGeom>
          <a:noFill/>
          <a:ln/>
        </p:spPr>
        <p:txBody>
          <a:bodyPr wrap="square" lIns="0" tIns="0" rIns="0" bIns="0" rtlCol="0" anchor="ctr"/>
          <a:lstStyle/>
          <a:p>
            <a:pPr marL="0" indent="0">
              <a:buNone/>
            </a:pPr>
            <a:r>
              <a:rPr lang="en-US" sz="1450" b="1" dirty="0">
                <a:solidFill>
                  <a:srgbClr val="0F2C48"/>
                </a:solidFill>
                <a:latin typeface="Calibri" pitchFamily="34" charset="0"/>
                <a:ea typeface="Calibri" pitchFamily="34" charset="-122"/>
                <a:cs typeface="Calibri" pitchFamily="34" charset="-120"/>
              </a:rPr>
              <a:t>Churn correlations</a:t>
            </a:r>
            <a:endParaRPr lang="en-US" sz="1450" dirty="0"/>
          </a:p>
        </p:txBody>
      </p:sp>
      <p:sp>
        <p:nvSpPr>
          <p:cNvPr id="15" name="Text 13">
            <a:extLst>
              <a:ext uri="{FF2B5EF4-FFF2-40B4-BE49-F238E27FC236}">
                <a16:creationId xmlns:a16="http://schemas.microsoft.com/office/drawing/2014/main" id="{61AC0F51-A341-46DE-A2DD-C509358582D2}"/>
              </a:ext>
            </a:extLst>
          </p:cNvPr>
          <p:cNvSpPr/>
          <p:nvPr/>
        </p:nvSpPr>
        <p:spPr>
          <a:xfrm>
            <a:off x="767541" y="3463636"/>
            <a:ext cx="3730567" cy="267856"/>
          </a:xfrm>
          <a:prstGeom prst="rect">
            <a:avLst/>
          </a:prstGeom>
          <a:noFill/>
          <a:ln/>
        </p:spPr>
        <p:txBody>
          <a:bodyPr wrap="square" lIns="0" tIns="0" rIns="0" bIns="0" rtlCol="0" anchor="ctr"/>
          <a:lstStyle/>
          <a:p>
            <a:pPr marL="0" indent="0">
              <a:buNone/>
            </a:pPr>
            <a:r>
              <a:rPr lang="en-GB" sz="1150" dirty="0">
                <a:solidFill>
                  <a:srgbClr val="3F5261"/>
                </a:solidFill>
                <a:latin typeface="Calibri" pitchFamily="34" charset="0"/>
                <a:ea typeface="Calibri" pitchFamily="34" charset="-122"/>
                <a:cs typeface="Calibri" pitchFamily="34" charset="-120"/>
              </a:rPr>
              <a:t>Engagement + behaviour = core features for modelling.</a:t>
            </a:r>
          </a:p>
          <a:p>
            <a:pPr marL="0" indent="0">
              <a:buNone/>
            </a:pPr>
            <a:r>
              <a:rPr lang="en-US" sz="1150" dirty="0">
                <a:solidFill>
                  <a:srgbClr val="3F5261"/>
                </a:solidFill>
                <a:latin typeface="Calibri" pitchFamily="34" charset="0"/>
                <a:ea typeface="Calibri" pitchFamily="34" charset="-122"/>
                <a:cs typeface="Calibri" pitchFamily="34" charset="-120"/>
              </a:rPr>
              <a:t>.</a:t>
            </a:r>
            <a:endParaRPr lang="en-US" sz="1150" dirty="0"/>
          </a:p>
        </p:txBody>
      </p:sp>
      <p:sp>
        <p:nvSpPr>
          <p:cNvPr id="16" name="card">
            <a:extLst>
              <a:ext uri="{FF2B5EF4-FFF2-40B4-BE49-F238E27FC236}">
                <a16:creationId xmlns:a16="http://schemas.microsoft.com/office/drawing/2014/main" id="{D0CCA59C-ED87-568C-F94E-29CF009DB1C7}"/>
              </a:ext>
              <a:ext uri="{C183D7F6-B498-43B3-948B-1728B52AA6E4}">
                <adec:decorative xmlns:adec="http://schemas.microsoft.com/office/drawing/2017/decorative" val="1"/>
              </a:ext>
            </a:extLst>
          </p:cNvPr>
          <p:cNvSpPr/>
          <p:nvPr/>
        </p:nvSpPr>
        <p:spPr>
          <a:xfrm>
            <a:off x="566928" y="3776472"/>
            <a:ext cx="3977640" cy="694944"/>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7" name="marker">
            <a:extLst>
              <a:ext uri="{FF2B5EF4-FFF2-40B4-BE49-F238E27FC236}">
                <a16:creationId xmlns:a16="http://schemas.microsoft.com/office/drawing/2014/main" id="{C77ED949-C08D-134C-6105-1F6D5852CC50}"/>
              </a:ext>
              <a:ext uri="{C183D7F6-B498-43B3-948B-1728B52AA6E4}">
                <adec:decorative xmlns:adec="http://schemas.microsoft.com/office/drawing/2017/decorative" val="1"/>
              </a:ext>
            </a:extLst>
          </p:cNvPr>
          <p:cNvSpPr/>
          <p:nvPr/>
        </p:nvSpPr>
        <p:spPr>
          <a:xfrm>
            <a:off x="566928" y="3776472"/>
            <a:ext cx="82296" cy="694944"/>
          </a:xfrm>
          <a:prstGeom prst="rect">
            <a:avLst/>
          </a:prstGeom>
          <a:solidFill>
            <a:srgbClr val="128F90"/>
          </a:solidFill>
          <a:ln/>
        </p:spPr>
        <p:txBody>
          <a:bodyPr/>
          <a:lstStyle/>
          <a:p>
            <a:endParaRPr lang="en-GB"/>
          </a:p>
        </p:txBody>
      </p:sp>
      <p:sp>
        <p:nvSpPr>
          <p:cNvPr id="18" name="Text 16">
            <a:extLst>
              <a:ext uri="{FF2B5EF4-FFF2-40B4-BE49-F238E27FC236}">
                <a16:creationId xmlns:a16="http://schemas.microsoft.com/office/drawing/2014/main" id="{5FD9F43E-B513-EDE0-C5A1-A930F1AE5872}"/>
              </a:ext>
            </a:extLst>
          </p:cNvPr>
          <p:cNvSpPr/>
          <p:nvPr/>
        </p:nvSpPr>
        <p:spPr>
          <a:xfrm>
            <a:off x="822960" y="3867912"/>
            <a:ext cx="3566160" cy="320040"/>
          </a:xfrm>
          <a:prstGeom prst="rect">
            <a:avLst/>
          </a:prstGeom>
          <a:noFill/>
          <a:ln/>
        </p:spPr>
        <p:txBody>
          <a:bodyPr wrap="square" lIns="0" tIns="0" rIns="0" bIns="0" rtlCol="0" anchor="ctr"/>
          <a:lstStyle/>
          <a:p>
            <a:pPr marL="0" indent="0">
              <a:buNone/>
            </a:pPr>
            <a:r>
              <a:rPr lang="en-US" sz="1450" b="1" dirty="0">
                <a:solidFill>
                  <a:srgbClr val="0F2C48"/>
                </a:solidFill>
                <a:latin typeface="Calibri" pitchFamily="34" charset="0"/>
                <a:ea typeface="Calibri" pitchFamily="34" charset="-122"/>
                <a:cs typeface="Calibri" pitchFamily="34" charset="-120"/>
              </a:rPr>
              <a:t>Key visualisations</a:t>
            </a:r>
            <a:endParaRPr lang="en-US" sz="1450" dirty="0"/>
          </a:p>
        </p:txBody>
      </p:sp>
      <p:sp>
        <p:nvSpPr>
          <p:cNvPr id="19" name="Text 17">
            <a:extLst>
              <a:ext uri="{FF2B5EF4-FFF2-40B4-BE49-F238E27FC236}">
                <a16:creationId xmlns:a16="http://schemas.microsoft.com/office/drawing/2014/main" id="{F6E08F66-C94D-DE43-6B4D-2ECBF82324E7}"/>
              </a:ext>
            </a:extLst>
          </p:cNvPr>
          <p:cNvSpPr/>
          <p:nvPr/>
        </p:nvSpPr>
        <p:spPr>
          <a:xfrm>
            <a:off x="822960" y="4178808"/>
            <a:ext cx="3566160" cy="292608"/>
          </a:xfrm>
          <a:prstGeom prst="rect">
            <a:avLst/>
          </a:prstGeom>
          <a:noFill/>
          <a:ln/>
        </p:spPr>
        <p:txBody>
          <a:bodyPr wrap="square" lIns="0" tIns="0" rIns="0" bIns="0" rtlCol="0" anchor="ctr"/>
          <a:lstStyle/>
          <a:p>
            <a:pPr marL="0" indent="0">
              <a:buNone/>
            </a:pPr>
            <a:r>
              <a:rPr lang="en-US" sz="1150" dirty="0">
                <a:solidFill>
                  <a:srgbClr val="3F5261"/>
                </a:solidFill>
                <a:latin typeface="Calibri" pitchFamily="34" charset="0"/>
                <a:ea typeface="Calibri" pitchFamily="34" charset="-122"/>
                <a:cs typeface="Calibri" pitchFamily="34" charset="-120"/>
              </a:rPr>
              <a:t>Distributions and outliers.</a:t>
            </a:r>
            <a:endParaRPr lang="en-US" sz="1150" dirty="0"/>
          </a:p>
        </p:txBody>
      </p:sp>
      <p:sp>
        <p:nvSpPr>
          <p:cNvPr id="22" name="Text 19">
            <a:extLst>
              <a:ext uri="{FF2B5EF4-FFF2-40B4-BE49-F238E27FC236}">
                <a16:creationId xmlns:a16="http://schemas.microsoft.com/office/drawing/2014/main" id="{7115B46C-CFF8-0542-E855-F56F7AE66C92}"/>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05</a:t>
            </a:r>
            <a:endParaRPr lang="en-US" sz="1100" dirty="0"/>
          </a:p>
        </p:txBody>
      </p:sp>
      <p:sp>
        <p:nvSpPr>
          <p:cNvPr id="23" name="Text 20">
            <a:extLst>
              <a:ext uri="{FF2B5EF4-FFF2-40B4-BE49-F238E27FC236}">
                <a16:creationId xmlns:a16="http://schemas.microsoft.com/office/drawing/2014/main" id="{F5A73F5A-2505-593B-27DB-7CDA05CB99B6}"/>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Tree>
    <p:extLst>
      <p:ext uri="{BB962C8B-B14F-4D97-AF65-F5344CB8AC3E}">
        <p14:creationId xmlns:p14="http://schemas.microsoft.com/office/powerpoint/2010/main" val="392479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DAE70-479C-621C-70E0-7B7C3E9B7DA9}"/>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D46EF766-17A6-6CF6-5845-AB2B3F540FE2}"/>
              </a:ext>
            </a:extLst>
          </p:cNvPr>
          <p:cNvPicPr>
            <a:picLocks noChangeAspect="1"/>
          </p:cNvPicPr>
          <p:nvPr/>
        </p:nvPicPr>
        <p:blipFill>
          <a:blip r:embed="rId3"/>
          <a:stretch>
            <a:fillRect/>
          </a:stretch>
        </p:blipFill>
        <p:spPr>
          <a:xfrm>
            <a:off x="304450" y="1891895"/>
            <a:ext cx="3949498" cy="2530147"/>
          </a:xfrm>
          <a:prstGeom prst="rect">
            <a:avLst/>
          </a:prstGeom>
          <a:ln>
            <a:noFill/>
          </a:ln>
        </p:spPr>
      </p:pic>
      <p:sp>
        <p:nvSpPr>
          <p:cNvPr id="2" name="Text 0">
            <a:extLst>
              <a:ext uri="{FF2B5EF4-FFF2-40B4-BE49-F238E27FC236}">
                <a16:creationId xmlns:a16="http://schemas.microsoft.com/office/drawing/2014/main" id="{B983C37C-C0F4-8406-31A0-15BDE5A20889}"/>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EDA INSIGHTS</a:t>
            </a:r>
            <a:endParaRPr lang="en-US" sz="1250" dirty="0"/>
          </a:p>
        </p:txBody>
      </p:sp>
      <p:sp>
        <p:nvSpPr>
          <p:cNvPr id="3" name="Text 0">
            <a:extLst>
              <a:ext uri="{FF2B5EF4-FFF2-40B4-BE49-F238E27FC236}">
                <a16:creationId xmlns:a16="http://schemas.microsoft.com/office/drawing/2014/main" id="{F4A5EF68-E8AA-0A02-B9C9-1CB6EDD9D3FA}"/>
              </a:ext>
            </a:extLst>
          </p:cNvPr>
          <p:cNvSpPr>
            <a:spLocks noGrp="1"/>
          </p:cNvSpPr>
          <p:nvPr>
            <p:ph type="title" idx="101" hasCustomPrompt="1"/>
          </p:nvPr>
        </p:nvSpPr>
        <p:spPr>
          <a:xfrm>
            <a:off x="270847" y="508360"/>
            <a:ext cx="5991408" cy="637534"/>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EDA – Rider </a:t>
            </a:r>
            <a:r>
              <a:rPr lang="en-US" sz="3300" b="1" dirty="0" err="1">
                <a:solidFill>
                  <a:srgbClr val="0F2C48"/>
                </a:solidFill>
                <a:latin typeface="Calibri Light" pitchFamily="34" charset="0"/>
                <a:ea typeface="Calibri Light" pitchFamily="34" charset="-122"/>
                <a:cs typeface="Calibri Light" pitchFamily="34" charset="-120"/>
              </a:rPr>
              <a:t>behaviour</a:t>
            </a:r>
            <a:r>
              <a:rPr lang="en-US" sz="3300" b="1" dirty="0">
                <a:solidFill>
                  <a:srgbClr val="0F2C48"/>
                </a:solidFill>
                <a:latin typeface="Calibri Light" pitchFamily="34" charset="0"/>
                <a:ea typeface="Calibri Light" pitchFamily="34" charset="-122"/>
                <a:cs typeface="Calibri Light" pitchFamily="34" charset="-120"/>
              </a:rPr>
              <a:t> Patterns.</a:t>
            </a:r>
            <a:endParaRPr lang="en-US" sz="3300" dirty="0"/>
          </a:p>
        </p:txBody>
      </p:sp>
      <p:sp>
        <p:nvSpPr>
          <p:cNvPr id="22" name="Text 19">
            <a:extLst>
              <a:ext uri="{FF2B5EF4-FFF2-40B4-BE49-F238E27FC236}">
                <a16:creationId xmlns:a16="http://schemas.microsoft.com/office/drawing/2014/main" id="{F9A07F95-0CD9-728B-9FEE-99E85FC8E552}"/>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05</a:t>
            </a:r>
            <a:endParaRPr lang="en-US" sz="1100" dirty="0"/>
          </a:p>
        </p:txBody>
      </p:sp>
      <p:sp>
        <p:nvSpPr>
          <p:cNvPr id="23" name="Text 20">
            <a:extLst>
              <a:ext uri="{FF2B5EF4-FFF2-40B4-BE49-F238E27FC236}">
                <a16:creationId xmlns:a16="http://schemas.microsoft.com/office/drawing/2014/main" id="{42904E98-5305-AD27-CAC5-B17D98054CB0}"/>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4" name="Text 21">
            <a:extLst>
              <a:ext uri="{FF2B5EF4-FFF2-40B4-BE49-F238E27FC236}">
                <a16:creationId xmlns:a16="http://schemas.microsoft.com/office/drawing/2014/main" id="{AF4A71DF-A407-9EB2-61DE-12208ADBBCF4}"/>
              </a:ext>
            </a:extLst>
          </p:cNvPr>
          <p:cNvSpPr/>
          <p:nvPr/>
        </p:nvSpPr>
        <p:spPr>
          <a:xfrm>
            <a:off x="3474720" y="4704588"/>
            <a:ext cx="3108960" cy="274320"/>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
        <p:nvSpPr>
          <p:cNvPr id="26" name="Text 18">
            <a:extLst>
              <a:ext uri="{FF2B5EF4-FFF2-40B4-BE49-F238E27FC236}">
                <a16:creationId xmlns:a16="http://schemas.microsoft.com/office/drawing/2014/main" id="{1DD13815-F8AF-026C-40E9-81F126CCBD03}"/>
              </a:ext>
            </a:extLst>
          </p:cNvPr>
          <p:cNvSpPr/>
          <p:nvPr/>
        </p:nvSpPr>
        <p:spPr>
          <a:xfrm>
            <a:off x="4740965" y="1827802"/>
            <a:ext cx="3279913" cy="945215"/>
          </a:xfrm>
          <a:prstGeom prst="rect">
            <a:avLst/>
          </a:prstGeom>
          <a:noFill/>
          <a:ln/>
        </p:spPr>
        <p:txBody>
          <a:bodyPr wrap="square" lIns="0" tIns="0" rIns="0" bIns="0" rtlCol="0" anchor="ctr"/>
          <a:lstStyle/>
          <a:p>
            <a:pPr marL="0" indent="0">
              <a:buNone/>
            </a:pPr>
            <a:r>
              <a:rPr lang="en-GB" sz="1300" b="1" dirty="0">
                <a:solidFill>
                  <a:srgbClr val="16436B"/>
                </a:solidFill>
                <a:latin typeface="Calibri" pitchFamily="34" charset="0"/>
                <a:ea typeface="Calibri" pitchFamily="34" charset="-122"/>
                <a:cs typeface="Calibri" pitchFamily="34" charset="-120"/>
              </a:rPr>
              <a:t>Targeted retention should focus on the top 10–15% high‑risk riders</a:t>
            </a:r>
            <a:endParaRPr lang="en-US" sz="1300" dirty="0"/>
          </a:p>
        </p:txBody>
      </p:sp>
      <p:sp>
        <p:nvSpPr>
          <p:cNvPr id="28" name="Text 18">
            <a:extLst>
              <a:ext uri="{FF2B5EF4-FFF2-40B4-BE49-F238E27FC236}">
                <a16:creationId xmlns:a16="http://schemas.microsoft.com/office/drawing/2014/main" id="{E287E17B-3EE6-AE0F-91A7-99C96867FE4A}"/>
              </a:ext>
            </a:extLst>
          </p:cNvPr>
          <p:cNvSpPr/>
          <p:nvPr/>
        </p:nvSpPr>
        <p:spPr>
          <a:xfrm>
            <a:off x="505326" y="1184548"/>
            <a:ext cx="3525252" cy="463778"/>
          </a:xfrm>
          <a:prstGeom prst="rect">
            <a:avLst/>
          </a:prstGeom>
          <a:noFill/>
          <a:ln/>
        </p:spPr>
        <p:txBody>
          <a:bodyPr wrap="square" lIns="0" tIns="0" rIns="0" bIns="0" rtlCol="0" anchor="ctr"/>
          <a:lstStyle/>
          <a:p>
            <a:pPr marL="0" indent="0">
              <a:buNone/>
            </a:pPr>
            <a:r>
              <a:rPr lang="en-US" sz="2000" b="1" dirty="0">
                <a:solidFill>
                  <a:srgbClr val="16436B"/>
                </a:solidFill>
                <a:latin typeface="Calibri" pitchFamily="34" charset="0"/>
                <a:ea typeface="Calibri" pitchFamily="34" charset="-122"/>
                <a:cs typeface="Calibri" pitchFamily="34" charset="-120"/>
              </a:rPr>
              <a:t>A. Churn Probability Distribution</a:t>
            </a:r>
            <a:endParaRPr lang="en-US" sz="2000" dirty="0"/>
          </a:p>
        </p:txBody>
      </p:sp>
    </p:spTree>
    <p:extLst>
      <p:ext uri="{BB962C8B-B14F-4D97-AF65-F5344CB8AC3E}">
        <p14:creationId xmlns:p14="http://schemas.microsoft.com/office/powerpoint/2010/main" val="1695567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853C8-3073-1572-C18C-F1EBCF2EC175}"/>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F08F322E-2207-4B8C-5E7C-E7D628E1E196}"/>
              </a:ext>
            </a:extLst>
          </p:cNvPr>
          <p:cNvPicPr>
            <a:picLocks noChangeAspect="1"/>
          </p:cNvPicPr>
          <p:nvPr/>
        </p:nvPicPr>
        <p:blipFill>
          <a:blip r:embed="rId3"/>
          <a:stretch>
            <a:fillRect/>
          </a:stretch>
        </p:blipFill>
        <p:spPr>
          <a:xfrm>
            <a:off x="308112" y="1513478"/>
            <a:ext cx="5198166" cy="3353523"/>
          </a:xfrm>
          <a:prstGeom prst="rect">
            <a:avLst/>
          </a:prstGeom>
          <a:ln>
            <a:noFill/>
          </a:ln>
        </p:spPr>
      </p:pic>
      <p:sp>
        <p:nvSpPr>
          <p:cNvPr id="2" name="Text 0">
            <a:extLst>
              <a:ext uri="{FF2B5EF4-FFF2-40B4-BE49-F238E27FC236}">
                <a16:creationId xmlns:a16="http://schemas.microsoft.com/office/drawing/2014/main" id="{4356D6C6-FF8C-2C9F-EED1-C6914C6256DE}"/>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EDA INSIGHTS</a:t>
            </a:r>
            <a:endParaRPr lang="en-US" sz="1250" dirty="0"/>
          </a:p>
        </p:txBody>
      </p:sp>
      <p:sp>
        <p:nvSpPr>
          <p:cNvPr id="3" name="Text 0">
            <a:extLst>
              <a:ext uri="{FF2B5EF4-FFF2-40B4-BE49-F238E27FC236}">
                <a16:creationId xmlns:a16="http://schemas.microsoft.com/office/drawing/2014/main" id="{B2209263-EA63-8310-85D6-AAFBC8C50E43}"/>
              </a:ext>
            </a:extLst>
          </p:cNvPr>
          <p:cNvSpPr>
            <a:spLocks noGrp="1"/>
          </p:cNvSpPr>
          <p:nvPr>
            <p:ph type="title" idx="101" hasCustomPrompt="1"/>
          </p:nvPr>
        </p:nvSpPr>
        <p:spPr>
          <a:xfrm>
            <a:off x="270847" y="508360"/>
            <a:ext cx="5412323" cy="637534"/>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EDA – </a:t>
            </a:r>
            <a:r>
              <a:rPr lang="en-US" dirty="0"/>
              <a:t>Engagement Trends</a:t>
            </a:r>
            <a:r>
              <a:rPr lang="en-US" sz="3300" b="1" dirty="0">
                <a:solidFill>
                  <a:srgbClr val="0F2C48"/>
                </a:solidFill>
                <a:latin typeface="Calibri Light" pitchFamily="34" charset="0"/>
                <a:ea typeface="Calibri Light" pitchFamily="34" charset="-122"/>
                <a:cs typeface="Calibri Light" pitchFamily="34" charset="-120"/>
              </a:rPr>
              <a:t>.</a:t>
            </a:r>
            <a:endParaRPr lang="en-US" sz="3300" dirty="0"/>
          </a:p>
        </p:txBody>
      </p:sp>
      <p:sp>
        <p:nvSpPr>
          <p:cNvPr id="22" name="Text 19">
            <a:extLst>
              <a:ext uri="{FF2B5EF4-FFF2-40B4-BE49-F238E27FC236}">
                <a16:creationId xmlns:a16="http://schemas.microsoft.com/office/drawing/2014/main" id="{D02EEC78-196B-8EF5-6239-A332C7157179}"/>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05</a:t>
            </a:r>
            <a:endParaRPr lang="en-US" sz="1100" dirty="0"/>
          </a:p>
        </p:txBody>
      </p:sp>
      <p:sp>
        <p:nvSpPr>
          <p:cNvPr id="23" name="Text 20">
            <a:extLst>
              <a:ext uri="{FF2B5EF4-FFF2-40B4-BE49-F238E27FC236}">
                <a16:creationId xmlns:a16="http://schemas.microsoft.com/office/drawing/2014/main" id="{F1CDB1BC-100D-4896-BE81-EB509A1B6037}"/>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4" name="Text 21">
            <a:extLst>
              <a:ext uri="{FF2B5EF4-FFF2-40B4-BE49-F238E27FC236}">
                <a16:creationId xmlns:a16="http://schemas.microsoft.com/office/drawing/2014/main" id="{F25BC7C2-F1B6-4F4C-0B70-F650B83BAC84}"/>
              </a:ext>
            </a:extLst>
          </p:cNvPr>
          <p:cNvSpPr/>
          <p:nvPr/>
        </p:nvSpPr>
        <p:spPr>
          <a:xfrm>
            <a:off x="3474720" y="4704588"/>
            <a:ext cx="3108960" cy="274320"/>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
        <p:nvSpPr>
          <p:cNvPr id="31" name="Text 18">
            <a:extLst>
              <a:ext uri="{FF2B5EF4-FFF2-40B4-BE49-F238E27FC236}">
                <a16:creationId xmlns:a16="http://schemas.microsoft.com/office/drawing/2014/main" id="{56E9FBE8-E279-7008-C137-326DEE8A8841}"/>
              </a:ext>
            </a:extLst>
          </p:cNvPr>
          <p:cNvSpPr/>
          <p:nvPr/>
        </p:nvSpPr>
        <p:spPr>
          <a:xfrm>
            <a:off x="464697" y="1036159"/>
            <a:ext cx="4679957" cy="463778"/>
          </a:xfrm>
          <a:prstGeom prst="rect">
            <a:avLst/>
          </a:prstGeom>
          <a:noFill/>
          <a:ln/>
        </p:spPr>
        <p:txBody>
          <a:bodyPr wrap="square" lIns="0" tIns="0" rIns="0" bIns="0" rtlCol="0" anchor="ctr"/>
          <a:lstStyle/>
          <a:p>
            <a:pPr marL="0" indent="0">
              <a:buNone/>
            </a:pPr>
            <a:r>
              <a:rPr lang="en-US" sz="2000" b="1" dirty="0">
                <a:solidFill>
                  <a:srgbClr val="16436B"/>
                </a:solidFill>
                <a:latin typeface="Calibri" pitchFamily="34" charset="0"/>
                <a:ea typeface="Calibri" pitchFamily="34" charset="-122"/>
                <a:cs typeface="Calibri" pitchFamily="34" charset="-120"/>
              </a:rPr>
              <a:t>B. Engagement trend: total trips made. </a:t>
            </a:r>
            <a:endParaRPr lang="en-US" sz="2000" dirty="0"/>
          </a:p>
        </p:txBody>
      </p:sp>
      <p:sp>
        <p:nvSpPr>
          <p:cNvPr id="36" name="Text 18">
            <a:extLst>
              <a:ext uri="{FF2B5EF4-FFF2-40B4-BE49-F238E27FC236}">
                <a16:creationId xmlns:a16="http://schemas.microsoft.com/office/drawing/2014/main" id="{72CFC1AC-5134-35CA-A143-393A3955000A}"/>
              </a:ext>
            </a:extLst>
          </p:cNvPr>
          <p:cNvSpPr/>
          <p:nvPr/>
        </p:nvSpPr>
        <p:spPr>
          <a:xfrm>
            <a:off x="6023113" y="1938131"/>
            <a:ext cx="2276061" cy="1083365"/>
          </a:xfrm>
          <a:prstGeom prst="rect">
            <a:avLst/>
          </a:prstGeom>
          <a:noFill/>
          <a:ln/>
        </p:spPr>
        <p:txBody>
          <a:bodyPr wrap="square" lIns="0" tIns="0" rIns="0" bIns="0" rtlCol="0" anchor="ctr"/>
          <a:lstStyle/>
          <a:p>
            <a:pPr marL="285750" indent="-285750">
              <a:buFont typeface="Arial" panose="020B0604020202020204" pitchFamily="34" charset="0"/>
              <a:buChar char="•"/>
            </a:pPr>
            <a:r>
              <a:rPr lang="en-GB" sz="1300" b="1" dirty="0">
                <a:solidFill>
                  <a:srgbClr val="16436B"/>
                </a:solidFill>
                <a:latin typeface="Calibri" pitchFamily="34" charset="0"/>
                <a:ea typeface="Calibri" pitchFamily="34" charset="-122"/>
                <a:cs typeface="Calibri" pitchFamily="34" charset="-120"/>
              </a:rPr>
              <a:t>Fewer trips, higher churn: Higher trips, lower churn</a:t>
            </a:r>
          </a:p>
          <a:p>
            <a:pPr marL="285750" indent="-285750">
              <a:buFont typeface="Arial" panose="020B0604020202020204" pitchFamily="34" charset="0"/>
              <a:buChar char="•"/>
            </a:pPr>
            <a:r>
              <a:rPr lang="en-US" sz="1300" b="1" dirty="0">
                <a:solidFill>
                  <a:srgbClr val="16436B"/>
                </a:solidFill>
                <a:latin typeface="Calibri" pitchFamily="34" charset="0"/>
                <a:ea typeface="Calibri" pitchFamily="34" charset="-122"/>
                <a:cs typeface="Calibri" pitchFamily="34" charset="-120"/>
              </a:rPr>
              <a:t>Trip Activity is a strong indicator of loyalty. </a:t>
            </a:r>
          </a:p>
        </p:txBody>
      </p:sp>
    </p:spTree>
    <p:extLst>
      <p:ext uri="{BB962C8B-B14F-4D97-AF65-F5344CB8AC3E}">
        <p14:creationId xmlns:p14="http://schemas.microsoft.com/office/powerpoint/2010/main" val="3407457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73885-CDEC-1A6C-559E-935504DBD4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A71C9D-3838-8BD6-FC58-1CB5C53A72CD}"/>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EDA INSIGHTS</a:t>
            </a:r>
            <a:endParaRPr lang="en-US" sz="1250" dirty="0"/>
          </a:p>
        </p:txBody>
      </p:sp>
      <p:sp>
        <p:nvSpPr>
          <p:cNvPr id="22" name="Text 19">
            <a:extLst>
              <a:ext uri="{FF2B5EF4-FFF2-40B4-BE49-F238E27FC236}">
                <a16:creationId xmlns:a16="http://schemas.microsoft.com/office/drawing/2014/main" id="{A4F144BD-632E-0E62-CAAE-033CEA27130D}"/>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05</a:t>
            </a:r>
            <a:endParaRPr lang="en-US" sz="1100" dirty="0"/>
          </a:p>
        </p:txBody>
      </p:sp>
      <p:sp>
        <p:nvSpPr>
          <p:cNvPr id="23" name="Text 20">
            <a:extLst>
              <a:ext uri="{FF2B5EF4-FFF2-40B4-BE49-F238E27FC236}">
                <a16:creationId xmlns:a16="http://schemas.microsoft.com/office/drawing/2014/main" id="{1B71A0C3-A4C1-7FBF-3ADF-86141E66592F}"/>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4" name="Text 21">
            <a:extLst>
              <a:ext uri="{FF2B5EF4-FFF2-40B4-BE49-F238E27FC236}">
                <a16:creationId xmlns:a16="http://schemas.microsoft.com/office/drawing/2014/main" id="{681117B9-04F5-2491-D6E4-E83B2AFDC48D}"/>
              </a:ext>
            </a:extLst>
          </p:cNvPr>
          <p:cNvSpPr/>
          <p:nvPr/>
        </p:nvSpPr>
        <p:spPr>
          <a:xfrm>
            <a:off x="2923673" y="4844876"/>
            <a:ext cx="2889985" cy="298624"/>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
        <p:nvSpPr>
          <p:cNvPr id="26" name="Text 18">
            <a:extLst>
              <a:ext uri="{FF2B5EF4-FFF2-40B4-BE49-F238E27FC236}">
                <a16:creationId xmlns:a16="http://schemas.microsoft.com/office/drawing/2014/main" id="{ABEAD5D8-AE79-F6E0-3598-D0EAB59DE65A}"/>
              </a:ext>
            </a:extLst>
          </p:cNvPr>
          <p:cNvSpPr/>
          <p:nvPr/>
        </p:nvSpPr>
        <p:spPr>
          <a:xfrm>
            <a:off x="382396" y="4212148"/>
            <a:ext cx="4078705" cy="351483"/>
          </a:xfrm>
          <a:prstGeom prst="rect">
            <a:avLst/>
          </a:prstGeom>
          <a:noFill/>
          <a:ln/>
        </p:spPr>
        <p:txBody>
          <a:bodyPr wrap="square" lIns="0" tIns="0" rIns="0" bIns="0" rtlCol="0" anchor="ctr"/>
          <a:lstStyle/>
          <a:p>
            <a:r>
              <a:rPr lang="en-GB" sz="1300" b="1" dirty="0">
                <a:solidFill>
                  <a:srgbClr val="16436B"/>
                </a:solidFill>
                <a:latin typeface="Calibri" pitchFamily="34" charset="0"/>
                <a:ea typeface="Calibri" pitchFamily="34" charset="-122"/>
                <a:cs typeface="Calibri" pitchFamily="34" charset="-120"/>
              </a:rPr>
              <a:t>App Engagement: low engagement suggests a likelihood of churning. </a:t>
            </a:r>
            <a:endParaRPr lang="en-US" sz="1300" dirty="0"/>
          </a:p>
        </p:txBody>
      </p:sp>
      <p:sp>
        <p:nvSpPr>
          <p:cNvPr id="28" name="Text 18">
            <a:extLst>
              <a:ext uri="{FF2B5EF4-FFF2-40B4-BE49-F238E27FC236}">
                <a16:creationId xmlns:a16="http://schemas.microsoft.com/office/drawing/2014/main" id="{9EF07592-4269-535F-82D1-98A421247626}"/>
              </a:ext>
            </a:extLst>
          </p:cNvPr>
          <p:cNvSpPr/>
          <p:nvPr/>
        </p:nvSpPr>
        <p:spPr>
          <a:xfrm>
            <a:off x="587978" y="816800"/>
            <a:ext cx="4104095" cy="463778"/>
          </a:xfrm>
          <a:prstGeom prst="rect">
            <a:avLst/>
          </a:prstGeom>
          <a:noFill/>
          <a:ln/>
        </p:spPr>
        <p:txBody>
          <a:bodyPr wrap="square" lIns="0" tIns="0" rIns="0" bIns="0" rtlCol="0" anchor="ctr"/>
          <a:lstStyle/>
          <a:p>
            <a:pPr marL="0" indent="0">
              <a:buNone/>
            </a:pPr>
            <a:r>
              <a:rPr lang="en-US" sz="2000" b="1" dirty="0">
                <a:solidFill>
                  <a:srgbClr val="16436B"/>
                </a:solidFill>
                <a:latin typeface="Calibri" pitchFamily="34" charset="0"/>
                <a:ea typeface="Calibri" pitchFamily="34" charset="-122"/>
                <a:cs typeface="Calibri" pitchFamily="34" charset="-120"/>
              </a:rPr>
              <a:t>C. Engagement Pattern pages </a:t>
            </a:r>
            <a:r>
              <a:rPr lang="en-US" sz="2000" b="1" dirty="0" err="1">
                <a:solidFill>
                  <a:srgbClr val="16436B"/>
                </a:solidFill>
                <a:latin typeface="Calibri" pitchFamily="34" charset="0"/>
                <a:ea typeface="Calibri" pitchFamily="34" charset="-122"/>
                <a:cs typeface="Calibri" pitchFamily="34" charset="-120"/>
              </a:rPr>
              <a:t>visted</a:t>
            </a:r>
            <a:endParaRPr lang="en-US" sz="2000" dirty="0"/>
          </a:p>
        </p:txBody>
      </p:sp>
      <p:sp>
        <p:nvSpPr>
          <p:cNvPr id="36" name="Text 18">
            <a:extLst>
              <a:ext uri="{FF2B5EF4-FFF2-40B4-BE49-F238E27FC236}">
                <a16:creationId xmlns:a16="http://schemas.microsoft.com/office/drawing/2014/main" id="{7EC66454-0BE0-A228-33E9-66F5DB976425}"/>
              </a:ext>
            </a:extLst>
          </p:cNvPr>
          <p:cNvSpPr/>
          <p:nvPr/>
        </p:nvSpPr>
        <p:spPr>
          <a:xfrm>
            <a:off x="4884821" y="4403558"/>
            <a:ext cx="4162926" cy="397042"/>
          </a:xfrm>
          <a:prstGeom prst="rect">
            <a:avLst/>
          </a:prstGeom>
          <a:noFill/>
          <a:ln/>
        </p:spPr>
        <p:txBody>
          <a:bodyPr wrap="square" lIns="0" tIns="0" rIns="0" bIns="0" rtlCol="0" anchor="ctr"/>
          <a:lstStyle/>
          <a:p>
            <a:pPr marL="0" indent="0">
              <a:buNone/>
            </a:pPr>
            <a:r>
              <a:rPr lang="en-GB" sz="1300" b="1" dirty="0">
                <a:solidFill>
                  <a:srgbClr val="16436B"/>
                </a:solidFill>
                <a:latin typeface="Calibri" pitchFamily="34" charset="0"/>
                <a:ea typeface="Calibri" pitchFamily="34" charset="-122"/>
                <a:cs typeface="Calibri" pitchFamily="34" charset="-120"/>
              </a:rPr>
              <a:t>Engagement + behaviour = core features for modelling.</a:t>
            </a:r>
            <a:endParaRPr lang="en-US" sz="1300" dirty="0"/>
          </a:p>
        </p:txBody>
      </p:sp>
      <p:pic>
        <p:nvPicPr>
          <p:cNvPr id="38" name="Picture 37">
            <a:extLst>
              <a:ext uri="{FF2B5EF4-FFF2-40B4-BE49-F238E27FC236}">
                <a16:creationId xmlns:a16="http://schemas.microsoft.com/office/drawing/2014/main" id="{3B041D93-50ED-611A-70F8-99C7DA696E82}"/>
              </a:ext>
            </a:extLst>
          </p:cNvPr>
          <p:cNvPicPr>
            <a:picLocks noChangeAspect="1"/>
          </p:cNvPicPr>
          <p:nvPr/>
        </p:nvPicPr>
        <p:blipFill>
          <a:blip r:embed="rId3"/>
          <a:stretch>
            <a:fillRect/>
          </a:stretch>
        </p:blipFill>
        <p:spPr>
          <a:xfrm>
            <a:off x="1556274" y="1272210"/>
            <a:ext cx="4379480" cy="2822712"/>
          </a:xfrm>
          <a:prstGeom prst="rect">
            <a:avLst/>
          </a:prstGeom>
        </p:spPr>
      </p:pic>
      <p:sp>
        <p:nvSpPr>
          <p:cNvPr id="6" name="Text 0">
            <a:extLst>
              <a:ext uri="{FF2B5EF4-FFF2-40B4-BE49-F238E27FC236}">
                <a16:creationId xmlns:a16="http://schemas.microsoft.com/office/drawing/2014/main" id="{5C6C1ACD-C8EF-B88D-C726-F71509367509}"/>
              </a:ext>
            </a:extLst>
          </p:cNvPr>
          <p:cNvSpPr txBox="1">
            <a:spLocks/>
          </p:cNvSpPr>
          <p:nvPr/>
        </p:nvSpPr>
        <p:spPr>
          <a:xfrm>
            <a:off x="421318" y="427338"/>
            <a:ext cx="5412323" cy="637534"/>
          </a:xfrm>
          <a:prstGeom prst="rect">
            <a:avLst/>
          </a:prstGeom>
          <a:noFill/>
          <a:ln/>
        </p:spPr>
        <p:txBody>
          <a:bodyPr wrap="square" rtlCol="0" anchor="t"/>
          <a:lstStyle>
            <a:lvl1pPr marL="0" indent="0" algn="l" defTabSz="914400" rtl="0" eaLnBrk="1" latinLnBrk="0" hangingPunct="1">
              <a:spcBef>
                <a:spcPct val="0"/>
              </a:spcBef>
              <a:buNone/>
              <a:defRPr lang="en-US" sz="3300" b="1" kern="1200" dirty="0">
                <a:solidFill>
                  <a:srgbClr val="0F2C48"/>
                </a:solidFill>
                <a:latin typeface="Calibri Light" pitchFamily="34" charset="0"/>
                <a:ea typeface="Calibri Light" pitchFamily="34" charset="-122"/>
                <a:cs typeface="Calibri Light" pitchFamily="34" charset="-120"/>
              </a:defRPr>
            </a:lvl1pPr>
          </a:lstStyle>
          <a:p>
            <a:r>
              <a:rPr lang="en-GB" dirty="0"/>
              <a:t>EDA – ENGAGEMENT ANALYSIS.</a:t>
            </a:r>
          </a:p>
        </p:txBody>
      </p:sp>
    </p:spTree>
    <p:extLst>
      <p:ext uri="{BB962C8B-B14F-4D97-AF65-F5344CB8AC3E}">
        <p14:creationId xmlns:p14="http://schemas.microsoft.com/office/powerpoint/2010/main" val="2967335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9B83-354F-35F8-3963-55A744B4218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F3E72B-3CB1-D940-2DE5-E5E16B34E411}"/>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EDA INSIGHTS</a:t>
            </a:r>
            <a:endParaRPr lang="en-US" sz="1250" dirty="0"/>
          </a:p>
        </p:txBody>
      </p:sp>
      <p:sp>
        <p:nvSpPr>
          <p:cNvPr id="22" name="Text 19">
            <a:extLst>
              <a:ext uri="{FF2B5EF4-FFF2-40B4-BE49-F238E27FC236}">
                <a16:creationId xmlns:a16="http://schemas.microsoft.com/office/drawing/2014/main" id="{6EEAF323-3495-147C-9ED5-BF8AE53D3CFC}"/>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05</a:t>
            </a:r>
            <a:endParaRPr lang="en-US" sz="1100" dirty="0"/>
          </a:p>
        </p:txBody>
      </p:sp>
      <p:sp>
        <p:nvSpPr>
          <p:cNvPr id="23" name="Text 20">
            <a:extLst>
              <a:ext uri="{FF2B5EF4-FFF2-40B4-BE49-F238E27FC236}">
                <a16:creationId xmlns:a16="http://schemas.microsoft.com/office/drawing/2014/main" id="{FF6E5A7A-D648-9E6E-936E-2F8D271AD790}"/>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4" name="Text 21">
            <a:extLst>
              <a:ext uri="{FF2B5EF4-FFF2-40B4-BE49-F238E27FC236}">
                <a16:creationId xmlns:a16="http://schemas.microsoft.com/office/drawing/2014/main" id="{F4178002-70DB-8BCD-324C-8A6677221B5E}"/>
              </a:ext>
            </a:extLst>
          </p:cNvPr>
          <p:cNvSpPr/>
          <p:nvPr/>
        </p:nvSpPr>
        <p:spPr>
          <a:xfrm>
            <a:off x="2923673" y="4844876"/>
            <a:ext cx="2889985" cy="298624"/>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
        <p:nvSpPr>
          <p:cNvPr id="26" name="Text 18">
            <a:extLst>
              <a:ext uri="{FF2B5EF4-FFF2-40B4-BE49-F238E27FC236}">
                <a16:creationId xmlns:a16="http://schemas.microsoft.com/office/drawing/2014/main" id="{29238AA9-7B09-9AA4-6FB2-DFDF35C08357}"/>
              </a:ext>
            </a:extLst>
          </p:cNvPr>
          <p:cNvSpPr/>
          <p:nvPr/>
        </p:nvSpPr>
        <p:spPr>
          <a:xfrm>
            <a:off x="6067578" y="1707486"/>
            <a:ext cx="2571095" cy="650703"/>
          </a:xfrm>
          <a:prstGeom prst="rect">
            <a:avLst/>
          </a:prstGeom>
          <a:noFill/>
          <a:ln/>
        </p:spPr>
        <p:txBody>
          <a:bodyPr wrap="square" lIns="0" tIns="0" rIns="0" bIns="0" rtlCol="0" anchor="ctr"/>
          <a:lstStyle/>
          <a:p>
            <a:r>
              <a:rPr lang="en-GB" sz="1300" b="1" dirty="0">
                <a:solidFill>
                  <a:srgbClr val="16436B"/>
                </a:solidFill>
                <a:latin typeface="Calibri" pitchFamily="34" charset="0"/>
                <a:ea typeface="Calibri" pitchFamily="34" charset="-122"/>
                <a:cs typeface="Calibri" pitchFamily="34" charset="-120"/>
              </a:rPr>
              <a:t>App Engagement -  low engagement suggests a likelihood of churning. </a:t>
            </a:r>
            <a:endParaRPr lang="en-US" sz="1300" dirty="0"/>
          </a:p>
        </p:txBody>
      </p:sp>
      <p:sp>
        <p:nvSpPr>
          <p:cNvPr id="31" name="Text 18">
            <a:extLst>
              <a:ext uri="{FF2B5EF4-FFF2-40B4-BE49-F238E27FC236}">
                <a16:creationId xmlns:a16="http://schemas.microsoft.com/office/drawing/2014/main" id="{BBA7883D-5247-F5CD-6CE7-F6FE3E6F5370}"/>
              </a:ext>
            </a:extLst>
          </p:cNvPr>
          <p:cNvSpPr/>
          <p:nvPr/>
        </p:nvSpPr>
        <p:spPr>
          <a:xfrm>
            <a:off x="489285" y="768077"/>
            <a:ext cx="1375610" cy="557812"/>
          </a:xfrm>
          <a:prstGeom prst="rect">
            <a:avLst/>
          </a:prstGeom>
          <a:noFill/>
          <a:ln/>
        </p:spPr>
        <p:txBody>
          <a:bodyPr wrap="square" lIns="0" tIns="0" rIns="0" bIns="0" rtlCol="0" anchor="ctr"/>
          <a:lstStyle/>
          <a:p>
            <a:pPr marL="0" indent="0">
              <a:buNone/>
            </a:pPr>
            <a:r>
              <a:rPr lang="en-US" sz="2000" b="1" dirty="0">
                <a:solidFill>
                  <a:srgbClr val="16436B"/>
                </a:solidFill>
                <a:latin typeface="Calibri" pitchFamily="34" charset="0"/>
                <a:ea typeface="Calibri" pitchFamily="34" charset="-122"/>
                <a:cs typeface="Calibri" pitchFamily="34" charset="-120"/>
              </a:rPr>
              <a:t>D. Heatmap. </a:t>
            </a:r>
            <a:endParaRPr lang="en-US" sz="2000" dirty="0"/>
          </a:p>
        </p:txBody>
      </p:sp>
      <p:sp>
        <p:nvSpPr>
          <p:cNvPr id="36" name="Text 18">
            <a:extLst>
              <a:ext uri="{FF2B5EF4-FFF2-40B4-BE49-F238E27FC236}">
                <a16:creationId xmlns:a16="http://schemas.microsoft.com/office/drawing/2014/main" id="{AB8C7E5E-5F6C-6D8C-91A9-BA8081393B39}"/>
              </a:ext>
            </a:extLst>
          </p:cNvPr>
          <p:cNvSpPr/>
          <p:nvPr/>
        </p:nvSpPr>
        <p:spPr>
          <a:xfrm>
            <a:off x="6124074" y="2502568"/>
            <a:ext cx="2851484" cy="721895"/>
          </a:xfrm>
          <a:prstGeom prst="rect">
            <a:avLst/>
          </a:prstGeom>
          <a:noFill/>
          <a:ln/>
        </p:spPr>
        <p:txBody>
          <a:bodyPr wrap="square" lIns="0" tIns="0" rIns="0" bIns="0" rtlCol="0" anchor="ctr"/>
          <a:lstStyle/>
          <a:p>
            <a:pPr marL="0" indent="0">
              <a:buNone/>
            </a:pPr>
            <a:r>
              <a:rPr lang="en-GB" sz="1300" b="1" dirty="0">
                <a:solidFill>
                  <a:srgbClr val="16436B"/>
                </a:solidFill>
                <a:latin typeface="Calibri" pitchFamily="34" charset="0"/>
                <a:ea typeface="Calibri" pitchFamily="34" charset="-122"/>
                <a:cs typeface="Calibri" pitchFamily="34" charset="-120"/>
              </a:rPr>
              <a:t>Engagement + behaviour = core features for modelling.</a:t>
            </a:r>
            <a:endParaRPr lang="en-US" sz="1300" dirty="0"/>
          </a:p>
        </p:txBody>
      </p:sp>
      <p:pic>
        <p:nvPicPr>
          <p:cNvPr id="40" name="Picture 39">
            <a:extLst>
              <a:ext uri="{FF2B5EF4-FFF2-40B4-BE49-F238E27FC236}">
                <a16:creationId xmlns:a16="http://schemas.microsoft.com/office/drawing/2014/main" id="{39754122-EF68-AA9C-283F-FDDC1516B511}"/>
              </a:ext>
            </a:extLst>
          </p:cNvPr>
          <p:cNvPicPr>
            <a:picLocks noChangeAspect="1"/>
          </p:cNvPicPr>
          <p:nvPr/>
        </p:nvPicPr>
        <p:blipFill>
          <a:blip r:embed="rId3"/>
          <a:stretch>
            <a:fillRect/>
          </a:stretch>
        </p:blipFill>
        <p:spPr>
          <a:xfrm>
            <a:off x="992827" y="1152939"/>
            <a:ext cx="4323415" cy="3563440"/>
          </a:xfrm>
          <a:prstGeom prst="rect">
            <a:avLst/>
          </a:prstGeom>
        </p:spPr>
      </p:pic>
      <p:sp>
        <p:nvSpPr>
          <p:cNvPr id="4" name="Text 0">
            <a:extLst>
              <a:ext uri="{FF2B5EF4-FFF2-40B4-BE49-F238E27FC236}">
                <a16:creationId xmlns:a16="http://schemas.microsoft.com/office/drawing/2014/main" id="{45B82F8F-7F41-9915-ABD4-8EF320CCDA4A}"/>
              </a:ext>
            </a:extLst>
          </p:cNvPr>
          <p:cNvSpPr>
            <a:spLocks noGrp="1"/>
          </p:cNvSpPr>
          <p:nvPr>
            <p:ph type="title" idx="101" hasCustomPrompt="1"/>
          </p:nvPr>
        </p:nvSpPr>
        <p:spPr>
          <a:xfrm>
            <a:off x="236123" y="404188"/>
            <a:ext cx="5979950" cy="637534"/>
          </a:xfrm>
          <a:prstGeom prst="rect">
            <a:avLst/>
          </a:prstGeom>
          <a:noFill/>
          <a:ln/>
        </p:spPr>
        <p:txBody>
          <a:bodyPr wrap="square" rtlCol="0" anchor="t"/>
          <a:lstStyle/>
          <a:p>
            <a:pPr marL="0" indent="0" algn="l">
              <a:buNone/>
            </a:pPr>
            <a:r>
              <a:rPr lang="en-US" dirty="0"/>
              <a:t>EDA – Churn </a:t>
            </a:r>
            <a:r>
              <a:rPr lang="en-US" sz="3300" b="1" dirty="0">
                <a:solidFill>
                  <a:srgbClr val="0F2C48"/>
                </a:solidFill>
                <a:latin typeface="Calibri Light" pitchFamily="34" charset="0"/>
                <a:ea typeface="Calibri Light" pitchFamily="34" charset="-122"/>
                <a:cs typeface="Calibri Light" pitchFamily="34" charset="-120"/>
              </a:rPr>
              <a:t>Correlation.</a:t>
            </a:r>
            <a:endParaRPr lang="en-US" sz="3300" dirty="0"/>
          </a:p>
        </p:txBody>
      </p:sp>
    </p:spTree>
    <p:extLst>
      <p:ext uri="{BB962C8B-B14F-4D97-AF65-F5344CB8AC3E}">
        <p14:creationId xmlns:p14="http://schemas.microsoft.com/office/powerpoint/2010/main" val="2577710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EDA INSIGHTS</a:t>
            </a:r>
            <a:endParaRPr lang="en-US" sz="1250" dirty="0"/>
          </a:p>
        </p:txBody>
      </p:sp>
      <p:sp>
        <p:nvSpPr>
          <p:cNvPr id="22" name="Text 19"/>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05</a:t>
            </a:r>
            <a:endParaRPr lang="en-US" sz="1100" dirty="0"/>
          </a:p>
        </p:txBody>
      </p:sp>
      <p:sp>
        <p:nvSpPr>
          <p:cNvPr id="23" name="Text 20"/>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4" name="Text 21"/>
          <p:cNvSpPr/>
          <p:nvPr/>
        </p:nvSpPr>
        <p:spPr>
          <a:xfrm>
            <a:off x="2923673" y="4844876"/>
            <a:ext cx="2889985" cy="298624"/>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
        <p:nvSpPr>
          <p:cNvPr id="26" name="Text 18">
            <a:extLst>
              <a:ext uri="{FF2B5EF4-FFF2-40B4-BE49-F238E27FC236}">
                <a16:creationId xmlns:a16="http://schemas.microsoft.com/office/drawing/2014/main" id="{E5ACEA30-5254-C6EE-4C8D-6E509A550452}"/>
              </a:ext>
            </a:extLst>
          </p:cNvPr>
          <p:cNvSpPr/>
          <p:nvPr/>
        </p:nvSpPr>
        <p:spPr>
          <a:xfrm>
            <a:off x="312823" y="3943791"/>
            <a:ext cx="2671010" cy="652272"/>
          </a:xfrm>
          <a:prstGeom prst="rect">
            <a:avLst/>
          </a:prstGeom>
          <a:noFill/>
          <a:ln/>
        </p:spPr>
        <p:txBody>
          <a:bodyPr wrap="square" lIns="0" tIns="0" rIns="0" bIns="0" rtlCol="0" anchor="ctr"/>
          <a:lstStyle/>
          <a:p>
            <a:r>
              <a:rPr lang="en-GB" sz="1300" b="1" dirty="0">
                <a:solidFill>
                  <a:srgbClr val="16436B"/>
                </a:solidFill>
                <a:latin typeface="Calibri" pitchFamily="34" charset="0"/>
                <a:ea typeface="Calibri" pitchFamily="34" charset="-122"/>
                <a:cs typeface="Calibri" pitchFamily="34" charset="-120"/>
              </a:rPr>
              <a:t>Bronze riders show the highest churn, </a:t>
            </a:r>
          </a:p>
          <a:p>
            <a:r>
              <a:rPr lang="en-GB" sz="1300" b="1" dirty="0">
                <a:solidFill>
                  <a:srgbClr val="16436B"/>
                </a:solidFill>
                <a:latin typeface="Calibri" pitchFamily="34" charset="0"/>
                <a:ea typeface="Calibri" pitchFamily="34" charset="-122"/>
                <a:cs typeface="Calibri" pitchFamily="34" charset="-120"/>
              </a:rPr>
              <a:t>Silver moderate,</a:t>
            </a:r>
          </a:p>
          <a:p>
            <a:r>
              <a:rPr lang="en-GB" sz="1300" b="1" dirty="0">
                <a:solidFill>
                  <a:srgbClr val="16436B"/>
                </a:solidFill>
                <a:latin typeface="Calibri" pitchFamily="34" charset="0"/>
                <a:ea typeface="Calibri" pitchFamily="34" charset="-122"/>
                <a:cs typeface="Calibri" pitchFamily="34" charset="-120"/>
              </a:rPr>
              <a:t>Gold/Platinum lowest</a:t>
            </a:r>
            <a:endParaRPr lang="en-US" sz="1300" dirty="0"/>
          </a:p>
        </p:txBody>
      </p:sp>
      <p:sp>
        <p:nvSpPr>
          <p:cNvPr id="28" name="Text 18">
            <a:extLst>
              <a:ext uri="{FF2B5EF4-FFF2-40B4-BE49-F238E27FC236}">
                <a16:creationId xmlns:a16="http://schemas.microsoft.com/office/drawing/2014/main" id="{014BD80F-2C55-CF87-DBD0-3C4991E6D57C}"/>
              </a:ext>
            </a:extLst>
          </p:cNvPr>
          <p:cNvSpPr/>
          <p:nvPr/>
        </p:nvSpPr>
        <p:spPr>
          <a:xfrm>
            <a:off x="637673" y="955948"/>
            <a:ext cx="2719137" cy="463778"/>
          </a:xfrm>
          <a:prstGeom prst="rect">
            <a:avLst/>
          </a:prstGeom>
          <a:noFill/>
          <a:ln/>
        </p:spPr>
        <p:txBody>
          <a:bodyPr wrap="square" lIns="0" tIns="0" rIns="0" bIns="0" rtlCol="0" anchor="ctr"/>
          <a:lstStyle/>
          <a:p>
            <a:pPr marL="0" indent="0">
              <a:buNone/>
            </a:pPr>
            <a:r>
              <a:rPr lang="en-US" sz="2000" b="1" dirty="0">
                <a:solidFill>
                  <a:srgbClr val="16436B"/>
                </a:solidFill>
                <a:latin typeface="Calibri" pitchFamily="34" charset="0"/>
                <a:ea typeface="Calibri" pitchFamily="34" charset="-122"/>
                <a:cs typeface="Calibri" pitchFamily="34" charset="-120"/>
              </a:rPr>
              <a:t>E. Loyalty Status </a:t>
            </a:r>
            <a:endParaRPr lang="en-US" sz="2000" dirty="0"/>
          </a:p>
        </p:txBody>
      </p:sp>
      <p:sp>
        <p:nvSpPr>
          <p:cNvPr id="31" name="Text 18">
            <a:extLst>
              <a:ext uri="{FF2B5EF4-FFF2-40B4-BE49-F238E27FC236}">
                <a16:creationId xmlns:a16="http://schemas.microsoft.com/office/drawing/2014/main" id="{2F486E81-BE76-C54E-40D3-D142BCB390E8}"/>
              </a:ext>
            </a:extLst>
          </p:cNvPr>
          <p:cNvSpPr/>
          <p:nvPr/>
        </p:nvSpPr>
        <p:spPr>
          <a:xfrm>
            <a:off x="4424096" y="843654"/>
            <a:ext cx="2759242" cy="515914"/>
          </a:xfrm>
          <a:prstGeom prst="rect">
            <a:avLst/>
          </a:prstGeom>
          <a:noFill/>
          <a:ln/>
        </p:spPr>
        <p:txBody>
          <a:bodyPr wrap="square" lIns="0" tIns="0" rIns="0" bIns="0" rtlCol="0" anchor="ctr"/>
          <a:lstStyle/>
          <a:p>
            <a:pPr marL="0" indent="0">
              <a:buNone/>
            </a:pPr>
            <a:r>
              <a:rPr lang="en-US" sz="2000" b="1" dirty="0">
                <a:solidFill>
                  <a:srgbClr val="16436B"/>
                </a:solidFill>
                <a:latin typeface="Calibri" pitchFamily="34" charset="0"/>
                <a:ea typeface="Calibri" pitchFamily="34" charset="-122"/>
                <a:cs typeface="Calibri" pitchFamily="34" charset="-120"/>
              </a:rPr>
              <a:t>F. City. </a:t>
            </a:r>
            <a:endParaRPr lang="en-US" sz="2000" dirty="0"/>
          </a:p>
        </p:txBody>
      </p:sp>
      <p:sp>
        <p:nvSpPr>
          <p:cNvPr id="36" name="Text 18">
            <a:extLst>
              <a:ext uri="{FF2B5EF4-FFF2-40B4-BE49-F238E27FC236}">
                <a16:creationId xmlns:a16="http://schemas.microsoft.com/office/drawing/2014/main" id="{D45BA385-6250-4ADE-AD04-35359D320CBF}"/>
              </a:ext>
            </a:extLst>
          </p:cNvPr>
          <p:cNvSpPr/>
          <p:nvPr/>
        </p:nvSpPr>
        <p:spPr>
          <a:xfrm>
            <a:off x="4884821" y="4403558"/>
            <a:ext cx="4162926" cy="397042"/>
          </a:xfrm>
          <a:prstGeom prst="rect">
            <a:avLst/>
          </a:prstGeom>
          <a:noFill/>
          <a:ln/>
        </p:spPr>
        <p:txBody>
          <a:bodyPr wrap="square" lIns="0" tIns="0" rIns="0" bIns="0" rtlCol="0" anchor="ctr"/>
          <a:lstStyle/>
          <a:p>
            <a:pPr marL="0" indent="0">
              <a:buNone/>
            </a:pPr>
            <a:r>
              <a:rPr lang="en-GB" sz="1300" b="1" dirty="0">
                <a:solidFill>
                  <a:srgbClr val="16436B"/>
                </a:solidFill>
                <a:latin typeface="Calibri" pitchFamily="34" charset="0"/>
                <a:ea typeface="Calibri" pitchFamily="34" charset="-122"/>
                <a:cs typeface="Calibri" pitchFamily="34" charset="-120"/>
              </a:rPr>
              <a:t>Engagement + behaviour = core features for modelling.</a:t>
            </a:r>
            <a:endParaRPr lang="en-US" sz="1300" dirty="0"/>
          </a:p>
        </p:txBody>
      </p:sp>
      <p:pic>
        <p:nvPicPr>
          <p:cNvPr id="42" name="Picture 41">
            <a:extLst>
              <a:ext uri="{FF2B5EF4-FFF2-40B4-BE49-F238E27FC236}">
                <a16:creationId xmlns:a16="http://schemas.microsoft.com/office/drawing/2014/main" id="{C7BC5D5B-144F-3F63-C5F4-3F3C62E926CA}"/>
              </a:ext>
            </a:extLst>
          </p:cNvPr>
          <p:cNvPicPr>
            <a:picLocks noChangeAspect="1"/>
          </p:cNvPicPr>
          <p:nvPr/>
        </p:nvPicPr>
        <p:blipFill>
          <a:blip r:embed="rId3"/>
          <a:stretch>
            <a:fillRect/>
          </a:stretch>
        </p:blipFill>
        <p:spPr>
          <a:xfrm>
            <a:off x="257388" y="1447776"/>
            <a:ext cx="3713033" cy="2393165"/>
          </a:xfrm>
          <a:prstGeom prst="rect">
            <a:avLst/>
          </a:prstGeom>
        </p:spPr>
      </p:pic>
      <p:pic>
        <p:nvPicPr>
          <p:cNvPr id="44" name="Picture 43">
            <a:extLst>
              <a:ext uri="{FF2B5EF4-FFF2-40B4-BE49-F238E27FC236}">
                <a16:creationId xmlns:a16="http://schemas.microsoft.com/office/drawing/2014/main" id="{72F4975A-0554-FC1B-5F06-BC4CCD3BCC3E}"/>
              </a:ext>
            </a:extLst>
          </p:cNvPr>
          <p:cNvPicPr>
            <a:picLocks noChangeAspect="1"/>
          </p:cNvPicPr>
          <p:nvPr/>
        </p:nvPicPr>
        <p:blipFill>
          <a:blip r:embed="rId4"/>
          <a:stretch>
            <a:fillRect/>
          </a:stretch>
        </p:blipFill>
        <p:spPr>
          <a:xfrm>
            <a:off x="4272234" y="1287379"/>
            <a:ext cx="4197523" cy="2721909"/>
          </a:xfrm>
          <a:prstGeom prst="rect">
            <a:avLst/>
          </a:prstGeom>
        </p:spPr>
      </p:pic>
      <p:sp>
        <p:nvSpPr>
          <p:cNvPr id="6" name="Text 0">
            <a:extLst>
              <a:ext uri="{FF2B5EF4-FFF2-40B4-BE49-F238E27FC236}">
                <a16:creationId xmlns:a16="http://schemas.microsoft.com/office/drawing/2014/main" id="{FAA386FD-B7EE-7033-DB3A-76C6A3702DAE}"/>
              </a:ext>
            </a:extLst>
          </p:cNvPr>
          <p:cNvSpPr txBox="1">
            <a:spLocks/>
          </p:cNvSpPr>
          <p:nvPr/>
        </p:nvSpPr>
        <p:spPr>
          <a:xfrm>
            <a:off x="363444" y="496785"/>
            <a:ext cx="7256556" cy="637534"/>
          </a:xfrm>
          <a:prstGeom prst="rect">
            <a:avLst/>
          </a:prstGeom>
          <a:noFill/>
          <a:ln/>
        </p:spPr>
        <p:txBody>
          <a:bodyPr wrap="square" rtlCol="0" anchor="t"/>
          <a:lstStyle>
            <a:lvl1pPr marL="0" indent="0" algn="l" defTabSz="914400" rtl="0" eaLnBrk="1" latinLnBrk="0" hangingPunct="1">
              <a:spcBef>
                <a:spcPct val="0"/>
              </a:spcBef>
              <a:buNone/>
              <a:defRPr lang="en-US" sz="3300" b="1" kern="1200" dirty="0">
                <a:solidFill>
                  <a:srgbClr val="0F2C48"/>
                </a:solidFill>
                <a:latin typeface="Calibri Light" pitchFamily="34" charset="0"/>
                <a:ea typeface="Calibri Light" pitchFamily="34" charset="-122"/>
                <a:cs typeface="Calibri Light" pitchFamily="34" charset="-120"/>
              </a:defRPr>
            </a:lvl1pPr>
          </a:lstStyle>
          <a:p>
            <a:r>
              <a:rPr lang="en-GB" dirty="0"/>
              <a:t>EDA – Key Distributions: Loyalty and city.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10388-19D8-262E-4932-23290EAF32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CB7F7F2-DAA9-30CE-8CAE-02740B55516F}"/>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EDA INSIGHTS</a:t>
            </a:r>
            <a:endParaRPr lang="en-US" sz="1250" dirty="0"/>
          </a:p>
        </p:txBody>
      </p:sp>
      <p:sp>
        <p:nvSpPr>
          <p:cNvPr id="22" name="Text 19">
            <a:extLst>
              <a:ext uri="{FF2B5EF4-FFF2-40B4-BE49-F238E27FC236}">
                <a16:creationId xmlns:a16="http://schemas.microsoft.com/office/drawing/2014/main" id="{8AE44EA1-041D-A3A9-B49B-8879E2298E3B}"/>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05</a:t>
            </a:r>
            <a:endParaRPr lang="en-US" sz="1100" dirty="0"/>
          </a:p>
        </p:txBody>
      </p:sp>
      <p:sp>
        <p:nvSpPr>
          <p:cNvPr id="23" name="Text 20">
            <a:extLst>
              <a:ext uri="{FF2B5EF4-FFF2-40B4-BE49-F238E27FC236}">
                <a16:creationId xmlns:a16="http://schemas.microsoft.com/office/drawing/2014/main" id="{8A42C45D-DA7F-AA80-571E-FDB15AAD7ECA}"/>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4" name="Text 21">
            <a:extLst>
              <a:ext uri="{FF2B5EF4-FFF2-40B4-BE49-F238E27FC236}">
                <a16:creationId xmlns:a16="http://schemas.microsoft.com/office/drawing/2014/main" id="{B54DC71E-F301-806A-1569-08253E8A664E}"/>
              </a:ext>
            </a:extLst>
          </p:cNvPr>
          <p:cNvSpPr/>
          <p:nvPr/>
        </p:nvSpPr>
        <p:spPr>
          <a:xfrm>
            <a:off x="2923673" y="4844876"/>
            <a:ext cx="2889985" cy="298624"/>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
        <p:nvSpPr>
          <p:cNvPr id="26" name="Text 18">
            <a:extLst>
              <a:ext uri="{FF2B5EF4-FFF2-40B4-BE49-F238E27FC236}">
                <a16:creationId xmlns:a16="http://schemas.microsoft.com/office/drawing/2014/main" id="{AF8DEC68-E44A-C478-BC83-321563024424}"/>
              </a:ext>
            </a:extLst>
          </p:cNvPr>
          <p:cNvSpPr/>
          <p:nvPr/>
        </p:nvSpPr>
        <p:spPr>
          <a:xfrm>
            <a:off x="348917" y="4100201"/>
            <a:ext cx="3970419" cy="652272"/>
          </a:xfrm>
          <a:prstGeom prst="rect">
            <a:avLst/>
          </a:prstGeom>
          <a:noFill/>
          <a:ln/>
        </p:spPr>
        <p:txBody>
          <a:bodyPr wrap="square" lIns="0" tIns="0" rIns="0" bIns="0" rtlCol="0" anchor="ctr"/>
          <a:lstStyle/>
          <a:p>
            <a:r>
              <a:rPr lang="en-GB" sz="1300" b="1" dirty="0">
                <a:solidFill>
                  <a:srgbClr val="16436B"/>
                </a:solidFill>
                <a:latin typeface="Calibri" pitchFamily="34" charset="0"/>
                <a:ea typeface="Calibri" pitchFamily="34" charset="-122"/>
                <a:cs typeface="Calibri" pitchFamily="34" charset="-120"/>
              </a:rPr>
              <a:t>Super‑active riders exist in the dataset. They are loyal and represent high lifetime value</a:t>
            </a:r>
            <a:endParaRPr lang="en-US" sz="1300" b="1" dirty="0">
              <a:solidFill>
                <a:srgbClr val="16436B"/>
              </a:solidFill>
              <a:latin typeface="Calibri" pitchFamily="34" charset="0"/>
              <a:ea typeface="Calibri" pitchFamily="34" charset="-122"/>
              <a:cs typeface="Calibri" pitchFamily="34" charset="-120"/>
            </a:endParaRPr>
          </a:p>
        </p:txBody>
      </p:sp>
      <p:sp>
        <p:nvSpPr>
          <p:cNvPr id="28" name="Text 18">
            <a:extLst>
              <a:ext uri="{FF2B5EF4-FFF2-40B4-BE49-F238E27FC236}">
                <a16:creationId xmlns:a16="http://schemas.microsoft.com/office/drawing/2014/main" id="{766B30B5-C698-1F4E-51BD-079F24A9F6AB}"/>
              </a:ext>
            </a:extLst>
          </p:cNvPr>
          <p:cNvSpPr/>
          <p:nvPr/>
        </p:nvSpPr>
        <p:spPr>
          <a:xfrm>
            <a:off x="637673" y="955948"/>
            <a:ext cx="2719137" cy="463778"/>
          </a:xfrm>
          <a:prstGeom prst="rect">
            <a:avLst/>
          </a:prstGeom>
          <a:noFill/>
          <a:ln/>
        </p:spPr>
        <p:txBody>
          <a:bodyPr wrap="square" lIns="0" tIns="0" rIns="0" bIns="0" rtlCol="0" anchor="ctr"/>
          <a:lstStyle/>
          <a:p>
            <a:pPr marL="0" indent="0">
              <a:buNone/>
            </a:pPr>
            <a:r>
              <a:rPr lang="en-US" sz="2000" b="1" dirty="0">
                <a:solidFill>
                  <a:srgbClr val="16436B"/>
                </a:solidFill>
                <a:latin typeface="Calibri" pitchFamily="34" charset="0"/>
                <a:ea typeface="Calibri" pitchFamily="34" charset="-122"/>
                <a:cs typeface="Calibri" pitchFamily="34" charset="-120"/>
              </a:rPr>
              <a:t>G. Trips Outliers</a:t>
            </a:r>
            <a:endParaRPr lang="en-US" sz="2000" dirty="0"/>
          </a:p>
        </p:txBody>
      </p:sp>
      <p:sp>
        <p:nvSpPr>
          <p:cNvPr id="31" name="Text 18">
            <a:extLst>
              <a:ext uri="{FF2B5EF4-FFF2-40B4-BE49-F238E27FC236}">
                <a16:creationId xmlns:a16="http://schemas.microsoft.com/office/drawing/2014/main" id="{717CD52A-2D1B-3778-9495-6596FD49F5BD}"/>
              </a:ext>
            </a:extLst>
          </p:cNvPr>
          <p:cNvSpPr/>
          <p:nvPr/>
        </p:nvSpPr>
        <p:spPr>
          <a:xfrm>
            <a:off x="4664242" y="908309"/>
            <a:ext cx="2759242" cy="515914"/>
          </a:xfrm>
          <a:prstGeom prst="rect">
            <a:avLst/>
          </a:prstGeom>
          <a:noFill/>
          <a:ln/>
        </p:spPr>
        <p:txBody>
          <a:bodyPr wrap="square" lIns="0" tIns="0" rIns="0" bIns="0" rtlCol="0" anchor="ctr"/>
          <a:lstStyle/>
          <a:p>
            <a:pPr marL="0" indent="0">
              <a:buNone/>
            </a:pPr>
            <a:r>
              <a:rPr lang="en-US" sz="2000" b="1" dirty="0">
                <a:solidFill>
                  <a:srgbClr val="16436B"/>
                </a:solidFill>
                <a:latin typeface="Calibri" pitchFamily="34" charset="0"/>
                <a:ea typeface="Calibri" pitchFamily="34" charset="-122"/>
                <a:cs typeface="Calibri" pitchFamily="34" charset="-120"/>
              </a:rPr>
              <a:t>H. Sessions Outliers. </a:t>
            </a:r>
            <a:endParaRPr lang="en-US" sz="2000" dirty="0"/>
          </a:p>
        </p:txBody>
      </p:sp>
      <p:sp>
        <p:nvSpPr>
          <p:cNvPr id="36" name="Text 18">
            <a:extLst>
              <a:ext uri="{FF2B5EF4-FFF2-40B4-BE49-F238E27FC236}">
                <a16:creationId xmlns:a16="http://schemas.microsoft.com/office/drawing/2014/main" id="{FFA00021-EF99-6C87-7B0F-11B2D20BEF73}"/>
              </a:ext>
            </a:extLst>
          </p:cNvPr>
          <p:cNvSpPr/>
          <p:nvPr/>
        </p:nvSpPr>
        <p:spPr>
          <a:xfrm>
            <a:off x="4981074" y="4162927"/>
            <a:ext cx="4162926" cy="397042"/>
          </a:xfrm>
          <a:prstGeom prst="rect">
            <a:avLst/>
          </a:prstGeom>
          <a:noFill/>
          <a:ln/>
        </p:spPr>
        <p:txBody>
          <a:bodyPr wrap="square" lIns="0" tIns="0" rIns="0" bIns="0" rtlCol="0" anchor="ctr"/>
          <a:lstStyle/>
          <a:p>
            <a:pPr marL="0" indent="0">
              <a:buNone/>
            </a:pPr>
            <a:r>
              <a:rPr lang="en-GB" sz="1300" b="1" dirty="0">
                <a:solidFill>
                  <a:srgbClr val="16436B"/>
                </a:solidFill>
                <a:latin typeface="Calibri" pitchFamily="34" charset="0"/>
                <a:ea typeface="Calibri" pitchFamily="34" charset="-122"/>
                <a:cs typeface="Calibri" pitchFamily="34" charset="-120"/>
              </a:rPr>
              <a:t>High session riders are valuable and should be protected.</a:t>
            </a:r>
            <a:endParaRPr lang="en-US" sz="1300" dirty="0"/>
          </a:p>
        </p:txBody>
      </p:sp>
      <p:pic>
        <p:nvPicPr>
          <p:cNvPr id="44" name="Picture 43">
            <a:extLst>
              <a:ext uri="{FF2B5EF4-FFF2-40B4-BE49-F238E27FC236}">
                <a16:creationId xmlns:a16="http://schemas.microsoft.com/office/drawing/2014/main" id="{C37009C4-889F-1A89-809B-5FE986AFA7A9}"/>
              </a:ext>
            </a:extLst>
          </p:cNvPr>
          <p:cNvPicPr>
            <a:picLocks noChangeAspect="1"/>
          </p:cNvPicPr>
          <p:nvPr/>
        </p:nvPicPr>
        <p:blipFill>
          <a:blip r:embed="rId3"/>
          <a:srcRect/>
          <a:stretch/>
        </p:blipFill>
        <p:spPr>
          <a:xfrm>
            <a:off x="4597086" y="1443086"/>
            <a:ext cx="4197523" cy="2530810"/>
          </a:xfrm>
          <a:prstGeom prst="rect">
            <a:avLst/>
          </a:prstGeom>
        </p:spPr>
      </p:pic>
      <p:sp>
        <p:nvSpPr>
          <p:cNvPr id="6" name="Text 0">
            <a:extLst>
              <a:ext uri="{FF2B5EF4-FFF2-40B4-BE49-F238E27FC236}">
                <a16:creationId xmlns:a16="http://schemas.microsoft.com/office/drawing/2014/main" id="{0158AB14-67DB-4209-80A8-59CE9E86229E}"/>
              </a:ext>
            </a:extLst>
          </p:cNvPr>
          <p:cNvSpPr txBox="1">
            <a:spLocks/>
          </p:cNvSpPr>
          <p:nvPr/>
        </p:nvSpPr>
        <p:spPr>
          <a:xfrm>
            <a:off x="363444" y="496785"/>
            <a:ext cx="7265792" cy="637534"/>
          </a:xfrm>
          <a:prstGeom prst="rect">
            <a:avLst/>
          </a:prstGeom>
          <a:noFill/>
          <a:ln/>
        </p:spPr>
        <p:txBody>
          <a:bodyPr wrap="square" rtlCol="0" anchor="t"/>
          <a:lstStyle>
            <a:lvl1pPr marL="0" indent="0" algn="l" defTabSz="914400" rtl="0" eaLnBrk="1" latinLnBrk="0" hangingPunct="1">
              <a:spcBef>
                <a:spcPct val="0"/>
              </a:spcBef>
              <a:buNone/>
              <a:defRPr lang="en-US" sz="3300" b="1" kern="1200" dirty="0">
                <a:solidFill>
                  <a:srgbClr val="0F2C48"/>
                </a:solidFill>
                <a:latin typeface="Calibri Light" pitchFamily="34" charset="0"/>
                <a:ea typeface="Calibri Light" pitchFamily="34" charset="-122"/>
                <a:cs typeface="Calibri Light" pitchFamily="34" charset="-120"/>
              </a:defRPr>
            </a:lvl1pPr>
          </a:lstStyle>
          <a:p>
            <a:r>
              <a:rPr lang="en-GB" dirty="0"/>
              <a:t>EDA – Key Distributions: Outlier Detection.</a:t>
            </a:r>
          </a:p>
        </p:txBody>
      </p:sp>
      <p:pic>
        <p:nvPicPr>
          <p:cNvPr id="4" name="Picture 3">
            <a:extLst>
              <a:ext uri="{FF2B5EF4-FFF2-40B4-BE49-F238E27FC236}">
                <a16:creationId xmlns:a16="http://schemas.microsoft.com/office/drawing/2014/main" id="{446350D0-1DDE-EEC9-67C7-51A65BD93673}"/>
              </a:ext>
            </a:extLst>
          </p:cNvPr>
          <p:cNvPicPr>
            <a:picLocks noChangeAspect="1"/>
          </p:cNvPicPr>
          <p:nvPr/>
        </p:nvPicPr>
        <p:blipFill>
          <a:blip r:embed="rId4"/>
          <a:stretch>
            <a:fillRect/>
          </a:stretch>
        </p:blipFill>
        <p:spPr>
          <a:xfrm>
            <a:off x="253138" y="1455821"/>
            <a:ext cx="4354958" cy="2625732"/>
          </a:xfrm>
          <a:prstGeom prst="rect">
            <a:avLst/>
          </a:prstGeom>
        </p:spPr>
      </p:pic>
    </p:spTree>
    <p:extLst>
      <p:ext uri="{BB962C8B-B14F-4D97-AF65-F5344CB8AC3E}">
        <p14:creationId xmlns:p14="http://schemas.microsoft.com/office/powerpoint/2010/main" val="3068301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FEATURE ENGINEERING</a:t>
            </a:r>
            <a:endParaRPr lang="en-US" sz="1250" dirty="0"/>
          </a:p>
        </p:txBody>
      </p:sp>
      <p:sp>
        <p:nvSpPr>
          <p:cNvPr id="3" name="Text 0"/>
          <p:cNvSpPr>
            <a:spLocks noGrp="1"/>
          </p:cNvSpPr>
          <p:nvPr>
            <p:ph type="title" idx="101" hasCustomPrompt="1"/>
          </p:nvPr>
        </p:nvSpPr>
        <p:spPr>
          <a:xfrm>
            <a:off x="366463" y="622181"/>
            <a:ext cx="7333537" cy="559709"/>
          </a:xfrm>
          <a:prstGeom prst="rect">
            <a:avLst/>
          </a:prstGeom>
          <a:noFill/>
          <a:ln/>
        </p:spPr>
        <p:txBody>
          <a:bodyPr wrap="square" rtlCol="0" anchor="t"/>
          <a:lstStyle/>
          <a:p>
            <a:pPr marL="0" indent="0" algn="l">
              <a:buNone/>
            </a:pPr>
            <a:r>
              <a:rPr lang="en-US" sz="2800"/>
              <a:t>P</a:t>
            </a:r>
            <a:r>
              <a:rPr lang="en-US" sz="2800">
                <a:solidFill>
                  <a:srgbClr val="0F2C48"/>
                </a:solidFill>
                <a:latin typeface="Calibri Light" pitchFamily="34" charset="0"/>
                <a:ea typeface="Calibri Light" pitchFamily="34" charset="-122"/>
                <a:cs typeface="Calibri Light" pitchFamily="34" charset="-120"/>
              </a:rPr>
              <a:t>redicting </a:t>
            </a:r>
            <a:r>
              <a:rPr lang="en-US" sz="2800" err="1">
                <a:solidFill>
                  <a:srgbClr val="0F2C48"/>
                </a:solidFill>
                <a:latin typeface="Calibri Light" pitchFamily="34" charset="0"/>
                <a:ea typeface="Calibri Light" pitchFamily="34" charset="-122"/>
                <a:cs typeface="Calibri Light" pitchFamily="34" charset="-120"/>
              </a:rPr>
              <a:t>behaviour</a:t>
            </a:r>
            <a:r>
              <a:rPr lang="en-US" sz="2800">
                <a:solidFill>
                  <a:srgbClr val="0F2C48"/>
                </a:solidFill>
                <a:latin typeface="Calibri Light" pitchFamily="34" charset="0"/>
                <a:ea typeface="Calibri Light" pitchFamily="34" charset="-122"/>
                <a:cs typeface="Calibri Light" pitchFamily="34" charset="-120"/>
              </a:rPr>
              <a:t>, engagement and loyalty</a:t>
            </a:r>
            <a:endParaRPr lang="en-US" sz="2800"/>
          </a:p>
        </p:txBody>
      </p:sp>
      <p:sp>
        <p:nvSpPr>
          <p:cNvPr id="4" name="Left header">
            <a:extLst>
              <a:ext uri="{C183D7F6-B498-43B3-948B-1728B52AA6E4}">
                <adec:decorative xmlns:adec="http://schemas.microsoft.com/office/drawing/2017/decorative" val="1"/>
              </a:ext>
            </a:extLst>
          </p:cNvPr>
          <p:cNvSpPr/>
          <p:nvPr/>
        </p:nvSpPr>
        <p:spPr>
          <a:xfrm>
            <a:off x="566928" y="1240000"/>
            <a:ext cx="3891600" cy="280000"/>
          </a:xfrm>
          <a:prstGeom prst="rect">
            <a:avLst/>
          </a:prstGeom>
          <a:noFill/>
          <a:ln/>
        </p:spPr>
        <p:txBody>
          <a:bodyPr wrap="square" lIns="0" tIns="0" rIns="0" bIns="0" rtlCol="0" anchor="ctr"/>
          <a:lstStyle/>
          <a:p>
            <a:pPr marL="0" indent="0">
              <a:buNone/>
            </a:pPr>
            <a:r>
              <a:rPr lang="en-US" sz="1200" b="1" kern="0" spc="200">
                <a:solidFill>
                  <a:srgbClr val="128F90"/>
                </a:solidFill>
                <a:latin typeface="Calibri" pitchFamily="34" charset="0"/>
                <a:ea typeface="Calibri" pitchFamily="34" charset="-122"/>
                <a:cs typeface="Calibri" pitchFamily="34" charset="-120"/>
              </a:rPr>
              <a:t>BEHAVIOURAL DRIVERS</a:t>
            </a:r>
            <a:endParaRPr lang="en-US" sz="1200"/>
          </a:p>
        </p:txBody>
      </p:sp>
      <p:sp>
        <p:nvSpPr>
          <p:cNvPr id="5" name="Right header">
            <a:extLst>
              <a:ext uri="{C183D7F6-B498-43B3-948B-1728B52AA6E4}">
                <adec:decorative xmlns:adec="http://schemas.microsoft.com/office/drawing/2017/decorative" val="1"/>
              </a:ext>
            </a:extLst>
          </p:cNvPr>
          <p:cNvSpPr/>
          <p:nvPr/>
        </p:nvSpPr>
        <p:spPr>
          <a:xfrm>
            <a:off x="4685472" y="1240000"/>
            <a:ext cx="3891600" cy="280000"/>
          </a:xfrm>
          <a:prstGeom prst="rect">
            <a:avLst/>
          </a:prstGeom>
          <a:noFill/>
          <a:ln/>
        </p:spPr>
        <p:txBody>
          <a:bodyPr wrap="square" lIns="0" tIns="0" rIns="0" bIns="0" rtlCol="0" anchor="ctr"/>
          <a:lstStyle/>
          <a:p>
            <a:pPr marL="0" indent="0">
              <a:buNone/>
            </a:pPr>
            <a:r>
              <a:rPr lang="en-US" sz="1200" b="1" kern="0" spc="200">
                <a:solidFill>
                  <a:srgbClr val="0F2C48"/>
                </a:solidFill>
                <a:latin typeface="Calibri" pitchFamily="34" charset="0"/>
                <a:ea typeface="Calibri" pitchFamily="34" charset="-122"/>
                <a:cs typeface="Calibri" pitchFamily="34" charset="-120"/>
              </a:rPr>
              <a:t>CONTEXT FEATURES</a:t>
            </a:r>
            <a:endParaRPr lang="en-US" sz="1200"/>
          </a:p>
        </p:txBody>
      </p:sp>
      <p:sp>
        <p:nvSpPr>
          <p:cNvPr id="6" name="card">
            <a:extLst>
              <a:ext uri="{C183D7F6-B498-43B3-948B-1728B52AA6E4}">
                <adec:decorative xmlns:adec="http://schemas.microsoft.com/office/drawing/2017/decorative" val="1"/>
              </a:ext>
            </a:extLst>
          </p:cNvPr>
          <p:cNvSpPr/>
          <p:nvPr/>
        </p:nvSpPr>
        <p:spPr>
          <a:xfrm>
            <a:off x="566928" y="164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7" name="marker">
            <a:extLst>
              <a:ext uri="{C183D7F6-B498-43B3-948B-1728B52AA6E4}">
                <adec:decorative xmlns:adec="http://schemas.microsoft.com/office/drawing/2017/decorative" val="1"/>
              </a:ext>
            </a:extLst>
          </p:cNvPr>
          <p:cNvSpPr/>
          <p:nvPr/>
        </p:nvSpPr>
        <p:spPr>
          <a:xfrm>
            <a:off x="566928" y="1640000"/>
            <a:ext cx="82296" cy="500000"/>
          </a:xfrm>
          <a:prstGeom prst="rect">
            <a:avLst/>
          </a:prstGeom>
          <a:solidFill>
            <a:srgbClr val="128F90"/>
          </a:solidFill>
          <a:ln/>
        </p:spPr>
        <p:txBody>
          <a:bodyPr/>
          <a:lstStyle/>
          <a:p>
            <a:endParaRPr lang="en-GB"/>
          </a:p>
        </p:txBody>
      </p:sp>
      <p:sp>
        <p:nvSpPr>
          <p:cNvPr id="8" name="label">
            <a:extLst>
              <a:ext uri="{C183D7F6-B498-43B3-948B-1728B52AA6E4}">
                <adec:decorative xmlns:adec="http://schemas.microsoft.com/office/drawing/2017/decorative" val="1"/>
              </a:ext>
            </a:extLst>
          </p:cNvPr>
          <p:cNvSpPr/>
          <p:nvPr/>
        </p:nvSpPr>
        <p:spPr>
          <a:xfrm>
            <a:off x="1126928" y="169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Recency</a:t>
            </a:r>
            <a:endParaRPr lang="en-US" sz="1300"/>
          </a:p>
        </p:txBody>
      </p:sp>
      <p:sp>
        <p:nvSpPr>
          <p:cNvPr id="9" name="desc">
            <a:extLst>
              <a:ext uri="{C183D7F6-B498-43B3-948B-1728B52AA6E4}">
                <adec:decorative xmlns:adec="http://schemas.microsoft.com/office/drawing/2017/decorative" val="1"/>
              </a:ext>
            </a:extLst>
          </p:cNvPr>
          <p:cNvSpPr/>
          <p:nvPr/>
        </p:nvSpPr>
        <p:spPr>
          <a:xfrm>
            <a:off x="1126928" y="190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Time since last completed ride.</a:t>
            </a:r>
            <a:endParaRPr lang="en-US" sz="1050"/>
          </a:p>
        </p:txBody>
      </p:sp>
      <p:sp>
        <p:nvSpPr>
          <p:cNvPr id="10" name="card">
            <a:extLst>
              <a:ext uri="{C183D7F6-B498-43B3-948B-1728B52AA6E4}">
                <adec:decorative xmlns:adec="http://schemas.microsoft.com/office/drawing/2017/decorative" val="1"/>
              </a:ext>
            </a:extLst>
          </p:cNvPr>
          <p:cNvSpPr/>
          <p:nvPr/>
        </p:nvSpPr>
        <p:spPr>
          <a:xfrm>
            <a:off x="566928" y="220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1" name="marker">
            <a:extLst>
              <a:ext uri="{C183D7F6-B498-43B3-948B-1728B52AA6E4}">
                <adec:decorative xmlns:adec="http://schemas.microsoft.com/office/drawing/2017/decorative" val="1"/>
              </a:ext>
            </a:extLst>
          </p:cNvPr>
          <p:cNvSpPr/>
          <p:nvPr/>
        </p:nvSpPr>
        <p:spPr>
          <a:xfrm>
            <a:off x="566928" y="2200000"/>
            <a:ext cx="82296" cy="500000"/>
          </a:xfrm>
          <a:prstGeom prst="rect">
            <a:avLst/>
          </a:prstGeom>
          <a:solidFill>
            <a:srgbClr val="128F90"/>
          </a:solidFill>
          <a:ln/>
        </p:spPr>
        <p:txBody>
          <a:bodyPr/>
          <a:lstStyle/>
          <a:p>
            <a:endParaRPr lang="en-GB"/>
          </a:p>
        </p:txBody>
      </p:sp>
      <p:sp>
        <p:nvSpPr>
          <p:cNvPr id="12" name="label">
            <a:extLst>
              <a:ext uri="{C183D7F6-B498-43B3-948B-1728B52AA6E4}">
                <adec:decorative xmlns:adec="http://schemas.microsoft.com/office/drawing/2017/decorative" val="1"/>
              </a:ext>
            </a:extLst>
          </p:cNvPr>
          <p:cNvSpPr/>
          <p:nvPr/>
        </p:nvSpPr>
        <p:spPr>
          <a:xfrm>
            <a:off x="1126928" y="225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Frequency</a:t>
            </a:r>
            <a:endParaRPr lang="en-US" sz="1300"/>
          </a:p>
        </p:txBody>
      </p:sp>
      <p:sp>
        <p:nvSpPr>
          <p:cNvPr id="13" name="desc"/>
          <p:cNvSpPr/>
          <p:nvPr/>
        </p:nvSpPr>
        <p:spPr>
          <a:xfrm>
            <a:off x="1126928" y="246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Ride volume over rolling windows.</a:t>
            </a:r>
            <a:endParaRPr lang="en-US" sz="1050"/>
          </a:p>
        </p:txBody>
      </p:sp>
      <p:sp>
        <p:nvSpPr>
          <p:cNvPr id="14" name="card">
            <a:extLst>
              <a:ext uri="{C183D7F6-B498-43B3-948B-1728B52AA6E4}">
                <adec:decorative xmlns:adec="http://schemas.microsoft.com/office/drawing/2017/decorative" val="1"/>
              </a:ext>
            </a:extLst>
          </p:cNvPr>
          <p:cNvSpPr/>
          <p:nvPr/>
        </p:nvSpPr>
        <p:spPr>
          <a:xfrm>
            <a:off x="566928" y="276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5" name="marker">
            <a:extLst>
              <a:ext uri="{C183D7F6-B498-43B3-948B-1728B52AA6E4}">
                <adec:decorative xmlns:adec="http://schemas.microsoft.com/office/drawing/2017/decorative" val="1"/>
              </a:ext>
            </a:extLst>
          </p:cNvPr>
          <p:cNvSpPr/>
          <p:nvPr/>
        </p:nvSpPr>
        <p:spPr>
          <a:xfrm>
            <a:off x="566928" y="2760000"/>
            <a:ext cx="82296" cy="500000"/>
          </a:xfrm>
          <a:prstGeom prst="rect">
            <a:avLst/>
          </a:prstGeom>
          <a:solidFill>
            <a:srgbClr val="128F90"/>
          </a:solidFill>
          <a:ln/>
        </p:spPr>
        <p:txBody>
          <a:bodyPr/>
          <a:lstStyle/>
          <a:p>
            <a:endParaRPr lang="en-GB"/>
          </a:p>
        </p:txBody>
      </p:sp>
      <p:sp>
        <p:nvSpPr>
          <p:cNvPr id="16" name="label"/>
          <p:cNvSpPr/>
          <p:nvPr/>
        </p:nvSpPr>
        <p:spPr>
          <a:xfrm>
            <a:off x="1126928" y="281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Monetary Value</a:t>
            </a:r>
            <a:endParaRPr lang="en-US" sz="1300"/>
          </a:p>
        </p:txBody>
      </p:sp>
      <p:sp>
        <p:nvSpPr>
          <p:cNvPr id="17" name="desc"/>
          <p:cNvSpPr/>
          <p:nvPr/>
        </p:nvSpPr>
        <p:spPr>
          <a:xfrm>
            <a:off x="1126928" y="302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Spend and average fare.</a:t>
            </a:r>
            <a:endParaRPr lang="en-US" sz="1050"/>
          </a:p>
        </p:txBody>
      </p:sp>
      <p:sp>
        <p:nvSpPr>
          <p:cNvPr id="18" name="card">
            <a:extLst>
              <a:ext uri="{C183D7F6-B498-43B3-948B-1728B52AA6E4}">
                <adec:decorative xmlns:adec="http://schemas.microsoft.com/office/drawing/2017/decorative" val="1"/>
              </a:ext>
            </a:extLst>
          </p:cNvPr>
          <p:cNvSpPr/>
          <p:nvPr/>
        </p:nvSpPr>
        <p:spPr>
          <a:xfrm>
            <a:off x="566928" y="332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9" name="marker">
            <a:extLst>
              <a:ext uri="{C183D7F6-B498-43B3-948B-1728B52AA6E4}">
                <adec:decorative xmlns:adec="http://schemas.microsoft.com/office/drawing/2017/decorative" val="1"/>
              </a:ext>
            </a:extLst>
          </p:cNvPr>
          <p:cNvSpPr/>
          <p:nvPr/>
        </p:nvSpPr>
        <p:spPr>
          <a:xfrm>
            <a:off x="566928" y="3320000"/>
            <a:ext cx="82296" cy="500000"/>
          </a:xfrm>
          <a:prstGeom prst="rect">
            <a:avLst/>
          </a:prstGeom>
          <a:solidFill>
            <a:srgbClr val="128F90"/>
          </a:solidFill>
          <a:ln/>
        </p:spPr>
        <p:txBody>
          <a:bodyPr/>
          <a:lstStyle/>
          <a:p>
            <a:endParaRPr lang="en-GB"/>
          </a:p>
        </p:txBody>
      </p:sp>
      <p:sp>
        <p:nvSpPr>
          <p:cNvPr id="20" name="label">
            <a:extLst>
              <a:ext uri="{C183D7F6-B498-43B3-948B-1728B52AA6E4}">
                <adec:decorative xmlns:adec="http://schemas.microsoft.com/office/drawing/2017/decorative" val="1"/>
              </a:ext>
            </a:extLst>
          </p:cNvPr>
          <p:cNvSpPr/>
          <p:nvPr/>
        </p:nvSpPr>
        <p:spPr>
          <a:xfrm>
            <a:off x="1126928" y="337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Engagement</a:t>
            </a:r>
            <a:endParaRPr lang="en-US" sz="1300"/>
          </a:p>
        </p:txBody>
      </p:sp>
      <p:sp>
        <p:nvSpPr>
          <p:cNvPr id="21" name="desc"/>
          <p:cNvSpPr/>
          <p:nvPr/>
        </p:nvSpPr>
        <p:spPr>
          <a:xfrm>
            <a:off x="1126928" y="358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App sessions and interactions.</a:t>
            </a:r>
            <a:endParaRPr lang="en-US" sz="1050"/>
          </a:p>
        </p:txBody>
      </p:sp>
      <p:sp>
        <p:nvSpPr>
          <p:cNvPr id="22" name="card">
            <a:extLst>
              <a:ext uri="{C183D7F6-B498-43B3-948B-1728B52AA6E4}">
                <adec:decorative xmlns:adec="http://schemas.microsoft.com/office/drawing/2017/decorative" val="1"/>
              </a:ext>
            </a:extLst>
          </p:cNvPr>
          <p:cNvSpPr/>
          <p:nvPr/>
        </p:nvSpPr>
        <p:spPr>
          <a:xfrm>
            <a:off x="4685472" y="164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3" name="marker">
            <a:extLst>
              <a:ext uri="{C183D7F6-B498-43B3-948B-1728B52AA6E4}">
                <adec:decorative xmlns:adec="http://schemas.microsoft.com/office/drawing/2017/decorative" val="1"/>
              </a:ext>
            </a:extLst>
          </p:cNvPr>
          <p:cNvSpPr/>
          <p:nvPr/>
        </p:nvSpPr>
        <p:spPr>
          <a:xfrm>
            <a:off x="4685472" y="1640000"/>
            <a:ext cx="82296" cy="500000"/>
          </a:xfrm>
          <a:prstGeom prst="rect">
            <a:avLst/>
          </a:prstGeom>
          <a:solidFill>
            <a:srgbClr val="0F2C48"/>
          </a:solidFill>
          <a:ln/>
        </p:spPr>
        <p:txBody>
          <a:bodyPr/>
          <a:lstStyle/>
          <a:p>
            <a:endParaRPr lang="en-GB"/>
          </a:p>
        </p:txBody>
      </p:sp>
      <p:sp>
        <p:nvSpPr>
          <p:cNvPr id="24" name="label">
            <a:extLst>
              <a:ext uri="{C183D7F6-B498-43B3-948B-1728B52AA6E4}">
                <adec:decorative xmlns:adec="http://schemas.microsoft.com/office/drawing/2017/decorative" val="1"/>
              </a:ext>
            </a:extLst>
          </p:cNvPr>
          <p:cNvSpPr/>
          <p:nvPr/>
        </p:nvSpPr>
        <p:spPr>
          <a:xfrm>
            <a:off x="5245472" y="169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Loyalty Tier</a:t>
            </a:r>
            <a:endParaRPr lang="en-US" sz="1300"/>
          </a:p>
        </p:txBody>
      </p:sp>
      <p:sp>
        <p:nvSpPr>
          <p:cNvPr id="25" name="desc">
            <a:extLst>
              <a:ext uri="{C183D7F6-B498-43B3-948B-1728B52AA6E4}">
                <adec:decorative xmlns:adec="http://schemas.microsoft.com/office/drawing/2017/decorative" val="1"/>
              </a:ext>
            </a:extLst>
          </p:cNvPr>
          <p:cNvSpPr/>
          <p:nvPr/>
        </p:nvSpPr>
        <p:spPr>
          <a:xfrm>
            <a:off x="5245472" y="190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Tenure and retention signals.</a:t>
            </a:r>
            <a:endParaRPr lang="en-US" sz="1050"/>
          </a:p>
        </p:txBody>
      </p:sp>
      <p:sp>
        <p:nvSpPr>
          <p:cNvPr id="26" name="card">
            <a:extLst>
              <a:ext uri="{C183D7F6-B498-43B3-948B-1728B52AA6E4}">
                <adec:decorative xmlns:adec="http://schemas.microsoft.com/office/drawing/2017/decorative" val="1"/>
              </a:ext>
            </a:extLst>
          </p:cNvPr>
          <p:cNvSpPr/>
          <p:nvPr/>
        </p:nvSpPr>
        <p:spPr>
          <a:xfrm>
            <a:off x="4685472" y="220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7" name="marker">
            <a:extLst>
              <a:ext uri="{C183D7F6-B498-43B3-948B-1728B52AA6E4}">
                <adec:decorative xmlns:adec="http://schemas.microsoft.com/office/drawing/2017/decorative" val="1"/>
              </a:ext>
            </a:extLst>
          </p:cNvPr>
          <p:cNvSpPr/>
          <p:nvPr/>
        </p:nvSpPr>
        <p:spPr>
          <a:xfrm>
            <a:off x="4685472" y="2200000"/>
            <a:ext cx="82296" cy="500000"/>
          </a:xfrm>
          <a:prstGeom prst="rect">
            <a:avLst/>
          </a:prstGeom>
          <a:solidFill>
            <a:srgbClr val="0F2C48"/>
          </a:solidFill>
          <a:ln/>
        </p:spPr>
        <p:txBody>
          <a:bodyPr/>
          <a:lstStyle/>
          <a:p>
            <a:endParaRPr lang="en-GB"/>
          </a:p>
        </p:txBody>
      </p:sp>
      <p:sp>
        <p:nvSpPr>
          <p:cNvPr id="28" name="label"/>
          <p:cNvSpPr/>
          <p:nvPr/>
        </p:nvSpPr>
        <p:spPr>
          <a:xfrm>
            <a:off x="5245472" y="225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Referral Flag</a:t>
            </a:r>
            <a:endParaRPr lang="en-US" sz="1300"/>
          </a:p>
        </p:txBody>
      </p:sp>
      <p:sp>
        <p:nvSpPr>
          <p:cNvPr id="29" name="desc">
            <a:extLst>
              <a:ext uri="{C183D7F6-B498-43B3-948B-1728B52AA6E4}">
                <adec:decorative xmlns:adec="http://schemas.microsoft.com/office/drawing/2017/decorative" val="1"/>
              </a:ext>
            </a:extLst>
          </p:cNvPr>
          <p:cNvSpPr/>
          <p:nvPr/>
        </p:nvSpPr>
        <p:spPr>
          <a:xfrm>
            <a:off x="5245472" y="246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Referred vs non-referred.</a:t>
            </a:r>
            <a:endParaRPr lang="en-US" sz="1050"/>
          </a:p>
        </p:txBody>
      </p:sp>
      <p:sp>
        <p:nvSpPr>
          <p:cNvPr id="30" name="card">
            <a:extLst>
              <a:ext uri="{C183D7F6-B498-43B3-948B-1728B52AA6E4}">
                <adec:decorative xmlns:adec="http://schemas.microsoft.com/office/drawing/2017/decorative" val="1"/>
              </a:ext>
            </a:extLst>
          </p:cNvPr>
          <p:cNvSpPr/>
          <p:nvPr/>
        </p:nvSpPr>
        <p:spPr>
          <a:xfrm>
            <a:off x="4685472" y="276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31" name="marker">
            <a:extLst>
              <a:ext uri="{C183D7F6-B498-43B3-948B-1728B52AA6E4}">
                <adec:decorative xmlns:adec="http://schemas.microsoft.com/office/drawing/2017/decorative" val="1"/>
              </a:ext>
            </a:extLst>
          </p:cNvPr>
          <p:cNvSpPr/>
          <p:nvPr/>
        </p:nvSpPr>
        <p:spPr>
          <a:xfrm>
            <a:off x="4685472" y="2760000"/>
            <a:ext cx="82296" cy="500000"/>
          </a:xfrm>
          <a:prstGeom prst="rect">
            <a:avLst/>
          </a:prstGeom>
          <a:solidFill>
            <a:srgbClr val="0F2C48"/>
          </a:solidFill>
          <a:ln/>
        </p:spPr>
        <p:txBody>
          <a:bodyPr/>
          <a:lstStyle/>
          <a:p>
            <a:endParaRPr lang="en-GB"/>
          </a:p>
        </p:txBody>
      </p:sp>
      <p:sp>
        <p:nvSpPr>
          <p:cNvPr id="32" name="label"/>
          <p:cNvSpPr/>
          <p:nvPr/>
        </p:nvSpPr>
        <p:spPr>
          <a:xfrm>
            <a:off x="5245472" y="281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City Encoding</a:t>
            </a:r>
            <a:endParaRPr lang="en-US" sz="1300"/>
          </a:p>
        </p:txBody>
      </p:sp>
      <p:sp>
        <p:nvSpPr>
          <p:cNvPr id="33" name="desc"/>
          <p:cNvSpPr/>
          <p:nvPr/>
        </p:nvSpPr>
        <p:spPr>
          <a:xfrm>
            <a:off x="5245472" y="302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Geographic behaviour.</a:t>
            </a:r>
            <a:endParaRPr lang="en-US" sz="1050"/>
          </a:p>
        </p:txBody>
      </p:sp>
      <p:sp>
        <p:nvSpPr>
          <p:cNvPr id="34" name="card">
            <a:extLst>
              <a:ext uri="{C183D7F6-B498-43B3-948B-1728B52AA6E4}">
                <adec:decorative xmlns:adec="http://schemas.microsoft.com/office/drawing/2017/decorative" val="1"/>
              </a:ext>
            </a:extLst>
          </p:cNvPr>
          <p:cNvSpPr/>
          <p:nvPr/>
        </p:nvSpPr>
        <p:spPr>
          <a:xfrm>
            <a:off x="4685472" y="332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35" name="marker">
            <a:extLst>
              <a:ext uri="{C183D7F6-B498-43B3-948B-1728B52AA6E4}">
                <adec:decorative xmlns:adec="http://schemas.microsoft.com/office/drawing/2017/decorative" val="1"/>
              </a:ext>
            </a:extLst>
          </p:cNvPr>
          <p:cNvSpPr/>
          <p:nvPr/>
        </p:nvSpPr>
        <p:spPr>
          <a:xfrm>
            <a:off x="4685472" y="3320000"/>
            <a:ext cx="82296" cy="500000"/>
          </a:xfrm>
          <a:prstGeom prst="rect">
            <a:avLst/>
          </a:prstGeom>
          <a:solidFill>
            <a:srgbClr val="0F2C48"/>
          </a:solidFill>
          <a:ln/>
        </p:spPr>
        <p:txBody>
          <a:bodyPr/>
          <a:lstStyle/>
          <a:p>
            <a:endParaRPr lang="en-GB"/>
          </a:p>
        </p:txBody>
      </p:sp>
      <p:sp>
        <p:nvSpPr>
          <p:cNvPr id="36" name="label"/>
          <p:cNvSpPr/>
          <p:nvPr/>
        </p:nvSpPr>
        <p:spPr>
          <a:xfrm>
            <a:off x="5245472" y="337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Age Buckets</a:t>
            </a:r>
            <a:endParaRPr lang="en-US" sz="1300"/>
          </a:p>
        </p:txBody>
      </p:sp>
      <p:sp>
        <p:nvSpPr>
          <p:cNvPr id="37" name="desc"/>
          <p:cNvSpPr/>
          <p:nvPr/>
        </p:nvSpPr>
        <p:spPr>
          <a:xfrm>
            <a:off x="5245472" y="358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Life-stage segmentation.</a:t>
            </a:r>
            <a:endParaRPr lang="en-US" sz="1050"/>
          </a:p>
        </p:txBody>
      </p:sp>
      <p:sp>
        <p:nvSpPr>
          <p:cNvPr id="38" name="card">
            <a:extLst>
              <a:ext uri="{C183D7F6-B498-43B3-948B-1728B52AA6E4}">
                <adec:decorative xmlns:adec="http://schemas.microsoft.com/office/drawing/2017/decorative" val="1"/>
              </a:ext>
            </a:extLst>
          </p:cNvPr>
          <p:cNvSpPr/>
          <p:nvPr/>
        </p:nvSpPr>
        <p:spPr>
          <a:xfrm>
            <a:off x="4685472" y="3880000"/>
            <a:ext cx="3891600" cy="500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39" name="marker">
            <a:extLst>
              <a:ext uri="{C183D7F6-B498-43B3-948B-1728B52AA6E4}">
                <adec:decorative xmlns:adec="http://schemas.microsoft.com/office/drawing/2017/decorative" val="1"/>
              </a:ext>
            </a:extLst>
          </p:cNvPr>
          <p:cNvSpPr/>
          <p:nvPr/>
        </p:nvSpPr>
        <p:spPr>
          <a:xfrm>
            <a:off x="4685472" y="3880000"/>
            <a:ext cx="82296" cy="500000"/>
          </a:xfrm>
          <a:prstGeom prst="rect">
            <a:avLst/>
          </a:prstGeom>
          <a:solidFill>
            <a:srgbClr val="0F2C48"/>
          </a:solidFill>
          <a:ln/>
        </p:spPr>
        <p:txBody>
          <a:bodyPr/>
          <a:lstStyle/>
          <a:p>
            <a:endParaRPr lang="en-GB"/>
          </a:p>
        </p:txBody>
      </p:sp>
      <p:sp>
        <p:nvSpPr>
          <p:cNvPr id="40" name="label"/>
          <p:cNvSpPr/>
          <p:nvPr/>
        </p:nvSpPr>
        <p:spPr>
          <a:xfrm>
            <a:off x="5245472" y="3930000"/>
            <a:ext cx="3191600" cy="215000"/>
          </a:xfrm>
          <a:prstGeom prst="rect">
            <a:avLst/>
          </a:prstGeom>
          <a:noFill/>
          <a:ln/>
        </p:spPr>
        <p:txBody>
          <a:bodyPr wrap="square" lIns="0" tIns="0" rIns="0" bIns="0" rtlCol="0" anchor="ctr"/>
          <a:lstStyle/>
          <a:p>
            <a:pPr marL="0" indent="0">
              <a:buNone/>
            </a:pPr>
            <a:r>
              <a:rPr lang="en-US" sz="1300" b="1">
                <a:solidFill>
                  <a:srgbClr val="0F2C48"/>
                </a:solidFill>
                <a:latin typeface="Calibri" pitchFamily="34" charset="0"/>
                <a:ea typeface="Calibri" pitchFamily="34" charset="-122"/>
                <a:cs typeface="Calibri" pitchFamily="34" charset="-120"/>
              </a:rPr>
              <a:t>Behavioural Scores</a:t>
            </a:r>
            <a:endParaRPr lang="en-US" sz="1300"/>
          </a:p>
        </p:txBody>
      </p:sp>
      <p:sp>
        <p:nvSpPr>
          <p:cNvPr id="41" name="desc"/>
          <p:cNvSpPr/>
          <p:nvPr/>
        </p:nvSpPr>
        <p:spPr>
          <a:xfrm>
            <a:off x="5245472" y="4145000"/>
            <a:ext cx="3191600" cy="200000"/>
          </a:xfrm>
          <a:prstGeom prst="rect">
            <a:avLst/>
          </a:prstGeom>
          <a:noFill/>
          <a:ln/>
        </p:spPr>
        <p:txBody>
          <a:bodyPr wrap="square" lIns="0" tIns="0" rIns="0" bIns="0" rtlCol="0" anchor="ctr"/>
          <a:lstStyle/>
          <a:p>
            <a:pPr marL="0" indent="0">
              <a:buNone/>
            </a:pPr>
            <a:r>
              <a:rPr lang="en-US" sz="1050">
                <a:solidFill>
                  <a:srgbClr val="3F5261"/>
                </a:solidFill>
                <a:latin typeface="Calibri" pitchFamily="34" charset="0"/>
                <a:ea typeface="Calibri" pitchFamily="34" charset="-122"/>
                <a:cs typeface="Calibri" pitchFamily="34" charset="-120"/>
              </a:rPr>
              <a:t>Cancellations and reliability.</a:t>
            </a:r>
            <a:endParaRPr lang="en-US" sz="1050"/>
          </a:p>
        </p:txBody>
      </p:sp>
      <p:sp>
        <p:nvSpPr>
          <p:cNvPr id="42" name="summary bar"/>
          <p:cNvSpPr/>
          <p:nvPr/>
        </p:nvSpPr>
        <p:spPr>
          <a:xfrm>
            <a:off x="566928" y="4520000"/>
            <a:ext cx="8010144" cy="390000"/>
          </a:xfrm>
          <a:prstGeom prst="rect">
            <a:avLst/>
          </a:prstGeom>
          <a:solidFill>
            <a:srgbClr val="128F90"/>
          </a:solidFill>
          <a:ln/>
        </p:spPr>
        <p:txBody>
          <a:bodyPr wrap="square" lIns="182880" tIns="0" rIns="182880" bIns="0" rtlCol="0" anchor="ctr"/>
          <a:lstStyle/>
          <a:p>
            <a:pPr marL="0" indent="0" algn="ctr">
              <a:buNone/>
            </a:pPr>
            <a:r>
              <a:rPr lang="en-US" sz="1150">
                <a:solidFill>
                  <a:srgbClr val="FFFFFF"/>
                </a:solidFill>
                <a:latin typeface="Calibri" pitchFamily="34" charset="0"/>
                <a:ea typeface="Calibri" pitchFamily="34" charset="-122"/>
                <a:cs typeface="Calibri" pitchFamily="34" charset="-120"/>
              </a:rPr>
              <a:t>Minimal, high-signal features that translate rider behaviour into clean numeric inputs the model can learn from.</a:t>
            </a:r>
            <a:endParaRPr lang="en-US" sz="1150"/>
          </a:p>
        </p:txBody>
      </p:sp>
      <p:sp>
        <p:nvSpPr>
          <p:cNvPr id="100" name="icon badge Recency">
            <a:extLst>
              <a:ext uri="{C183D7F6-B498-43B3-948B-1728B52AA6E4}">
                <adec:decorative xmlns:adec="http://schemas.microsoft.com/office/drawing/2017/decorative" val="1"/>
              </a:ext>
            </a:extLst>
          </p:cNvPr>
          <p:cNvSpPr/>
          <p:nvPr/>
        </p:nvSpPr>
        <p:spPr>
          <a:xfrm>
            <a:off x="726928" y="1720000"/>
            <a:ext cx="340000" cy="340000"/>
          </a:xfrm>
          <a:prstGeom prst="ellipse">
            <a:avLst/>
          </a:prstGeom>
          <a:solidFill>
            <a:srgbClr val="128F90"/>
          </a:solidFill>
          <a:ln/>
        </p:spPr>
        <p:txBody>
          <a:bodyPr/>
          <a:lstStyle/>
          <a:p>
            <a:endParaRPr lang="en-GB"/>
          </a:p>
        </p:txBody>
      </p:sp>
      <p:sp>
        <p:nvSpPr>
          <p:cNvPr id="101" name="icon glyph Recency">
            <a:extLst>
              <a:ext uri="{C183D7F6-B498-43B3-948B-1728B52AA6E4}">
                <adec:decorative xmlns:adec="http://schemas.microsoft.com/office/drawing/2017/decorative" val="1"/>
              </a:ext>
            </a:extLst>
          </p:cNvPr>
          <p:cNvSpPr/>
          <p:nvPr/>
        </p:nvSpPr>
        <p:spPr>
          <a:xfrm>
            <a:off x="801928" y="1795000"/>
            <a:ext cx="190000" cy="190000"/>
          </a:xfrm>
          <a:prstGeom prst="pie">
            <a:avLst/>
          </a:prstGeom>
          <a:solidFill>
            <a:srgbClr val="FFFFFF"/>
          </a:solidFill>
          <a:ln/>
        </p:spPr>
        <p:txBody>
          <a:bodyPr/>
          <a:lstStyle/>
          <a:p>
            <a:endParaRPr lang="en-GB"/>
          </a:p>
        </p:txBody>
      </p:sp>
      <p:sp>
        <p:nvSpPr>
          <p:cNvPr id="102" name="icon badge Frequency">
            <a:extLst>
              <a:ext uri="{C183D7F6-B498-43B3-948B-1728B52AA6E4}">
                <adec:decorative xmlns:adec="http://schemas.microsoft.com/office/drawing/2017/decorative" val="1"/>
              </a:ext>
            </a:extLst>
          </p:cNvPr>
          <p:cNvSpPr/>
          <p:nvPr/>
        </p:nvSpPr>
        <p:spPr>
          <a:xfrm>
            <a:off x="726928" y="2280000"/>
            <a:ext cx="340000" cy="340000"/>
          </a:xfrm>
          <a:prstGeom prst="ellipse">
            <a:avLst/>
          </a:prstGeom>
          <a:solidFill>
            <a:srgbClr val="128F90"/>
          </a:solidFill>
          <a:ln/>
        </p:spPr>
        <p:txBody>
          <a:bodyPr/>
          <a:lstStyle/>
          <a:p>
            <a:endParaRPr lang="en-GB"/>
          </a:p>
        </p:txBody>
      </p:sp>
      <p:sp>
        <p:nvSpPr>
          <p:cNvPr id="103" name="icon glyph Frequency">
            <a:extLst>
              <a:ext uri="{C183D7F6-B498-43B3-948B-1728B52AA6E4}">
                <adec:decorative xmlns:adec="http://schemas.microsoft.com/office/drawing/2017/decorative" val="1"/>
              </a:ext>
            </a:extLst>
          </p:cNvPr>
          <p:cNvSpPr/>
          <p:nvPr/>
        </p:nvSpPr>
        <p:spPr>
          <a:xfrm>
            <a:off x="801928" y="2355000"/>
            <a:ext cx="190000" cy="190000"/>
          </a:xfrm>
          <a:prstGeom prst="chevron">
            <a:avLst/>
          </a:prstGeom>
          <a:solidFill>
            <a:srgbClr val="FFFFFF"/>
          </a:solidFill>
          <a:ln/>
        </p:spPr>
        <p:txBody>
          <a:bodyPr/>
          <a:lstStyle/>
          <a:p>
            <a:endParaRPr lang="en-GB"/>
          </a:p>
        </p:txBody>
      </p:sp>
      <p:sp>
        <p:nvSpPr>
          <p:cNvPr id="104" name="icon badge Monetary">
            <a:extLst>
              <a:ext uri="{C183D7F6-B498-43B3-948B-1728B52AA6E4}">
                <adec:decorative xmlns:adec="http://schemas.microsoft.com/office/drawing/2017/decorative" val="1"/>
              </a:ext>
            </a:extLst>
          </p:cNvPr>
          <p:cNvSpPr/>
          <p:nvPr/>
        </p:nvSpPr>
        <p:spPr>
          <a:xfrm>
            <a:off x="726928" y="2840000"/>
            <a:ext cx="340000" cy="340000"/>
          </a:xfrm>
          <a:prstGeom prst="ellipse">
            <a:avLst/>
          </a:prstGeom>
          <a:solidFill>
            <a:srgbClr val="128F90"/>
          </a:solidFill>
          <a:ln/>
        </p:spPr>
        <p:txBody>
          <a:bodyPr/>
          <a:lstStyle/>
          <a:p>
            <a:endParaRPr lang="en-GB"/>
          </a:p>
        </p:txBody>
      </p:sp>
      <p:sp>
        <p:nvSpPr>
          <p:cNvPr id="105" name="icon glyph Monetary">
            <a:extLst>
              <a:ext uri="{C183D7F6-B498-43B3-948B-1728B52AA6E4}">
                <adec:decorative xmlns:adec="http://schemas.microsoft.com/office/drawing/2017/decorative" val="1"/>
              </a:ext>
            </a:extLst>
          </p:cNvPr>
          <p:cNvSpPr/>
          <p:nvPr/>
        </p:nvSpPr>
        <p:spPr>
          <a:xfrm>
            <a:off x="801928" y="2915000"/>
            <a:ext cx="190000" cy="190000"/>
          </a:xfrm>
          <a:prstGeom prst="donut">
            <a:avLst/>
          </a:prstGeom>
          <a:solidFill>
            <a:srgbClr val="FFFFFF"/>
          </a:solidFill>
          <a:ln/>
        </p:spPr>
        <p:txBody>
          <a:bodyPr/>
          <a:lstStyle/>
          <a:p>
            <a:endParaRPr lang="en-GB"/>
          </a:p>
        </p:txBody>
      </p:sp>
      <p:sp>
        <p:nvSpPr>
          <p:cNvPr id="106" name="icon badge Engagement">
            <a:extLst>
              <a:ext uri="{C183D7F6-B498-43B3-948B-1728B52AA6E4}">
                <adec:decorative xmlns:adec="http://schemas.microsoft.com/office/drawing/2017/decorative" val="1"/>
              </a:ext>
            </a:extLst>
          </p:cNvPr>
          <p:cNvSpPr/>
          <p:nvPr/>
        </p:nvSpPr>
        <p:spPr>
          <a:xfrm>
            <a:off x="726928" y="3400000"/>
            <a:ext cx="340000" cy="340000"/>
          </a:xfrm>
          <a:prstGeom prst="ellipse">
            <a:avLst/>
          </a:prstGeom>
          <a:solidFill>
            <a:srgbClr val="128F90"/>
          </a:solidFill>
          <a:ln/>
        </p:spPr>
        <p:txBody>
          <a:bodyPr/>
          <a:lstStyle/>
          <a:p>
            <a:endParaRPr lang="en-GB"/>
          </a:p>
        </p:txBody>
      </p:sp>
      <p:sp>
        <p:nvSpPr>
          <p:cNvPr id="107" name="icon glyph Engagement">
            <a:extLst>
              <a:ext uri="{C183D7F6-B498-43B3-948B-1728B52AA6E4}">
                <adec:decorative xmlns:adec="http://schemas.microsoft.com/office/drawing/2017/decorative" val="1"/>
              </a:ext>
            </a:extLst>
          </p:cNvPr>
          <p:cNvSpPr/>
          <p:nvPr/>
        </p:nvSpPr>
        <p:spPr>
          <a:xfrm>
            <a:off x="801928" y="3475000"/>
            <a:ext cx="190000" cy="190000"/>
          </a:xfrm>
          <a:prstGeom prst="lightningBolt">
            <a:avLst/>
          </a:prstGeom>
          <a:solidFill>
            <a:srgbClr val="FFFFFF"/>
          </a:solidFill>
          <a:ln/>
        </p:spPr>
        <p:txBody>
          <a:bodyPr/>
          <a:lstStyle/>
          <a:p>
            <a:endParaRPr lang="en-GB"/>
          </a:p>
        </p:txBody>
      </p:sp>
      <p:sp>
        <p:nvSpPr>
          <p:cNvPr id="108" name="icon badge Loyalty">
            <a:extLst>
              <a:ext uri="{C183D7F6-B498-43B3-948B-1728B52AA6E4}">
                <adec:decorative xmlns:adec="http://schemas.microsoft.com/office/drawing/2017/decorative" val="1"/>
              </a:ext>
            </a:extLst>
          </p:cNvPr>
          <p:cNvSpPr/>
          <p:nvPr/>
        </p:nvSpPr>
        <p:spPr>
          <a:xfrm>
            <a:off x="4845472" y="1720000"/>
            <a:ext cx="340000" cy="340000"/>
          </a:xfrm>
          <a:prstGeom prst="ellipse">
            <a:avLst/>
          </a:prstGeom>
          <a:solidFill>
            <a:srgbClr val="0F2C48"/>
          </a:solidFill>
          <a:ln/>
        </p:spPr>
        <p:txBody>
          <a:bodyPr/>
          <a:lstStyle/>
          <a:p>
            <a:endParaRPr lang="en-GB"/>
          </a:p>
        </p:txBody>
      </p:sp>
      <p:sp>
        <p:nvSpPr>
          <p:cNvPr id="109" name="icon glyph Loyalty">
            <a:extLst>
              <a:ext uri="{C183D7F6-B498-43B3-948B-1728B52AA6E4}">
                <adec:decorative xmlns:adec="http://schemas.microsoft.com/office/drawing/2017/decorative" val="1"/>
              </a:ext>
            </a:extLst>
          </p:cNvPr>
          <p:cNvSpPr/>
          <p:nvPr/>
        </p:nvSpPr>
        <p:spPr>
          <a:xfrm>
            <a:off x="4920472" y="1795000"/>
            <a:ext cx="190000" cy="190000"/>
          </a:xfrm>
          <a:prstGeom prst="star5">
            <a:avLst/>
          </a:prstGeom>
          <a:solidFill>
            <a:srgbClr val="FFFFFF"/>
          </a:solidFill>
          <a:ln/>
        </p:spPr>
        <p:txBody>
          <a:bodyPr/>
          <a:lstStyle/>
          <a:p>
            <a:endParaRPr lang="en-GB"/>
          </a:p>
        </p:txBody>
      </p:sp>
      <p:sp>
        <p:nvSpPr>
          <p:cNvPr id="110" name="icon badge Referral">
            <a:extLst>
              <a:ext uri="{C183D7F6-B498-43B3-948B-1728B52AA6E4}">
                <adec:decorative xmlns:adec="http://schemas.microsoft.com/office/drawing/2017/decorative" val="1"/>
              </a:ext>
            </a:extLst>
          </p:cNvPr>
          <p:cNvSpPr/>
          <p:nvPr/>
        </p:nvSpPr>
        <p:spPr>
          <a:xfrm>
            <a:off x="4845472" y="2280000"/>
            <a:ext cx="340000" cy="340000"/>
          </a:xfrm>
          <a:prstGeom prst="ellipse">
            <a:avLst/>
          </a:prstGeom>
          <a:solidFill>
            <a:srgbClr val="0F2C48"/>
          </a:solidFill>
          <a:ln/>
        </p:spPr>
        <p:txBody>
          <a:bodyPr/>
          <a:lstStyle/>
          <a:p>
            <a:endParaRPr lang="en-GB"/>
          </a:p>
        </p:txBody>
      </p:sp>
      <p:sp>
        <p:nvSpPr>
          <p:cNvPr id="111" name="icon glyph Referral">
            <a:extLst>
              <a:ext uri="{C183D7F6-B498-43B3-948B-1728B52AA6E4}">
                <adec:decorative xmlns:adec="http://schemas.microsoft.com/office/drawing/2017/decorative" val="1"/>
              </a:ext>
            </a:extLst>
          </p:cNvPr>
          <p:cNvSpPr/>
          <p:nvPr/>
        </p:nvSpPr>
        <p:spPr>
          <a:xfrm>
            <a:off x="4920472" y="2355000"/>
            <a:ext cx="190000" cy="190000"/>
          </a:xfrm>
          <a:prstGeom prst="rightArrow">
            <a:avLst/>
          </a:prstGeom>
          <a:solidFill>
            <a:srgbClr val="FFFFFF"/>
          </a:solidFill>
          <a:ln/>
        </p:spPr>
        <p:txBody>
          <a:bodyPr/>
          <a:lstStyle/>
          <a:p>
            <a:endParaRPr lang="en-GB"/>
          </a:p>
        </p:txBody>
      </p:sp>
      <p:sp>
        <p:nvSpPr>
          <p:cNvPr id="112" name="icon badge City">
            <a:extLst>
              <a:ext uri="{C183D7F6-B498-43B3-948B-1728B52AA6E4}">
                <adec:decorative xmlns:adec="http://schemas.microsoft.com/office/drawing/2017/decorative" val="1"/>
              </a:ext>
            </a:extLst>
          </p:cNvPr>
          <p:cNvSpPr/>
          <p:nvPr/>
        </p:nvSpPr>
        <p:spPr>
          <a:xfrm>
            <a:off x="4845472" y="2840000"/>
            <a:ext cx="340000" cy="340000"/>
          </a:xfrm>
          <a:prstGeom prst="ellipse">
            <a:avLst/>
          </a:prstGeom>
          <a:solidFill>
            <a:srgbClr val="0F2C48"/>
          </a:solidFill>
          <a:ln/>
        </p:spPr>
        <p:txBody>
          <a:bodyPr/>
          <a:lstStyle/>
          <a:p>
            <a:endParaRPr lang="en-GB"/>
          </a:p>
        </p:txBody>
      </p:sp>
      <p:sp>
        <p:nvSpPr>
          <p:cNvPr id="113" name="icon glyph City">
            <a:extLst>
              <a:ext uri="{C183D7F6-B498-43B3-948B-1728B52AA6E4}">
                <adec:decorative xmlns:adec="http://schemas.microsoft.com/office/drawing/2017/decorative" val="1"/>
              </a:ext>
            </a:extLst>
          </p:cNvPr>
          <p:cNvSpPr/>
          <p:nvPr/>
        </p:nvSpPr>
        <p:spPr>
          <a:xfrm rot="8100000">
            <a:off x="4920472" y="2915000"/>
            <a:ext cx="190000" cy="190000"/>
          </a:xfrm>
          <a:prstGeom prst="teardrop">
            <a:avLst/>
          </a:prstGeom>
          <a:solidFill>
            <a:srgbClr val="FFFFFF"/>
          </a:solidFill>
          <a:ln/>
        </p:spPr>
        <p:txBody>
          <a:bodyPr/>
          <a:lstStyle/>
          <a:p>
            <a:endParaRPr lang="en-GB"/>
          </a:p>
        </p:txBody>
      </p:sp>
      <p:sp>
        <p:nvSpPr>
          <p:cNvPr id="114" name="icon badge Age">
            <a:extLst>
              <a:ext uri="{C183D7F6-B498-43B3-948B-1728B52AA6E4}">
                <adec:decorative xmlns:adec="http://schemas.microsoft.com/office/drawing/2017/decorative" val="1"/>
              </a:ext>
            </a:extLst>
          </p:cNvPr>
          <p:cNvSpPr/>
          <p:nvPr/>
        </p:nvSpPr>
        <p:spPr>
          <a:xfrm>
            <a:off x="4845472" y="3400000"/>
            <a:ext cx="340000" cy="340000"/>
          </a:xfrm>
          <a:prstGeom prst="ellipse">
            <a:avLst/>
          </a:prstGeom>
          <a:solidFill>
            <a:srgbClr val="0F2C48"/>
          </a:solidFill>
          <a:ln/>
        </p:spPr>
        <p:txBody>
          <a:bodyPr/>
          <a:lstStyle/>
          <a:p>
            <a:endParaRPr lang="en-GB"/>
          </a:p>
        </p:txBody>
      </p:sp>
      <p:sp>
        <p:nvSpPr>
          <p:cNvPr id="115" name="icon glyph Age">
            <a:extLst>
              <a:ext uri="{C183D7F6-B498-43B3-948B-1728B52AA6E4}">
                <adec:decorative xmlns:adec="http://schemas.microsoft.com/office/drawing/2017/decorative" val="1"/>
              </a:ext>
            </a:extLst>
          </p:cNvPr>
          <p:cNvSpPr/>
          <p:nvPr/>
        </p:nvSpPr>
        <p:spPr>
          <a:xfrm>
            <a:off x="4920472" y="3475000"/>
            <a:ext cx="190000" cy="190000"/>
          </a:xfrm>
          <a:prstGeom prst="smileyFace">
            <a:avLst/>
          </a:prstGeom>
          <a:solidFill>
            <a:srgbClr val="FFFFFF"/>
          </a:solidFill>
          <a:ln/>
        </p:spPr>
        <p:txBody>
          <a:bodyPr/>
          <a:lstStyle/>
          <a:p>
            <a:endParaRPr lang="en-GB"/>
          </a:p>
        </p:txBody>
      </p:sp>
      <p:sp>
        <p:nvSpPr>
          <p:cNvPr id="116" name="icon badge Scores">
            <a:extLst>
              <a:ext uri="{C183D7F6-B498-43B3-948B-1728B52AA6E4}">
                <adec:decorative xmlns:adec="http://schemas.microsoft.com/office/drawing/2017/decorative" val="1"/>
              </a:ext>
            </a:extLst>
          </p:cNvPr>
          <p:cNvSpPr/>
          <p:nvPr/>
        </p:nvSpPr>
        <p:spPr>
          <a:xfrm>
            <a:off x="4845472" y="3960000"/>
            <a:ext cx="340000" cy="340000"/>
          </a:xfrm>
          <a:prstGeom prst="ellipse">
            <a:avLst/>
          </a:prstGeom>
          <a:solidFill>
            <a:srgbClr val="0F2C48"/>
          </a:solidFill>
          <a:ln/>
        </p:spPr>
        <p:txBody>
          <a:bodyPr/>
          <a:lstStyle/>
          <a:p>
            <a:endParaRPr lang="en-GB"/>
          </a:p>
        </p:txBody>
      </p:sp>
      <p:sp>
        <p:nvSpPr>
          <p:cNvPr id="117" name="icon glyph Scores">
            <a:extLst>
              <a:ext uri="{C183D7F6-B498-43B3-948B-1728B52AA6E4}">
                <adec:decorative xmlns:adec="http://schemas.microsoft.com/office/drawing/2017/decorative" val="1"/>
              </a:ext>
            </a:extLst>
          </p:cNvPr>
          <p:cNvSpPr/>
          <p:nvPr/>
        </p:nvSpPr>
        <p:spPr>
          <a:xfrm>
            <a:off x="4920472" y="4035000"/>
            <a:ext cx="190000" cy="190000"/>
          </a:xfrm>
          <a:prstGeom prst="blockArc">
            <a:avLst/>
          </a:prstGeom>
          <a:solidFill>
            <a:srgbClr val="FFFFFF"/>
          </a:solidFill>
          <a:ln/>
        </p:spPr>
        <p:txBody>
          <a:bodyPr/>
          <a:lstStyle/>
          <a:p>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B721-5D77-FF27-7D63-C0D03166FE7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D71435-A8EB-514B-3D8F-E68AA271D5C1}"/>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EDA INSIGHTS</a:t>
            </a:r>
            <a:endParaRPr lang="en-US" sz="1250" dirty="0"/>
          </a:p>
        </p:txBody>
      </p:sp>
      <p:sp>
        <p:nvSpPr>
          <p:cNvPr id="3" name="Text 0">
            <a:extLst>
              <a:ext uri="{FF2B5EF4-FFF2-40B4-BE49-F238E27FC236}">
                <a16:creationId xmlns:a16="http://schemas.microsoft.com/office/drawing/2014/main" id="{67FBEB46-48AF-0CBA-4715-C3FCBD7D949E}"/>
              </a:ext>
            </a:extLst>
          </p:cNvPr>
          <p:cNvSpPr>
            <a:spLocks noGrp="1"/>
          </p:cNvSpPr>
          <p:nvPr>
            <p:ph type="title" idx="101" hasCustomPrompt="1"/>
          </p:nvPr>
        </p:nvSpPr>
        <p:spPr>
          <a:xfrm>
            <a:off x="199723" y="547196"/>
            <a:ext cx="8037095" cy="822960"/>
          </a:xfrm>
          <a:prstGeom prst="rect">
            <a:avLst/>
          </a:prstGeom>
          <a:noFill/>
          <a:ln/>
        </p:spPr>
        <p:txBody>
          <a:bodyPr wrap="square" rtlCol="0" anchor="t"/>
          <a:lstStyle/>
          <a:p>
            <a:r>
              <a:rPr lang="en-US" sz="3300" b="1" dirty="0">
                <a:solidFill>
                  <a:srgbClr val="0F2C48"/>
                </a:solidFill>
                <a:latin typeface="Calibri Light" pitchFamily="34" charset="0"/>
                <a:ea typeface="Calibri Light" pitchFamily="34" charset="-122"/>
                <a:cs typeface="Calibri Light" pitchFamily="34" charset="-120"/>
              </a:rPr>
              <a:t>What the </a:t>
            </a:r>
            <a:r>
              <a:rPr lang="en-US" dirty="0"/>
              <a:t>data reveals- </a:t>
            </a:r>
            <a:r>
              <a:rPr lang="en-US" sz="2800" i="1" dirty="0"/>
              <a:t>Business Implications </a:t>
            </a:r>
            <a:br>
              <a:rPr lang="en-US" sz="3600" dirty="0"/>
            </a:br>
            <a:endParaRPr lang="en-US" dirty="0"/>
          </a:p>
        </p:txBody>
      </p:sp>
      <p:sp>
        <p:nvSpPr>
          <p:cNvPr id="22" name="Text 19">
            <a:extLst>
              <a:ext uri="{FF2B5EF4-FFF2-40B4-BE49-F238E27FC236}">
                <a16:creationId xmlns:a16="http://schemas.microsoft.com/office/drawing/2014/main" id="{7BD44D2F-443D-0040-96F8-1C5D20164A91}"/>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05</a:t>
            </a:r>
            <a:endParaRPr lang="en-US" sz="1100" dirty="0"/>
          </a:p>
        </p:txBody>
      </p:sp>
      <p:sp>
        <p:nvSpPr>
          <p:cNvPr id="23" name="Text 20">
            <a:extLst>
              <a:ext uri="{FF2B5EF4-FFF2-40B4-BE49-F238E27FC236}">
                <a16:creationId xmlns:a16="http://schemas.microsoft.com/office/drawing/2014/main" id="{F9518710-98D8-8C3D-0124-F682F6186863}"/>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4" name="Text 21">
            <a:extLst>
              <a:ext uri="{FF2B5EF4-FFF2-40B4-BE49-F238E27FC236}">
                <a16:creationId xmlns:a16="http://schemas.microsoft.com/office/drawing/2014/main" id="{116D9D68-33D9-15F1-1C38-26CB8ABF5CFA}"/>
              </a:ext>
            </a:extLst>
          </p:cNvPr>
          <p:cNvSpPr/>
          <p:nvPr/>
        </p:nvSpPr>
        <p:spPr>
          <a:xfrm>
            <a:off x="3474720" y="4704588"/>
            <a:ext cx="3108960" cy="274320"/>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
        <p:nvSpPr>
          <p:cNvPr id="4" name="TextBox 3">
            <a:extLst>
              <a:ext uri="{FF2B5EF4-FFF2-40B4-BE49-F238E27FC236}">
                <a16:creationId xmlns:a16="http://schemas.microsoft.com/office/drawing/2014/main" id="{758A823E-9A69-435B-7A7F-1FAF042DB98D}"/>
              </a:ext>
            </a:extLst>
          </p:cNvPr>
          <p:cNvSpPr txBox="1"/>
          <p:nvPr/>
        </p:nvSpPr>
        <p:spPr>
          <a:xfrm>
            <a:off x="204537" y="1503947"/>
            <a:ext cx="8722895" cy="2908489"/>
          </a:xfrm>
          <a:prstGeom prst="rect">
            <a:avLst/>
          </a:prstGeom>
          <a:noFill/>
        </p:spPr>
        <p:txBody>
          <a:bodyPr wrap="square" rtlCol="0">
            <a:spAutoFit/>
          </a:bodyPr>
          <a:lstStyle/>
          <a:p>
            <a:pPr marL="457200" indent="-457200">
              <a:buFont typeface="Wingdings" panose="05000000000000000000" pitchFamily="2" charset="2"/>
              <a:buChar char="q"/>
            </a:pPr>
            <a:r>
              <a:rPr lang="en-GB" sz="3300" b="1" dirty="0">
                <a:solidFill>
                  <a:srgbClr val="0F2C48"/>
                </a:solidFill>
                <a:latin typeface="Calibri Light" pitchFamily="34" charset="0"/>
                <a:ea typeface="Calibri Light" pitchFamily="34" charset="-122"/>
                <a:cs typeface="Calibri Light" pitchFamily="34" charset="-120"/>
              </a:rPr>
              <a:t>Encourage low‑activity riders to take more trips through promotions.</a:t>
            </a:r>
          </a:p>
          <a:p>
            <a:pPr marL="457200" indent="-457200">
              <a:buFont typeface="Wingdings" panose="05000000000000000000" pitchFamily="2" charset="2"/>
              <a:buChar char="q"/>
            </a:pPr>
            <a:r>
              <a:rPr lang="en-GB" sz="3300" b="1" dirty="0">
                <a:solidFill>
                  <a:srgbClr val="0F2C48"/>
                </a:solidFill>
                <a:latin typeface="Calibri Light" pitchFamily="34" charset="0"/>
                <a:ea typeface="Calibri Light" pitchFamily="34" charset="-122"/>
                <a:cs typeface="Calibri Light" pitchFamily="34" charset="-120"/>
              </a:rPr>
              <a:t>Protect high‑activity riders with loyalty rewards.</a:t>
            </a:r>
          </a:p>
          <a:p>
            <a:pPr marL="457200" indent="-457200">
              <a:buFont typeface="Wingdings" panose="05000000000000000000" pitchFamily="2" charset="2"/>
              <a:buChar char="q"/>
            </a:pPr>
            <a:r>
              <a:rPr lang="en-GB" sz="3300" b="1" dirty="0">
                <a:solidFill>
                  <a:srgbClr val="0F2C48"/>
                </a:solidFill>
                <a:latin typeface="Calibri Light" pitchFamily="34" charset="0"/>
                <a:ea typeface="Calibri Light" pitchFamily="34" charset="-122"/>
                <a:cs typeface="Calibri Light" pitchFamily="34" charset="-120"/>
              </a:rPr>
              <a:t>Use trip frequency as a core metric in retention dashboards.</a:t>
            </a:r>
          </a:p>
          <a:p>
            <a:pPr marL="285750" indent="-285750">
              <a:buFont typeface="Wingdings" panose="05000000000000000000" pitchFamily="2" charset="2"/>
              <a:buChar char="q"/>
            </a:pPr>
            <a:endParaRPr lang="en-GB" dirty="0"/>
          </a:p>
        </p:txBody>
      </p:sp>
    </p:spTree>
    <p:extLst>
      <p:ext uri="{BB962C8B-B14F-4D97-AF65-F5344CB8AC3E}">
        <p14:creationId xmlns:p14="http://schemas.microsoft.com/office/powerpoint/2010/main" val="2781102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p:cNvSpPr>
            <a:spLocks noGrp="1"/>
          </p:cNvSpPr>
          <p:nvPr>
            <p:ph type="title" idx="101" hasCustomPrompt="1"/>
          </p:nvPr>
        </p:nvSpPr>
        <p:spPr>
          <a:xfrm>
            <a:off x="288757" y="505326"/>
            <a:ext cx="5955631" cy="517358"/>
          </a:xfrm>
          <a:prstGeom prst="rect">
            <a:avLst/>
          </a:prstGeom>
          <a:noFill/>
          <a:ln/>
        </p:spPr>
        <p:txBody>
          <a:bodyPr wrap="square" rtlCol="0" anchor="t"/>
          <a:lstStyle/>
          <a:p>
            <a:pPr marL="0" indent="0" algn="ctr">
              <a:buNone/>
            </a:pPr>
            <a:r>
              <a:rPr lang="en-US" sz="3300" b="1" dirty="0">
                <a:solidFill>
                  <a:srgbClr val="0F2C48"/>
                </a:solidFill>
                <a:latin typeface="Calibri Light" pitchFamily="34" charset="0"/>
                <a:ea typeface="Calibri Light" pitchFamily="34" charset="-122"/>
                <a:cs typeface="Calibri Light" pitchFamily="34" charset="-120"/>
              </a:rPr>
              <a:t>Model performance: Comparison</a:t>
            </a:r>
            <a:endParaRPr lang="en-US" sz="3300" dirty="0"/>
          </a:p>
        </p:txBody>
      </p:sp>
      <p:graphicFrame>
        <p:nvGraphicFramePr>
          <p:cNvPr id="23" name="Model Performance Table"/>
          <p:cNvGraphicFramePr>
            <a:graphicFrameLocks noGrp="1"/>
          </p:cNvGraphicFramePr>
          <p:nvPr>
            <p:extLst>
              <p:ext uri="{D42A27DB-BD31-4B8C-83A1-F6EECF244321}">
                <p14:modId xmlns:p14="http://schemas.microsoft.com/office/powerpoint/2010/main" val="3451790521"/>
              </p:ext>
            </p:extLst>
          </p:nvPr>
        </p:nvGraphicFramePr>
        <p:xfrm>
          <a:off x="157018" y="1098761"/>
          <a:ext cx="8885377" cy="3648727"/>
        </p:xfrm>
        <a:graphic>
          <a:graphicData uri="http://schemas.openxmlformats.org/drawingml/2006/table">
            <a:tbl>
              <a:tblPr firstRow="1" bandRow="1"/>
              <a:tblGrid>
                <a:gridCol w="2555337">
                  <a:extLst>
                    <a:ext uri="{9D8B030D-6E8A-4147-A177-3AD203B41FA5}">
                      <a16:colId xmlns:a16="http://schemas.microsoft.com/office/drawing/2014/main" val="20000"/>
                    </a:ext>
                  </a:extLst>
                </a:gridCol>
                <a:gridCol w="1266008">
                  <a:extLst>
                    <a:ext uri="{9D8B030D-6E8A-4147-A177-3AD203B41FA5}">
                      <a16:colId xmlns:a16="http://schemas.microsoft.com/office/drawing/2014/main" val="20001"/>
                    </a:ext>
                  </a:extLst>
                </a:gridCol>
                <a:gridCol w="1266008">
                  <a:extLst>
                    <a:ext uri="{9D8B030D-6E8A-4147-A177-3AD203B41FA5}">
                      <a16:colId xmlns:a16="http://schemas.microsoft.com/office/drawing/2014/main" val="20002"/>
                    </a:ext>
                  </a:extLst>
                </a:gridCol>
                <a:gridCol w="1266008">
                  <a:extLst>
                    <a:ext uri="{9D8B030D-6E8A-4147-A177-3AD203B41FA5}">
                      <a16:colId xmlns:a16="http://schemas.microsoft.com/office/drawing/2014/main" val="20003"/>
                    </a:ext>
                  </a:extLst>
                </a:gridCol>
                <a:gridCol w="1266008">
                  <a:extLst>
                    <a:ext uri="{9D8B030D-6E8A-4147-A177-3AD203B41FA5}">
                      <a16:colId xmlns:a16="http://schemas.microsoft.com/office/drawing/2014/main" val="20004"/>
                    </a:ext>
                  </a:extLst>
                </a:gridCol>
                <a:gridCol w="1266008">
                  <a:extLst>
                    <a:ext uri="{9D8B030D-6E8A-4147-A177-3AD203B41FA5}">
                      <a16:colId xmlns:a16="http://schemas.microsoft.com/office/drawing/2014/main" val="20005"/>
                    </a:ext>
                  </a:extLst>
                </a:gridCol>
              </a:tblGrid>
              <a:tr h="371057">
                <a:tc>
                  <a:txBody>
                    <a:bodyPr/>
                    <a:lstStyle/>
                    <a:p>
                      <a:pPr algn="l"/>
                      <a:r>
                        <a:rPr lang="en-US" sz="1050" b="1" kern="0" dirty="0">
                          <a:solidFill>
                            <a:srgbClr val="FFFFFF"/>
                          </a:solidFill>
                          <a:latin typeface="Calibri" pitchFamily="34" charset="0"/>
                        </a:rPr>
                        <a:t>Model</a:t>
                      </a:r>
                    </a:p>
                  </a:txBody>
                  <a:tcPr marT="27432" marB="27432" anchor="ctr">
                    <a:solidFill>
                      <a:srgbClr val="0F2C48"/>
                    </a:solidFill>
                  </a:tcPr>
                </a:tc>
                <a:tc>
                  <a:txBody>
                    <a:bodyPr/>
                    <a:lstStyle/>
                    <a:p>
                      <a:pPr algn="ctr"/>
                      <a:r>
                        <a:rPr lang="en-US" sz="1050" b="1" kern="0" dirty="0">
                          <a:solidFill>
                            <a:srgbClr val="FFFFFF"/>
                          </a:solidFill>
                          <a:latin typeface="Calibri" pitchFamily="34" charset="0"/>
                        </a:rPr>
                        <a:t>Accuracy</a:t>
                      </a:r>
                    </a:p>
                  </a:txBody>
                  <a:tcPr marT="27432" marB="27432" anchor="ctr">
                    <a:solidFill>
                      <a:srgbClr val="0F2C48"/>
                    </a:solidFill>
                  </a:tcPr>
                </a:tc>
                <a:tc>
                  <a:txBody>
                    <a:bodyPr/>
                    <a:lstStyle/>
                    <a:p>
                      <a:pPr algn="ctr"/>
                      <a:r>
                        <a:rPr lang="en-US" sz="1050" b="1" kern="0">
                          <a:solidFill>
                            <a:srgbClr val="FFFFFF"/>
                          </a:solidFill>
                          <a:latin typeface="Calibri" pitchFamily="34" charset="0"/>
                        </a:rPr>
                        <a:t>Precision</a:t>
                      </a:r>
                    </a:p>
                  </a:txBody>
                  <a:tcPr marT="27432" marB="27432" anchor="ctr">
                    <a:solidFill>
                      <a:srgbClr val="0F2C48"/>
                    </a:solidFill>
                  </a:tcPr>
                </a:tc>
                <a:tc>
                  <a:txBody>
                    <a:bodyPr/>
                    <a:lstStyle/>
                    <a:p>
                      <a:pPr algn="ctr"/>
                      <a:r>
                        <a:rPr lang="en-US" sz="1050" b="1" kern="0">
                          <a:solidFill>
                            <a:srgbClr val="FFFFFF"/>
                          </a:solidFill>
                          <a:latin typeface="Calibri" pitchFamily="34" charset="0"/>
                        </a:rPr>
                        <a:t>Recall</a:t>
                      </a:r>
                    </a:p>
                  </a:txBody>
                  <a:tcPr marT="27432" marB="27432" anchor="ctr">
                    <a:solidFill>
                      <a:srgbClr val="0F2C48"/>
                    </a:solidFill>
                  </a:tcPr>
                </a:tc>
                <a:tc>
                  <a:txBody>
                    <a:bodyPr/>
                    <a:lstStyle/>
                    <a:p>
                      <a:pPr algn="ctr"/>
                      <a:r>
                        <a:rPr lang="en-US" sz="1050" b="1" kern="0">
                          <a:solidFill>
                            <a:srgbClr val="FFFFFF"/>
                          </a:solidFill>
                          <a:latin typeface="Calibri" pitchFamily="34" charset="0"/>
                        </a:rPr>
                        <a:t>F1</a:t>
                      </a:r>
                    </a:p>
                  </a:txBody>
                  <a:tcPr marT="27432" marB="27432" anchor="ctr">
                    <a:solidFill>
                      <a:srgbClr val="0F2C48"/>
                    </a:solidFill>
                  </a:tcPr>
                </a:tc>
                <a:tc>
                  <a:txBody>
                    <a:bodyPr/>
                    <a:lstStyle/>
                    <a:p>
                      <a:pPr algn="ctr"/>
                      <a:r>
                        <a:rPr lang="en-US" sz="1050" b="1" kern="0" dirty="0">
                          <a:solidFill>
                            <a:srgbClr val="FFFFFF"/>
                          </a:solidFill>
                          <a:latin typeface="Calibri" pitchFamily="34" charset="0"/>
                        </a:rPr>
                        <a:t>AUC</a:t>
                      </a:r>
                    </a:p>
                  </a:txBody>
                  <a:tcPr marT="27432" marB="27432" anchor="ctr">
                    <a:solidFill>
                      <a:srgbClr val="0F2C48"/>
                    </a:solidFill>
                  </a:tcPr>
                </a:tc>
                <a:extLst>
                  <a:ext uri="{0D108BD9-81ED-4DB2-BD59-A6C34878D82A}">
                    <a16:rowId xmlns:a16="http://schemas.microsoft.com/office/drawing/2014/main" val="10000"/>
                  </a:ext>
                </a:extLst>
              </a:tr>
              <a:tr h="327767">
                <a:tc>
                  <a:txBody>
                    <a:bodyPr/>
                    <a:lstStyle/>
                    <a:p>
                      <a:pPr algn="l"/>
                      <a:r>
                        <a:rPr lang="en-US" sz="1050" b="1" kern="0" dirty="0">
                          <a:solidFill>
                            <a:srgbClr val="FFFFFF"/>
                          </a:solidFill>
                          <a:latin typeface="Calibri" pitchFamily="34" charset="0"/>
                        </a:rPr>
                        <a:t>Decision Tree</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0.582</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0.348</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0.337</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0.343</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0.518</a:t>
                      </a:r>
                    </a:p>
                  </a:txBody>
                  <a:tcPr marT="27432" marB="27432" anchor="ctr">
                    <a:lnB w="9525" cap="flat">
                      <a:solidFill>
                        <a:srgbClr val="CBD8DE"/>
                      </a:solidFill>
                    </a:lnB>
                    <a:solidFill>
                      <a:srgbClr val="128F90"/>
                    </a:solidFill>
                  </a:tcPr>
                </a:tc>
                <a:extLst>
                  <a:ext uri="{0D108BD9-81ED-4DB2-BD59-A6C34878D82A}">
                    <a16:rowId xmlns:a16="http://schemas.microsoft.com/office/drawing/2014/main" val="10001"/>
                  </a:ext>
                </a:extLst>
              </a:tr>
              <a:tr h="327767">
                <a:tc>
                  <a:txBody>
                    <a:bodyPr/>
                    <a:lstStyle/>
                    <a:p>
                      <a:pPr algn="l"/>
                      <a:r>
                        <a:rPr lang="en-US" sz="1050" b="0" kern="0">
                          <a:solidFill>
                            <a:srgbClr val="0F2C48"/>
                          </a:solidFill>
                          <a:latin typeface="Calibri" pitchFamily="34" charset="0"/>
                        </a:rPr>
                        <a:t>KNN</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0.632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0.360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0.180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0.240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0.518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2"/>
                  </a:ext>
                </a:extLst>
              </a:tr>
              <a:tr h="327767">
                <a:tc>
                  <a:txBody>
                    <a:bodyPr/>
                    <a:lstStyle/>
                    <a:p>
                      <a:pPr algn="l"/>
                      <a:r>
                        <a:rPr lang="en-US" sz="1050" b="0" kern="0">
                          <a:solidFill>
                            <a:srgbClr val="0F2C48"/>
                          </a:solidFill>
                          <a:latin typeface="Calibri" pitchFamily="34" charset="0"/>
                        </a:rPr>
                        <a:t>Bagging</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0.658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0.342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0.062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0.105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3"/>
                  </a:ext>
                </a:extLst>
              </a:tr>
              <a:tr h="327767">
                <a:tc>
                  <a:txBody>
                    <a:bodyPr/>
                    <a:lstStyle/>
                    <a:p>
                      <a:pPr algn="l"/>
                      <a:r>
                        <a:rPr lang="en-US" sz="1050" b="0" kern="0">
                          <a:solidFill>
                            <a:srgbClr val="0F2C48"/>
                          </a:solidFill>
                          <a:latin typeface="Calibri" pitchFamily="34" charset="0"/>
                        </a:rPr>
                        <a:t>Random Forest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0.665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0.042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0.075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0.513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4"/>
                  </a:ext>
                </a:extLst>
              </a:tr>
              <a:tr h="327767">
                <a:tc>
                  <a:txBody>
                    <a:bodyPr/>
                    <a:lstStyle/>
                    <a:p>
                      <a:pPr algn="l"/>
                      <a:r>
                        <a:rPr lang="en-US" sz="1050" b="0" kern="0">
                          <a:solidFill>
                            <a:srgbClr val="0F2C48"/>
                          </a:solidFill>
                          <a:latin typeface="Calibri" pitchFamily="34" charset="0"/>
                        </a:rPr>
                        <a:t>Logistic Regression</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0.496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0.323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0.396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5"/>
                  </a:ext>
                </a:extLst>
              </a:tr>
              <a:tr h="327767">
                <a:tc>
                  <a:txBody>
                    <a:bodyPr/>
                    <a:lstStyle/>
                    <a:p>
                      <a:pPr algn="l"/>
                      <a:r>
                        <a:rPr lang="en-US" sz="1050" b="0" kern="0">
                          <a:solidFill>
                            <a:srgbClr val="0F2C48"/>
                          </a:solidFill>
                          <a:latin typeface="Calibri" pitchFamily="34" charset="0"/>
                        </a:rPr>
                        <a:t>XGBoost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0.666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0.323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0.031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0.056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0.509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6"/>
                  </a:ext>
                </a:extLst>
              </a:tr>
              <a:tr h="327767">
                <a:tc>
                  <a:txBody>
                    <a:bodyPr/>
                    <a:lstStyle/>
                    <a:p>
                      <a:pPr algn="l"/>
                      <a:r>
                        <a:rPr lang="en-US" sz="1050" b="0" kern="0">
                          <a:solidFill>
                            <a:srgbClr val="0F2C48"/>
                          </a:solidFill>
                          <a:latin typeface="Calibri" pitchFamily="34" charset="0"/>
                        </a:rPr>
                        <a:t>Gradient Boosting</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0.675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0.421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0.012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0.024</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0.502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7"/>
                  </a:ext>
                </a:extLst>
              </a:tr>
              <a:tr h="327767">
                <a:tc>
                  <a:txBody>
                    <a:bodyPr/>
                    <a:lstStyle/>
                    <a:p>
                      <a:pPr algn="l"/>
                      <a:r>
                        <a:rPr lang="en-US" sz="1050" b="0" kern="0">
                          <a:solidFill>
                            <a:srgbClr val="0F2C48"/>
                          </a:solidFill>
                          <a:latin typeface="Calibri" pitchFamily="34" charset="0"/>
                        </a:rPr>
                        <a:t>SVC (RBF)</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0.501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8"/>
                  </a:ext>
                </a:extLst>
              </a:tr>
              <a:tr h="327767">
                <a:tc>
                  <a:txBody>
                    <a:bodyPr/>
                    <a:lstStyle/>
                    <a:p>
                      <a:pPr algn="l"/>
                      <a:r>
                        <a:rPr lang="en-US" sz="1050" b="0" kern="0">
                          <a:solidFill>
                            <a:srgbClr val="0F2C48"/>
                          </a:solidFill>
                          <a:latin typeface="Calibri" pitchFamily="34" charset="0"/>
                        </a:rPr>
                        <a:t>ExtraTrees</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0.646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0.313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0.079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0.126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0.499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9"/>
                  </a:ext>
                </a:extLst>
              </a:tr>
              <a:tr h="327767">
                <a:tc>
                  <a:txBody>
                    <a:bodyPr/>
                    <a:lstStyle/>
                    <a:p>
                      <a:pPr algn="l"/>
                      <a:r>
                        <a:rPr lang="en-US" sz="1050" b="0" kern="0">
                          <a:solidFill>
                            <a:srgbClr val="0F2C48"/>
                          </a:solidFill>
                          <a:latin typeface="Calibri" pitchFamily="34" charset="0"/>
                        </a:rPr>
                        <a:t>AdaBoost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0.677</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0F2C48"/>
                          </a:solidFill>
                          <a:latin typeface="Calibri" pitchFamily="34" charset="0"/>
                        </a:rPr>
                        <a:t>0.495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10"/>
                  </a:ext>
                </a:extLst>
              </a:tr>
            </a:tbl>
          </a:graphicData>
        </a:graphic>
      </p:graphicFrame>
      <p:sp>
        <p:nvSpPr>
          <p:cNvPr id="40" name="Caption"/>
          <p:cNvSpPr txBox="1"/>
          <p:nvPr/>
        </p:nvSpPr>
        <p:spPr>
          <a:xfrm>
            <a:off x="317633" y="4851133"/>
            <a:ext cx="8056345" cy="278867"/>
          </a:xfrm>
          <a:prstGeom prst="rect">
            <a:avLst/>
          </a:prstGeom>
          <a:noFill/>
        </p:spPr>
        <p:txBody>
          <a:bodyPr wrap="square" lIns="0" tIns="0" rIns="0" bIns="0" rtlCol="0" anchor="t"/>
          <a:lstStyle/>
          <a:p>
            <a:pPr marL="0" indent="0">
              <a:buNone/>
            </a:pPr>
            <a:r>
              <a:rPr lang="en-US" sz="900" b="1" kern="0" dirty="0">
                <a:solidFill>
                  <a:srgbClr val="128F90"/>
                </a:solidFill>
                <a:latin typeface="Calibri" pitchFamily="34" charset="0"/>
              </a:rPr>
              <a:t>Best model by AUC: Decision Tree (0.518).  </a:t>
            </a:r>
            <a:r>
              <a:rPr lang="en-US" sz="900" b="0" kern="0" dirty="0">
                <a:solidFill>
                  <a:srgbClr val="8195A0"/>
                </a:solidFill>
                <a:latin typeface="Calibri" pitchFamily="34" charset="0"/>
              </a:rPr>
              <a:t>Metrics on 0–1 scale; rows ranked by AUC.</a:t>
            </a:r>
          </a:p>
        </p:txBody>
      </p:sp>
      <p:sp>
        <p:nvSpPr>
          <p:cNvPr id="4" name="Text 0">
            <a:extLst>
              <a:ext uri="{FF2B5EF4-FFF2-40B4-BE49-F238E27FC236}">
                <a16:creationId xmlns:a16="http://schemas.microsoft.com/office/drawing/2014/main" id="{F824138E-EA96-12FA-A8C5-3E3FCA081885}"/>
              </a:ext>
            </a:extLst>
          </p:cNvPr>
          <p:cNvSpPr txBox="1">
            <a:spLocks/>
          </p:cNvSpPr>
          <p:nvPr/>
        </p:nvSpPr>
        <p:spPr>
          <a:xfrm>
            <a:off x="6015789" y="501316"/>
            <a:ext cx="1828801" cy="545432"/>
          </a:xfrm>
          <a:prstGeom prst="rect">
            <a:avLst/>
          </a:prstGeom>
          <a:noFill/>
          <a:ln/>
        </p:spPr>
        <p:txBody>
          <a:bodyPr wrap="square" rtlCol="0" anchor="t"/>
          <a:lstStyle>
            <a:lvl1pPr marL="0" indent="0" algn="l" defTabSz="914400" rtl="0" eaLnBrk="1" latinLnBrk="0" hangingPunct="1">
              <a:spcBef>
                <a:spcPct val="0"/>
              </a:spcBef>
              <a:buNone/>
              <a:defRPr lang="en-US" sz="3300" b="1" kern="1200" dirty="0">
                <a:solidFill>
                  <a:srgbClr val="0F2C48"/>
                </a:solidFill>
                <a:latin typeface="Calibri Light" pitchFamily="34" charset="0"/>
                <a:ea typeface="Calibri Light" pitchFamily="34" charset="-122"/>
                <a:cs typeface="Calibri Light" pitchFamily="34" charset="-120"/>
              </a:defRPr>
            </a:lvl1pPr>
          </a:lstStyle>
          <a:p>
            <a:pPr algn="ctr"/>
            <a:r>
              <a:rPr lang="en-GB" sz="2000" dirty="0"/>
              <a:t>Initial model</a:t>
            </a:r>
            <a:r>
              <a:rPr lang="en-GB"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77811-DE3D-B0D5-0356-AD783DDA205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F29786C-4BE9-C95C-456C-13FC01ABD5DF}"/>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a:extLst>
              <a:ext uri="{FF2B5EF4-FFF2-40B4-BE49-F238E27FC236}">
                <a16:creationId xmlns:a16="http://schemas.microsoft.com/office/drawing/2014/main" id="{B15B288F-99BD-B646-590A-FBC64529EC54}"/>
              </a:ext>
            </a:extLst>
          </p:cNvPr>
          <p:cNvSpPr>
            <a:spLocks noGrp="1"/>
          </p:cNvSpPr>
          <p:nvPr>
            <p:ph type="title" idx="101" hasCustomPrompt="1"/>
          </p:nvPr>
        </p:nvSpPr>
        <p:spPr>
          <a:xfrm>
            <a:off x="0" y="510373"/>
            <a:ext cx="8368144" cy="570282"/>
          </a:xfrm>
          <a:prstGeom prst="rect">
            <a:avLst/>
          </a:prstGeom>
          <a:noFill/>
          <a:ln/>
        </p:spPr>
        <p:txBody>
          <a:bodyPr wrap="square" rtlCol="0" anchor="t"/>
          <a:lstStyle/>
          <a:p>
            <a:pPr algn="ctr"/>
            <a:r>
              <a:rPr lang="en-GB" dirty="0"/>
              <a:t>Classification Report: </a:t>
            </a:r>
            <a:r>
              <a:rPr lang="en-GB" sz="2800" dirty="0"/>
              <a:t>Churners and Non-churners</a:t>
            </a:r>
            <a:r>
              <a:rPr lang="en-US" sz="3300" b="1" dirty="0">
                <a:solidFill>
                  <a:srgbClr val="0F2C48"/>
                </a:solidFill>
                <a:latin typeface="Calibri Light" pitchFamily="34" charset="0"/>
                <a:ea typeface="Calibri Light" pitchFamily="34" charset="-122"/>
                <a:cs typeface="Calibri Light" pitchFamily="34" charset="-120"/>
              </a:rPr>
              <a:t>. </a:t>
            </a:r>
            <a:endParaRPr lang="en-US" sz="3300" dirty="0"/>
          </a:p>
        </p:txBody>
      </p:sp>
      <p:sp>
        <p:nvSpPr>
          <p:cNvPr id="40" name="Caption">
            <a:extLst>
              <a:ext uri="{FF2B5EF4-FFF2-40B4-BE49-F238E27FC236}">
                <a16:creationId xmlns:a16="http://schemas.microsoft.com/office/drawing/2014/main" id="{76AF5A95-EC96-581B-B196-3DB35637F589}"/>
              </a:ext>
            </a:extLst>
          </p:cNvPr>
          <p:cNvSpPr txBox="1"/>
          <p:nvPr/>
        </p:nvSpPr>
        <p:spPr>
          <a:xfrm>
            <a:off x="317633" y="4851133"/>
            <a:ext cx="8056345" cy="278867"/>
          </a:xfrm>
          <a:prstGeom prst="rect">
            <a:avLst/>
          </a:prstGeom>
          <a:noFill/>
        </p:spPr>
        <p:txBody>
          <a:bodyPr wrap="square" lIns="0" tIns="0" rIns="0" bIns="0" rtlCol="0" anchor="t"/>
          <a:lstStyle/>
          <a:p>
            <a:pPr marL="0" indent="0">
              <a:buNone/>
            </a:pPr>
            <a:r>
              <a:rPr lang="en-US" sz="900" b="1" kern="0">
                <a:solidFill>
                  <a:srgbClr val="128F90"/>
                </a:solidFill>
                <a:latin typeface="Calibri" pitchFamily="34" charset="0"/>
              </a:rPr>
              <a:t>Class key</a:t>
            </a:r>
            <a:r>
              <a:rPr lang="en-US" sz="900" b="1" kern="0" dirty="0">
                <a:solidFill>
                  <a:srgbClr val="128F90"/>
                </a:solidFill>
                <a:latin typeface="Calibri" pitchFamily="34" charset="0"/>
              </a:rPr>
              <a:t>: </a:t>
            </a:r>
            <a:r>
              <a:rPr lang="en-US" sz="900" b="1" kern="0">
                <a:solidFill>
                  <a:srgbClr val="128F90"/>
                </a:solidFill>
                <a:latin typeface="Calibri" pitchFamily="34" charset="0"/>
              </a:rPr>
              <a:t>0 = Non-churners, 1 = Churners.  </a:t>
            </a:r>
            <a:r>
              <a:rPr lang="en-US" sz="900" b="0" kern="0">
                <a:solidFill>
                  <a:srgbClr val="8195A0"/>
                </a:solidFill>
                <a:latin typeface="Calibri" pitchFamily="34" charset="0"/>
              </a:rPr>
              <a:t>Support = number of riders per class in the test set (n = 2,000).</a:t>
            </a:r>
            <a:endParaRPr lang="en-US" sz="900" b="0" kern="0" dirty="0">
              <a:solidFill>
                <a:srgbClr val="8195A0"/>
              </a:solidFill>
              <a:latin typeface="Calibri" pitchFamily="34" charset="0"/>
            </a:endParaRPr>
          </a:p>
        </p:txBody>
      </p:sp>
      <p:graphicFrame>
        <p:nvGraphicFramePr>
          <p:cNvPr id="4" name="Classification Report Table"/>
          <p:cNvGraphicFramePr>
            <a:graphicFrameLocks noGrp="1"/>
          </p:cNvGraphicFramePr>
          <p:nvPr>
            <p:extLst>
              <p:ext uri="{D42A27DB-BD31-4B8C-83A1-F6EECF244321}">
                <p14:modId xmlns:p14="http://schemas.microsoft.com/office/powerpoint/2010/main" val="1570015571"/>
              </p:ext>
            </p:extLst>
          </p:nvPr>
        </p:nvGraphicFramePr>
        <p:xfrm>
          <a:off x="317633" y="1440000"/>
          <a:ext cx="4420000" cy="1836000"/>
        </p:xfrm>
        <a:graphic>
          <a:graphicData uri="http://schemas.openxmlformats.org/drawingml/2006/table">
            <a:tbl>
              <a:tblPr firstRow="1" bandRow="1"/>
              <a:tblGrid>
                <a:gridCol w="1650000">
                  <a:extLst>
                    <a:ext uri="{9D8B030D-6E8A-4147-A177-3AD203B41FA5}">
                      <a16:colId xmlns:a16="http://schemas.microsoft.com/office/drawing/2014/main" val="20000"/>
                    </a:ext>
                  </a:extLst>
                </a:gridCol>
                <a:gridCol w="690000">
                  <a:extLst>
                    <a:ext uri="{9D8B030D-6E8A-4147-A177-3AD203B41FA5}">
                      <a16:colId xmlns:a16="http://schemas.microsoft.com/office/drawing/2014/main" val="20001"/>
                    </a:ext>
                  </a:extLst>
                </a:gridCol>
                <a:gridCol w="690000">
                  <a:extLst>
                    <a:ext uri="{9D8B030D-6E8A-4147-A177-3AD203B41FA5}">
                      <a16:colId xmlns:a16="http://schemas.microsoft.com/office/drawing/2014/main" val="20002"/>
                    </a:ext>
                  </a:extLst>
                </a:gridCol>
                <a:gridCol w="700000">
                  <a:extLst>
                    <a:ext uri="{9D8B030D-6E8A-4147-A177-3AD203B41FA5}">
                      <a16:colId xmlns:a16="http://schemas.microsoft.com/office/drawing/2014/main" val="20003"/>
                    </a:ext>
                  </a:extLst>
                </a:gridCol>
                <a:gridCol w="690000">
                  <a:extLst>
                    <a:ext uri="{9D8B030D-6E8A-4147-A177-3AD203B41FA5}">
                      <a16:colId xmlns:a16="http://schemas.microsoft.com/office/drawing/2014/main" val="20004"/>
                    </a:ext>
                  </a:extLst>
                </a:gridCol>
              </a:tblGrid>
              <a:tr h="336000">
                <a:tc>
                  <a:txBody>
                    <a:bodyPr/>
                    <a:lstStyle/>
                    <a:p>
                      <a:pPr algn="l"/>
                      <a:r>
                        <a:rPr lang="en-US" sz="1050" b="1" kern="0">
                          <a:solidFill>
                            <a:srgbClr val="FFFFFF"/>
                          </a:solidFill>
                          <a:latin typeface="Calibri" pitchFamily="34" charset="0"/>
                        </a:rPr>
                        <a:t>Class</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Precision</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Recall</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F1-score</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Support</a:t>
                      </a:r>
                    </a:p>
                  </a:txBody>
                  <a:tcPr marL="82296" marR="82296" marT="21600" marB="21600" anchor="ctr">
                    <a:solidFill>
                      <a:srgbClr val="0F2C48"/>
                    </a:solidFill>
                  </a:tcPr>
                </a:tc>
                <a:extLst>
                  <a:ext uri="{0D108BD9-81ED-4DB2-BD59-A6C34878D82A}">
                    <a16:rowId xmlns:a16="http://schemas.microsoft.com/office/drawing/2014/main" val="10000"/>
                  </a:ext>
                </a:extLst>
              </a:tr>
              <a:tr h="300000">
                <a:tc>
                  <a:txBody>
                    <a:bodyPr/>
                    <a:lstStyle/>
                    <a:p>
                      <a:pPr algn="l"/>
                      <a:r>
                        <a:rPr lang="en-US" sz="1050" b="1" kern="0">
                          <a:solidFill>
                            <a:srgbClr val="0F2C48"/>
                          </a:solidFill>
                          <a:latin typeface="Calibri" pitchFamily="34" charset="0"/>
                        </a:rPr>
                        <a:t>Non-churners (0)</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0.69</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0.70</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0.69</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1,354</a:t>
                      </a:r>
                    </a:p>
                  </a:txBody>
                  <a:tcPr marL="82296" marR="82296" marT="21600" marB="21600" anchor="ctr">
                    <a:lnB w="9525" cap="flat">
                      <a:solidFill>
                        <a:srgbClr val="CBD8DE"/>
                      </a:solidFill>
                    </a:lnB>
                    <a:solidFill>
                      <a:srgbClr val="FFFFFF"/>
                    </a:solidFill>
                  </a:tcPr>
                </a:tc>
                <a:extLst>
                  <a:ext uri="{0D108BD9-81ED-4DB2-BD59-A6C34878D82A}">
                    <a16:rowId xmlns:a16="http://schemas.microsoft.com/office/drawing/2014/main" val="10001"/>
                  </a:ext>
                </a:extLst>
              </a:tr>
              <a:tr h="300000">
                <a:tc>
                  <a:txBody>
                    <a:bodyPr/>
                    <a:lstStyle/>
                    <a:p>
                      <a:pPr algn="l"/>
                      <a:r>
                        <a:rPr lang="en-US" sz="1050" b="1" kern="0">
                          <a:solidFill>
                            <a:srgbClr val="0F2C48"/>
                          </a:solidFill>
                          <a:latin typeface="Calibri" pitchFamily="34" charset="0"/>
                        </a:rPr>
                        <a:t>Churners (1)</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0.35</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646</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2"/>
                  </a:ext>
                </a:extLst>
              </a:tr>
              <a:tr h="300000">
                <a:tc>
                  <a:txBody>
                    <a:bodyPr/>
                    <a:lstStyle/>
                    <a:p>
                      <a:pPr algn="l"/>
                      <a:r>
                        <a:rPr lang="en-US" sz="1050" b="0" kern="0">
                          <a:solidFill>
                            <a:srgbClr val="3F5261"/>
                          </a:solidFill>
                          <a:latin typeface="Calibri" pitchFamily="34" charset="0"/>
                        </a:rPr>
                        <a:t>Accuracy</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0.58</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3"/>
                  </a:ext>
                </a:extLst>
              </a:tr>
              <a:tr h="300000">
                <a:tc>
                  <a:txBody>
                    <a:bodyPr/>
                    <a:lstStyle/>
                    <a:p>
                      <a:pPr algn="l"/>
                      <a:r>
                        <a:rPr lang="en-US" sz="1050" b="0" kern="0">
                          <a:solidFill>
                            <a:srgbClr val="3F5261"/>
                          </a:solidFill>
                          <a:latin typeface="Calibri" pitchFamily="34" charset="0"/>
                        </a:rPr>
                        <a:t>Macro avg</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0.52</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0.52</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0.52</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4"/>
                  </a:ext>
                </a:extLst>
              </a:tr>
              <a:tr h="300000">
                <a:tc>
                  <a:txBody>
                    <a:bodyPr/>
                    <a:lstStyle/>
                    <a:p>
                      <a:pPr algn="l"/>
                      <a:r>
                        <a:rPr lang="en-US" sz="1050" b="0" kern="0">
                          <a:solidFill>
                            <a:srgbClr val="3F5261"/>
                          </a:solidFill>
                          <a:latin typeface="Calibri" pitchFamily="34" charset="0"/>
                        </a:rPr>
                        <a:t>Weighted avg</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0.58</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0.58</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0.58</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5"/>
                  </a:ext>
                </a:extLst>
              </a:tr>
            </a:tbl>
          </a:graphicData>
        </a:graphic>
      </p:graphicFrame>
      <p:sp>
        <p:nvSpPr>
          <p:cNvPr id="50" name="Chart Label"/>
          <p:cNvSpPr txBox="1"/>
          <p:nvPr/>
        </p:nvSpPr>
        <p:spPr>
          <a:xfrm>
            <a:off x="4830000" y="1380000"/>
            <a:ext cx="4130000" cy="230000"/>
          </a:xfrm>
          <a:prstGeom prst="rect">
            <a:avLst/>
          </a:prstGeom>
          <a:noFill/>
        </p:spPr>
        <p:txBody>
          <a:bodyPr wrap="square" lIns="0" tIns="0" rIns="0" bIns="0" anchor="t"/>
          <a:lstStyle/>
          <a:p>
            <a:pPr marL="0" indent="0">
              <a:buNone/>
            </a:pPr>
            <a:r>
              <a:rPr lang="en-US" sz="1100" b="1" kern="0">
                <a:solidFill>
                  <a:srgbClr val="0F2C48"/>
                </a:solidFill>
                <a:latin typeface="Calibri" pitchFamily="34" charset="0"/>
              </a:rPr>
              <a:t>Class distribution by support</a:t>
            </a:r>
          </a:p>
        </p:txBody>
      </p:sp>
      <p:graphicFrame>
        <p:nvGraphicFramePr>
          <p:cNvPr id="51" name="Class Distribution Chart"/>
          <p:cNvGraphicFramePr/>
          <p:nvPr>
            <p:extLst>
              <p:ext uri="{D42A27DB-BD31-4B8C-83A1-F6EECF244321}">
                <p14:modId xmlns:p14="http://schemas.microsoft.com/office/powerpoint/2010/main" val="350119823"/>
              </p:ext>
            </p:extLst>
          </p:nvPr>
        </p:nvGraphicFramePr>
        <p:xfrm>
          <a:off x="4800000" y="1600000"/>
          <a:ext cx="4180000" cy="2150000"/>
        </p:xfrm>
        <a:graphic>
          <a:graphicData uri="http://schemas.openxmlformats.org/drawingml/2006/chart">
            <c:chart xmlns:c="http://schemas.openxmlformats.org/drawingml/2006/chart" xmlns:r="http://schemas.openxmlformats.org/officeDocument/2006/relationships" r:id="rId3"/>
          </a:graphicData>
        </a:graphic>
      </p:graphicFrame>
      <p:sp>
        <p:nvSpPr>
          <p:cNvPr id="52" name="Chart Insight"/>
          <p:cNvSpPr txBox="1"/>
          <p:nvPr/>
        </p:nvSpPr>
        <p:spPr>
          <a:xfrm>
            <a:off x="4830000" y="3820000"/>
            <a:ext cx="4130000" cy="280000"/>
          </a:xfrm>
          <a:prstGeom prst="rect">
            <a:avLst/>
          </a:prstGeom>
          <a:noFill/>
        </p:spPr>
        <p:txBody>
          <a:bodyPr wrap="square" lIns="0" tIns="0" rIns="0" bIns="0" anchor="t"/>
          <a:lstStyle/>
          <a:p>
            <a:pPr marL="0" indent="0" algn="ctr">
              <a:buNone/>
            </a:pPr>
            <a:r>
              <a:rPr lang="en-US" sz="1000" b="1" kern="0">
                <a:solidFill>
                  <a:srgbClr val="128F90"/>
                </a:solidFill>
                <a:latin typeface="Calibri" pitchFamily="34" charset="0"/>
              </a:rPr>
              <a:t>68% non-churners vs 32% churners — a heavily imbalanced dataset.</a:t>
            </a:r>
          </a:p>
        </p:txBody>
      </p:sp>
      <p:sp>
        <p:nvSpPr>
          <p:cNvPr id="53" name="Interpretation"/>
          <p:cNvSpPr txBox="1"/>
          <p:nvPr/>
        </p:nvSpPr>
        <p:spPr>
          <a:xfrm>
            <a:off x="317633" y="3440000"/>
            <a:ext cx="4300000" cy="1300000"/>
          </a:xfrm>
          <a:prstGeom prst="rect">
            <a:avLst/>
          </a:prstGeom>
          <a:noFill/>
        </p:spPr>
        <p:txBody>
          <a:bodyPr wrap="square" lIns="0" tIns="0" rIns="0" bIns="0" anchor="t"/>
          <a:lstStyle/>
          <a:p>
            <a:pPr marL="0" indent="0">
              <a:buNone/>
            </a:pPr>
            <a:r>
              <a:rPr lang="en-US" sz="1150" b="1" kern="0">
                <a:solidFill>
                  <a:srgbClr val="0F2C48"/>
                </a:solidFill>
                <a:latin typeface="Calibri" pitchFamily="34" charset="0"/>
              </a:rPr>
              <a:t>What this means</a:t>
            </a:r>
          </a:p>
          <a:p>
            <a:pPr marL="171450" indent="-171450">
              <a:buFont typeface="Arial"/>
              <a:buChar char="•"/>
            </a:pPr>
            <a:r>
              <a:rPr lang="en-US" sz="1050" b="1" kern="0">
                <a:solidFill>
                  <a:srgbClr val="128F90"/>
                </a:solidFill>
                <a:latin typeface="Calibri" pitchFamily="34" charset="0"/>
              </a:rPr>
              <a:t>Strong on non-churners (F1 0.69) </a:t>
            </a:r>
            <a:r>
              <a:rPr lang="en-US" sz="1050" b="0" kern="0">
                <a:solidFill>
                  <a:srgbClr val="3F5261"/>
                </a:solidFill>
                <a:latin typeface="Calibri" pitchFamily="34" charset="0"/>
              </a:rPr>
              <a:t>— the majority class, with plenty of examples to learn from.</a:t>
            </a:r>
          </a:p>
          <a:p>
            <a:pPr marL="171450" indent="-171450">
              <a:buFont typeface="Arial"/>
              <a:buChar char="•"/>
            </a:pPr>
            <a:r>
              <a:rPr lang="en-US" sz="1050" b="1" kern="0">
                <a:solidFill>
                  <a:srgbClr val="16436B"/>
                </a:solidFill>
                <a:latin typeface="Calibri" pitchFamily="34" charset="0"/>
              </a:rPr>
              <a:t>Weaker on churners (F1 0.34) </a:t>
            </a:r>
            <a:r>
              <a:rPr lang="en-US" sz="1050" b="0" kern="0">
                <a:solidFill>
                  <a:srgbClr val="3F5261"/>
                </a:solidFill>
                <a:latin typeface="Calibri" pitchFamily="34" charset="0"/>
              </a:rPr>
              <a:t>— the minority class is harder to detect: fewer riders and less consistent patterns.</a:t>
            </a:r>
          </a:p>
        </p:txBody>
      </p:sp>
    </p:spTree>
    <p:extLst>
      <p:ext uri="{BB962C8B-B14F-4D97-AF65-F5344CB8AC3E}">
        <p14:creationId xmlns:p14="http://schemas.microsoft.com/office/powerpoint/2010/main" val="2208629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0F8C-218C-E3A7-7D19-1C8F13BCC8A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D7F540-BAEB-471C-7C0E-A0B282D8C6B4}"/>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a:extLst>
              <a:ext uri="{FF2B5EF4-FFF2-40B4-BE49-F238E27FC236}">
                <a16:creationId xmlns:a16="http://schemas.microsoft.com/office/drawing/2014/main" id="{2DC0DD61-4B2D-54A3-9183-B0D637FDD328}"/>
              </a:ext>
            </a:extLst>
          </p:cNvPr>
          <p:cNvSpPr>
            <a:spLocks noGrp="1"/>
          </p:cNvSpPr>
          <p:nvPr>
            <p:ph type="title" idx="101" hasCustomPrompt="1"/>
          </p:nvPr>
        </p:nvSpPr>
        <p:spPr>
          <a:xfrm>
            <a:off x="0" y="387927"/>
            <a:ext cx="8857673" cy="674255"/>
          </a:xfrm>
          <a:prstGeom prst="rect">
            <a:avLst/>
          </a:prstGeom>
          <a:noFill/>
          <a:ln/>
        </p:spPr>
        <p:txBody>
          <a:bodyPr wrap="square" rtlCol="0" anchor="t"/>
          <a:lstStyle/>
          <a:p>
            <a:pPr algn="ctr"/>
            <a:r>
              <a:rPr lang="en-US" sz="2400" b="1" dirty="0">
                <a:solidFill>
                  <a:srgbClr val="0F2C48"/>
                </a:solidFill>
                <a:latin typeface="Calibri Light" pitchFamily="34" charset="0"/>
                <a:ea typeface="Calibri Light" pitchFamily="34" charset="-122"/>
                <a:cs typeface="Calibri Light" pitchFamily="34" charset="-120"/>
              </a:rPr>
              <a:t>Model performance: </a:t>
            </a:r>
            <a:br>
              <a:rPr lang="en-US" sz="2400" b="1" dirty="0">
                <a:solidFill>
                  <a:srgbClr val="0F2C48"/>
                </a:solidFill>
                <a:latin typeface="Calibri Light" pitchFamily="34" charset="0"/>
                <a:ea typeface="Calibri Light" pitchFamily="34" charset="-122"/>
                <a:cs typeface="Calibri Light" pitchFamily="34" charset="-120"/>
              </a:rPr>
            </a:br>
            <a:r>
              <a:rPr lang="en-GB" sz="1200" dirty="0"/>
              <a:t>SMOTE, Class weighting, threshold optimisation, and </a:t>
            </a:r>
            <a:r>
              <a:rPr lang="en-GB" sz="1200" dirty="0" err="1"/>
              <a:t>Optuna</a:t>
            </a:r>
            <a:r>
              <a:rPr lang="en-GB" sz="1200" dirty="0"/>
              <a:t> hyperparameter tuning</a:t>
            </a:r>
            <a:r>
              <a:rPr lang="en-US" sz="1200" b="1" dirty="0">
                <a:solidFill>
                  <a:srgbClr val="0F2C48"/>
                </a:solidFill>
                <a:latin typeface="Calibri Light" pitchFamily="34" charset="0"/>
                <a:ea typeface="Calibri Light" pitchFamily="34" charset="-122"/>
                <a:cs typeface="Calibri Light" pitchFamily="34" charset="-120"/>
              </a:rPr>
              <a:t>.</a:t>
            </a:r>
            <a:endParaRPr lang="en-US" sz="2400" dirty="0"/>
          </a:p>
        </p:txBody>
      </p:sp>
      <p:graphicFrame>
        <p:nvGraphicFramePr>
          <p:cNvPr id="23" name="Model Performance Table">
            <a:extLst>
              <a:ext uri="{FF2B5EF4-FFF2-40B4-BE49-F238E27FC236}">
                <a16:creationId xmlns:a16="http://schemas.microsoft.com/office/drawing/2014/main" id="{227EB596-AA32-7542-51F6-CDAC5B39122D}"/>
              </a:ext>
            </a:extLst>
          </p:cNvPr>
          <p:cNvGraphicFramePr>
            <a:graphicFrameLocks noGrp="1"/>
          </p:cNvGraphicFramePr>
          <p:nvPr>
            <p:extLst>
              <p:ext uri="{D42A27DB-BD31-4B8C-83A1-F6EECF244321}">
                <p14:modId xmlns:p14="http://schemas.microsoft.com/office/powerpoint/2010/main" val="1581243238"/>
              </p:ext>
            </p:extLst>
          </p:nvPr>
        </p:nvGraphicFramePr>
        <p:xfrm>
          <a:off x="157018" y="1098761"/>
          <a:ext cx="8885377" cy="2993193"/>
        </p:xfrm>
        <a:graphic>
          <a:graphicData uri="http://schemas.openxmlformats.org/drawingml/2006/table">
            <a:tbl>
              <a:tblPr firstRow="1" bandRow="1"/>
              <a:tblGrid>
                <a:gridCol w="2555337">
                  <a:extLst>
                    <a:ext uri="{9D8B030D-6E8A-4147-A177-3AD203B41FA5}">
                      <a16:colId xmlns:a16="http://schemas.microsoft.com/office/drawing/2014/main" val="20000"/>
                    </a:ext>
                  </a:extLst>
                </a:gridCol>
                <a:gridCol w="1266008">
                  <a:extLst>
                    <a:ext uri="{9D8B030D-6E8A-4147-A177-3AD203B41FA5}">
                      <a16:colId xmlns:a16="http://schemas.microsoft.com/office/drawing/2014/main" val="20001"/>
                    </a:ext>
                  </a:extLst>
                </a:gridCol>
                <a:gridCol w="1266008">
                  <a:extLst>
                    <a:ext uri="{9D8B030D-6E8A-4147-A177-3AD203B41FA5}">
                      <a16:colId xmlns:a16="http://schemas.microsoft.com/office/drawing/2014/main" val="20002"/>
                    </a:ext>
                  </a:extLst>
                </a:gridCol>
                <a:gridCol w="1266008">
                  <a:extLst>
                    <a:ext uri="{9D8B030D-6E8A-4147-A177-3AD203B41FA5}">
                      <a16:colId xmlns:a16="http://schemas.microsoft.com/office/drawing/2014/main" val="20003"/>
                    </a:ext>
                  </a:extLst>
                </a:gridCol>
                <a:gridCol w="1266008">
                  <a:extLst>
                    <a:ext uri="{9D8B030D-6E8A-4147-A177-3AD203B41FA5}">
                      <a16:colId xmlns:a16="http://schemas.microsoft.com/office/drawing/2014/main" val="20004"/>
                    </a:ext>
                  </a:extLst>
                </a:gridCol>
                <a:gridCol w="1266008">
                  <a:extLst>
                    <a:ext uri="{9D8B030D-6E8A-4147-A177-3AD203B41FA5}">
                      <a16:colId xmlns:a16="http://schemas.microsoft.com/office/drawing/2014/main" val="20005"/>
                    </a:ext>
                  </a:extLst>
                </a:gridCol>
              </a:tblGrid>
              <a:tr h="371057">
                <a:tc>
                  <a:txBody>
                    <a:bodyPr/>
                    <a:lstStyle/>
                    <a:p>
                      <a:pPr algn="l"/>
                      <a:r>
                        <a:rPr lang="en-US" sz="1050" b="1" kern="0" dirty="0">
                          <a:solidFill>
                            <a:srgbClr val="FFFFFF"/>
                          </a:solidFill>
                          <a:latin typeface="Calibri" pitchFamily="34" charset="0"/>
                        </a:rPr>
                        <a:t>Model</a:t>
                      </a:r>
                    </a:p>
                  </a:txBody>
                  <a:tcPr marT="27432" marB="27432" anchor="ctr">
                    <a:solidFill>
                      <a:srgbClr val="0F2C48"/>
                    </a:solidFill>
                  </a:tcPr>
                </a:tc>
                <a:tc>
                  <a:txBody>
                    <a:bodyPr/>
                    <a:lstStyle/>
                    <a:p>
                      <a:pPr algn="ctr"/>
                      <a:r>
                        <a:rPr lang="en-US" sz="1050" b="1" kern="0" dirty="0">
                          <a:solidFill>
                            <a:srgbClr val="FFFFFF"/>
                          </a:solidFill>
                          <a:latin typeface="Calibri" pitchFamily="34" charset="0"/>
                        </a:rPr>
                        <a:t>Accuracy</a:t>
                      </a:r>
                    </a:p>
                  </a:txBody>
                  <a:tcPr marT="27432" marB="27432" anchor="ctr">
                    <a:solidFill>
                      <a:srgbClr val="0F2C48"/>
                    </a:solidFill>
                  </a:tcPr>
                </a:tc>
                <a:tc>
                  <a:txBody>
                    <a:bodyPr/>
                    <a:lstStyle/>
                    <a:p>
                      <a:pPr algn="ctr"/>
                      <a:r>
                        <a:rPr lang="en-US" sz="1050" b="1" kern="0">
                          <a:solidFill>
                            <a:srgbClr val="FFFFFF"/>
                          </a:solidFill>
                          <a:latin typeface="Calibri" pitchFamily="34" charset="0"/>
                        </a:rPr>
                        <a:t>Precision</a:t>
                      </a:r>
                    </a:p>
                  </a:txBody>
                  <a:tcPr marT="27432" marB="27432" anchor="ctr">
                    <a:solidFill>
                      <a:srgbClr val="0F2C48"/>
                    </a:solidFill>
                  </a:tcPr>
                </a:tc>
                <a:tc>
                  <a:txBody>
                    <a:bodyPr/>
                    <a:lstStyle/>
                    <a:p>
                      <a:pPr algn="ctr"/>
                      <a:r>
                        <a:rPr lang="en-US" sz="1050" b="1" kern="0">
                          <a:solidFill>
                            <a:srgbClr val="FFFFFF"/>
                          </a:solidFill>
                          <a:latin typeface="Calibri" pitchFamily="34" charset="0"/>
                        </a:rPr>
                        <a:t>Recall</a:t>
                      </a:r>
                    </a:p>
                  </a:txBody>
                  <a:tcPr marT="27432" marB="27432" anchor="ctr">
                    <a:solidFill>
                      <a:srgbClr val="0F2C48"/>
                    </a:solidFill>
                  </a:tcPr>
                </a:tc>
                <a:tc>
                  <a:txBody>
                    <a:bodyPr/>
                    <a:lstStyle/>
                    <a:p>
                      <a:pPr algn="ctr"/>
                      <a:r>
                        <a:rPr lang="en-US" sz="1050" b="1" kern="0">
                          <a:solidFill>
                            <a:srgbClr val="FFFFFF"/>
                          </a:solidFill>
                          <a:latin typeface="Calibri" pitchFamily="34" charset="0"/>
                        </a:rPr>
                        <a:t>F1</a:t>
                      </a:r>
                    </a:p>
                  </a:txBody>
                  <a:tcPr marT="27432" marB="27432" anchor="ctr">
                    <a:solidFill>
                      <a:srgbClr val="0F2C48"/>
                    </a:solidFill>
                  </a:tcPr>
                </a:tc>
                <a:tc>
                  <a:txBody>
                    <a:bodyPr/>
                    <a:lstStyle/>
                    <a:p>
                      <a:pPr algn="ctr"/>
                      <a:r>
                        <a:rPr lang="en-US" sz="1050" b="1" kern="0" dirty="0">
                          <a:solidFill>
                            <a:srgbClr val="FFFFFF"/>
                          </a:solidFill>
                          <a:latin typeface="Calibri" pitchFamily="34" charset="0"/>
                        </a:rPr>
                        <a:t>AUC</a:t>
                      </a:r>
                    </a:p>
                  </a:txBody>
                  <a:tcPr marT="27432" marB="27432" anchor="ctr">
                    <a:solidFill>
                      <a:srgbClr val="0F2C48"/>
                    </a:solidFill>
                  </a:tcPr>
                </a:tc>
                <a:extLst>
                  <a:ext uri="{0D108BD9-81ED-4DB2-BD59-A6C34878D82A}">
                    <a16:rowId xmlns:a16="http://schemas.microsoft.com/office/drawing/2014/main" val="10000"/>
                  </a:ext>
                </a:extLst>
              </a:tr>
              <a:tr h="327767">
                <a:tc>
                  <a:txBody>
                    <a:bodyPr/>
                    <a:lstStyle/>
                    <a:p>
                      <a:pPr algn="l"/>
                      <a:r>
                        <a:rPr lang="en-US" sz="1050" b="1" kern="0">
                          <a:solidFill>
                            <a:srgbClr val="FFFFFF"/>
                          </a:solidFill>
                          <a:latin typeface="Calibri" pitchFamily="34" charset="0"/>
                        </a:rPr>
                        <a:t>Logistic Regression</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0.496</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0.323</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0.511</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0.396</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0.510</a:t>
                      </a:r>
                    </a:p>
                  </a:txBody>
                  <a:tcPr marT="27432" marB="27432" anchor="ctr">
                    <a:lnB w="9525" cap="flat">
                      <a:solidFill>
                        <a:srgbClr val="CBD8DE"/>
                      </a:solidFill>
                    </a:lnB>
                    <a:solidFill>
                      <a:srgbClr val="128F90"/>
                    </a:solidFill>
                  </a:tcPr>
                </a:tc>
                <a:extLst>
                  <a:ext uri="{0D108BD9-81ED-4DB2-BD59-A6C34878D82A}">
                    <a16:rowId xmlns:a16="http://schemas.microsoft.com/office/drawing/2014/main" val="10001"/>
                  </a:ext>
                </a:extLst>
              </a:tr>
              <a:tr h="327767">
                <a:tc>
                  <a:txBody>
                    <a:bodyPr/>
                    <a:lstStyle/>
                    <a:p>
                      <a:pPr algn="l"/>
                      <a:r>
                        <a:rPr lang="en-US" sz="1050" b="0" kern="0">
                          <a:solidFill>
                            <a:srgbClr val="0F2C48"/>
                          </a:solidFill>
                          <a:latin typeface="Calibri" pitchFamily="34" charset="0"/>
                        </a:rPr>
                        <a:t>Decision Tree</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0.582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0.337</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0.518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2"/>
                  </a:ext>
                </a:extLst>
              </a:tr>
              <a:tr h="327767">
                <a:tc>
                  <a:txBody>
                    <a:bodyPr/>
                    <a:lstStyle/>
                    <a:p>
                      <a:pPr algn="l"/>
                      <a:r>
                        <a:rPr lang="en-US" sz="1050" b="0" kern="0" dirty="0">
                          <a:solidFill>
                            <a:srgbClr val="0F2C48"/>
                          </a:solidFill>
                          <a:latin typeface="Calibri" pitchFamily="34" charset="0"/>
                        </a:rPr>
                        <a:t>KNN</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0.632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0.360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0.180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0.240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3"/>
                  </a:ext>
                </a:extLst>
              </a:tr>
              <a:tr h="327767">
                <a:tc>
                  <a:txBody>
                    <a:bodyPr/>
                    <a:lstStyle/>
                    <a:p>
                      <a:pPr algn="l"/>
                      <a:r>
                        <a:rPr lang="en-US" sz="1050" b="0" kern="0">
                          <a:solidFill>
                            <a:srgbClr val="0F2C48"/>
                          </a:solidFill>
                          <a:latin typeface="Calibri" pitchFamily="34" charset="0"/>
                        </a:rPr>
                        <a:t>ExtraTrees</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0.646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0.313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0.079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0.126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0.499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4"/>
                  </a:ext>
                </a:extLst>
              </a:tr>
              <a:tr h="327767">
                <a:tc>
                  <a:txBody>
                    <a:bodyPr/>
                    <a:lstStyle/>
                    <a:p>
                      <a:pPr algn="l"/>
                      <a:r>
                        <a:rPr lang="en-US" sz="1050" b="0" kern="0">
                          <a:solidFill>
                            <a:srgbClr val="0F2C48"/>
                          </a:solidFill>
                          <a:latin typeface="Calibri" pitchFamily="34" charset="0"/>
                        </a:rPr>
                        <a:t>Random Forest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0.665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0.346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0.042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0.075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5"/>
                  </a:ext>
                </a:extLst>
              </a:tr>
              <a:tr h="327767">
                <a:tc>
                  <a:txBody>
                    <a:bodyPr/>
                    <a:lstStyle/>
                    <a:p>
                      <a:pPr algn="l"/>
                      <a:r>
                        <a:rPr lang="en-US" sz="1050" b="0" kern="0">
                          <a:solidFill>
                            <a:srgbClr val="0F2C48"/>
                          </a:solidFill>
                          <a:latin typeface="Calibri" pitchFamily="34" charset="0"/>
                        </a:rPr>
                        <a:t>Gradient Boosting</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0.421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0.012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0.024</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0.502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6"/>
                  </a:ext>
                </a:extLst>
              </a:tr>
              <a:tr h="327767">
                <a:tc>
                  <a:txBody>
                    <a:bodyPr/>
                    <a:lstStyle/>
                    <a:p>
                      <a:pPr algn="l"/>
                      <a:r>
                        <a:rPr lang="en-US" sz="1050" b="0" kern="0">
                          <a:solidFill>
                            <a:srgbClr val="0F2C48"/>
                          </a:solidFill>
                          <a:latin typeface="Calibri" pitchFamily="34" charset="0"/>
                        </a:rPr>
                        <a:t>SVC (RBF)</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0.501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8"/>
                  </a:ext>
                </a:extLst>
              </a:tr>
              <a:tr h="327767">
                <a:tc>
                  <a:txBody>
                    <a:bodyPr/>
                    <a:lstStyle/>
                    <a:p>
                      <a:pPr algn="l"/>
                      <a:r>
                        <a:rPr lang="en-US" sz="1050" b="0" kern="0">
                          <a:solidFill>
                            <a:srgbClr val="0F2C48"/>
                          </a:solidFill>
                          <a:latin typeface="Calibri" pitchFamily="34" charset="0"/>
                        </a:rPr>
                        <a:t>AdaBoost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0.677</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0.495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10"/>
                  </a:ext>
                </a:extLst>
              </a:tr>
            </a:tbl>
          </a:graphicData>
        </a:graphic>
      </p:graphicFrame>
      <p:sp>
        <p:nvSpPr>
          <p:cNvPr id="40" name="Caption">
            <a:extLst>
              <a:ext uri="{FF2B5EF4-FFF2-40B4-BE49-F238E27FC236}">
                <a16:creationId xmlns:a16="http://schemas.microsoft.com/office/drawing/2014/main" id="{1413A633-C120-1689-0B24-FA8F6E2BFC6A}"/>
              </a:ext>
            </a:extLst>
          </p:cNvPr>
          <p:cNvSpPr txBox="1"/>
          <p:nvPr/>
        </p:nvSpPr>
        <p:spPr>
          <a:xfrm>
            <a:off x="203201" y="4202547"/>
            <a:ext cx="4054764" cy="812798"/>
          </a:xfrm>
          <a:prstGeom prst="rect">
            <a:avLst/>
          </a:prstGeom>
          <a:noFill/>
        </p:spPr>
        <p:txBody>
          <a:bodyPr wrap="square" lIns="0" tIns="0" rIns="0" bIns="0" rtlCol="0" anchor="t"/>
          <a:lstStyle/>
          <a:p>
            <a:r>
              <a:rPr lang="en-US" sz="1600" b="1" kern="0" dirty="0">
                <a:solidFill>
                  <a:srgbClr val="128F90"/>
                </a:solidFill>
                <a:latin typeface="Calibri" pitchFamily="34" charset="0"/>
              </a:rPr>
              <a:t>Best model by F1 (0.396). </a:t>
            </a:r>
          </a:p>
          <a:p>
            <a:r>
              <a:rPr lang="en-US" sz="1600" b="1" kern="0" dirty="0">
                <a:solidFill>
                  <a:srgbClr val="128F90"/>
                </a:solidFill>
                <a:latin typeface="Calibri" pitchFamily="34" charset="0"/>
              </a:rPr>
              <a:t>Best Model (after tuning): Random Forest. </a:t>
            </a:r>
          </a:p>
          <a:p>
            <a:r>
              <a:rPr lang="en-US" sz="1600" b="1" kern="0" dirty="0">
                <a:solidFill>
                  <a:srgbClr val="128F90"/>
                </a:solidFill>
                <a:latin typeface="Calibri" pitchFamily="34" charset="0"/>
              </a:rPr>
              <a:t>Optimal Threshold: 0.126 (F1 = 0.489)</a:t>
            </a:r>
            <a:r>
              <a:rPr lang="en-US" sz="1600" b="0" kern="0" dirty="0">
                <a:solidFill>
                  <a:srgbClr val="8195A0"/>
                </a:solidFill>
                <a:latin typeface="Calibri" pitchFamily="34" charset="0"/>
              </a:rPr>
              <a:t>.</a:t>
            </a:r>
          </a:p>
        </p:txBody>
      </p:sp>
    </p:spTree>
    <p:extLst>
      <p:ext uri="{BB962C8B-B14F-4D97-AF65-F5344CB8AC3E}">
        <p14:creationId xmlns:p14="http://schemas.microsoft.com/office/powerpoint/2010/main" val="3033755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91168-B894-3CEF-D836-252EBEEB4D8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49111F-0E65-58E7-ED10-6BC748855D74}"/>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a:extLst>
              <a:ext uri="{FF2B5EF4-FFF2-40B4-BE49-F238E27FC236}">
                <a16:creationId xmlns:a16="http://schemas.microsoft.com/office/drawing/2014/main" id="{66B2015D-8CE3-6FC3-8B7C-1FC920BA3877}"/>
              </a:ext>
            </a:extLst>
          </p:cNvPr>
          <p:cNvSpPr>
            <a:spLocks noGrp="1"/>
          </p:cNvSpPr>
          <p:nvPr>
            <p:ph type="title" idx="101" hasCustomPrompt="1"/>
          </p:nvPr>
        </p:nvSpPr>
        <p:spPr>
          <a:xfrm>
            <a:off x="0" y="794328"/>
            <a:ext cx="8164944" cy="452582"/>
          </a:xfrm>
          <a:prstGeom prst="rect">
            <a:avLst/>
          </a:prstGeom>
          <a:noFill/>
          <a:ln/>
        </p:spPr>
        <p:txBody>
          <a:bodyPr wrap="square" rtlCol="0" anchor="t"/>
          <a:lstStyle/>
          <a:p>
            <a:pPr algn="ctr"/>
            <a:r>
              <a:rPr lang="en-GB" dirty="0"/>
              <a:t>Classification Report: SMOTE- </a:t>
            </a:r>
            <a:r>
              <a:rPr lang="en-GB" sz="2000" dirty="0"/>
              <a:t>Churners and Non-churners</a:t>
            </a:r>
            <a:r>
              <a:rPr lang="en-US" sz="2000" b="1" dirty="0">
                <a:solidFill>
                  <a:srgbClr val="0F2C48"/>
                </a:solidFill>
                <a:latin typeface="Calibri Light" pitchFamily="34" charset="0"/>
                <a:ea typeface="Calibri Light" pitchFamily="34" charset="-122"/>
                <a:cs typeface="Calibri Light" pitchFamily="34" charset="-120"/>
              </a:rPr>
              <a:t>. </a:t>
            </a:r>
            <a:endParaRPr lang="en-US" sz="2000" dirty="0"/>
          </a:p>
        </p:txBody>
      </p:sp>
      <p:sp>
        <p:nvSpPr>
          <p:cNvPr id="40" name="Caption">
            <a:extLst>
              <a:ext uri="{FF2B5EF4-FFF2-40B4-BE49-F238E27FC236}">
                <a16:creationId xmlns:a16="http://schemas.microsoft.com/office/drawing/2014/main" id="{638E7FCC-F579-6496-6AF3-0C2E18537EF1}"/>
              </a:ext>
            </a:extLst>
          </p:cNvPr>
          <p:cNvSpPr txBox="1"/>
          <p:nvPr/>
        </p:nvSpPr>
        <p:spPr>
          <a:xfrm>
            <a:off x="184728" y="4821384"/>
            <a:ext cx="5163128" cy="240144"/>
          </a:xfrm>
          <a:prstGeom prst="rect">
            <a:avLst/>
          </a:prstGeom>
          <a:noFill/>
        </p:spPr>
        <p:txBody>
          <a:bodyPr wrap="square" lIns="0" tIns="0" rIns="0" bIns="0" rtlCol="0" anchor="t"/>
          <a:lstStyle/>
          <a:p>
            <a:pPr marL="0" indent="0">
              <a:buNone/>
            </a:pPr>
            <a:r>
              <a:rPr lang="en-US" sz="900" b="1" kern="0">
                <a:solidFill>
                  <a:srgbClr val="128F90"/>
                </a:solidFill>
                <a:latin typeface="Calibri" pitchFamily="34" charset="0"/>
              </a:rPr>
              <a:t>Class key</a:t>
            </a:r>
            <a:r>
              <a:rPr lang="en-US" sz="900" b="1" kern="0" dirty="0">
                <a:solidFill>
                  <a:srgbClr val="128F90"/>
                </a:solidFill>
                <a:latin typeface="Calibri" pitchFamily="34" charset="0"/>
              </a:rPr>
              <a:t>: </a:t>
            </a:r>
            <a:r>
              <a:rPr lang="en-US" sz="900" b="1" kern="0">
                <a:solidFill>
                  <a:srgbClr val="128F90"/>
                </a:solidFill>
                <a:latin typeface="Calibri" pitchFamily="34" charset="0"/>
              </a:rPr>
              <a:t>0 = Non-churners, 1 = Churners.  </a:t>
            </a:r>
            <a:r>
              <a:rPr lang="en-US" sz="900" b="0" kern="0">
                <a:solidFill>
                  <a:srgbClr val="8195A0"/>
                </a:solidFill>
                <a:latin typeface="Calibri" pitchFamily="34" charset="0"/>
              </a:rPr>
              <a:t>Support = number of riders per class in the test set (n = 2,000).</a:t>
            </a:r>
            <a:endParaRPr lang="en-US" sz="900" b="0" kern="0" dirty="0">
              <a:solidFill>
                <a:srgbClr val="8195A0"/>
              </a:solidFill>
              <a:latin typeface="Calibri" pitchFamily="34" charset="0"/>
            </a:endParaRPr>
          </a:p>
        </p:txBody>
      </p:sp>
      <p:graphicFrame>
        <p:nvGraphicFramePr>
          <p:cNvPr id="4" name="Classification Report Table">
            <a:extLst>
              <a:ext uri="{FF2B5EF4-FFF2-40B4-BE49-F238E27FC236}">
                <a16:creationId xmlns:a16="http://schemas.microsoft.com/office/drawing/2014/main" id="{C8F33FCC-1994-B2DF-B53D-0F2F3BA40BB5}"/>
              </a:ext>
            </a:extLst>
          </p:cNvPr>
          <p:cNvGraphicFramePr>
            <a:graphicFrameLocks noGrp="1"/>
          </p:cNvGraphicFramePr>
          <p:nvPr>
            <p:extLst>
              <p:ext uri="{D42A27DB-BD31-4B8C-83A1-F6EECF244321}">
                <p14:modId xmlns:p14="http://schemas.microsoft.com/office/powerpoint/2010/main" val="1398127106"/>
              </p:ext>
            </p:extLst>
          </p:nvPr>
        </p:nvGraphicFramePr>
        <p:xfrm>
          <a:off x="317633" y="1440000"/>
          <a:ext cx="4420000" cy="1836000"/>
        </p:xfrm>
        <a:graphic>
          <a:graphicData uri="http://schemas.openxmlformats.org/drawingml/2006/table">
            <a:tbl>
              <a:tblPr firstRow="1" bandRow="1"/>
              <a:tblGrid>
                <a:gridCol w="1650000">
                  <a:extLst>
                    <a:ext uri="{9D8B030D-6E8A-4147-A177-3AD203B41FA5}">
                      <a16:colId xmlns:a16="http://schemas.microsoft.com/office/drawing/2014/main" val="20000"/>
                    </a:ext>
                  </a:extLst>
                </a:gridCol>
                <a:gridCol w="690000">
                  <a:extLst>
                    <a:ext uri="{9D8B030D-6E8A-4147-A177-3AD203B41FA5}">
                      <a16:colId xmlns:a16="http://schemas.microsoft.com/office/drawing/2014/main" val="20001"/>
                    </a:ext>
                  </a:extLst>
                </a:gridCol>
                <a:gridCol w="690000">
                  <a:extLst>
                    <a:ext uri="{9D8B030D-6E8A-4147-A177-3AD203B41FA5}">
                      <a16:colId xmlns:a16="http://schemas.microsoft.com/office/drawing/2014/main" val="20002"/>
                    </a:ext>
                  </a:extLst>
                </a:gridCol>
                <a:gridCol w="700000">
                  <a:extLst>
                    <a:ext uri="{9D8B030D-6E8A-4147-A177-3AD203B41FA5}">
                      <a16:colId xmlns:a16="http://schemas.microsoft.com/office/drawing/2014/main" val="20003"/>
                    </a:ext>
                  </a:extLst>
                </a:gridCol>
                <a:gridCol w="690000">
                  <a:extLst>
                    <a:ext uri="{9D8B030D-6E8A-4147-A177-3AD203B41FA5}">
                      <a16:colId xmlns:a16="http://schemas.microsoft.com/office/drawing/2014/main" val="20004"/>
                    </a:ext>
                  </a:extLst>
                </a:gridCol>
              </a:tblGrid>
              <a:tr h="336000">
                <a:tc>
                  <a:txBody>
                    <a:bodyPr/>
                    <a:lstStyle/>
                    <a:p>
                      <a:pPr algn="l"/>
                      <a:r>
                        <a:rPr lang="en-US" sz="1050" b="1" kern="0">
                          <a:solidFill>
                            <a:srgbClr val="FFFFFF"/>
                          </a:solidFill>
                          <a:latin typeface="Calibri" pitchFamily="34" charset="0"/>
                        </a:rPr>
                        <a:t>Class</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Precision</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Recall</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F1-score</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Support</a:t>
                      </a:r>
                    </a:p>
                  </a:txBody>
                  <a:tcPr marL="82296" marR="82296" marT="21600" marB="21600" anchor="ctr">
                    <a:solidFill>
                      <a:srgbClr val="0F2C48"/>
                    </a:solidFill>
                  </a:tcPr>
                </a:tc>
                <a:extLst>
                  <a:ext uri="{0D108BD9-81ED-4DB2-BD59-A6C34878D82A}">
                    <a16:rowId xmlns:a16="http://schemas.microsoft.com/office/drawing/2014/main" val="10000"/>
                  </a:ext>
                </a:extLst>
              </a:tr>
              <a:tr h="300000">
                <a:tc>
                  <a:txBody>
                    <a:bodyPr/>
                    <a:lstStyle/>
                    <a:p>
                      <a:pPr algn="l"/>
                      <a:r>
                        <a:rPr lang="en-US" sz="1050" b="1" kern="0">
                          <a:solidFill>
                            <a:srgbClr val="0F2C48"/>
                          </a:solidFill>
                          <a:latin typeface="Calibri" pitchFamily="34" charset="0"/>
                        </a:rPr>
                        <a:t>Non-churners (0)</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0.69</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0.55</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0.61</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1,354</a:t>
                      </a:r>
                    </a:p>
                  </a:txBody>
                  <a:tcPr marL="82296" marR="82296" marT="21600" marB="21600" anchor="ctr">
                    <a:lnB w="9525" cap="flat">
                      <a:solidFill>
                        <a:srgbClr val="CBD8DE"/>
                      </a:solidFill>
                    </a:lnB>
                    <a:solidFill>
                      <a:srgbClr val="FFFFFF"/>
                    </a:solidFill>
                  </a:tcPr>
                </a:tc>
                <a:extLst>
                  <a:ext uri="{0D108BD9-81ED-4DB2-BD59-A6C34878D82A}">
                    <a16:rowId xmlns:a16="http://schemas.microsoft.com/office/drawing/2014/main" val="10001"/>
                  </a:ext>
                </a:extLst>
              </a:tr>
              <a:tr h="300000">
                <a:tc>
                  <a:txBody>
                    <a:bodyPr/>
                    <a:lstStyle/>
                    <a:p>
                      <a:pPr algn="l"/>
                      <a:r>
                        <a:rPr lang="en-US" sz="1050" b="1" kern="0">
                          <a:solidFill>
                            <a:srgbClr val="0F2C48"/>
                          </a:solidFill>
                          <a:latin typeface="Calibri" pitchFamily="34" charset="0"/>
                        </a:rPr>
                        <a:t>Churners (1)</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0.48</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0.40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646</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2"/>
                  </a:ext>
                </a:extLst>
              </a:tr>
              <a:tr h="300000">
                <a:tc>
                  <a:txBody>
                    <a:bodyPr/>
                    <a:lstStyle/>
                    <a:p>
                      <a:pPr algn="l"/>
                      <a:r>
                        <a:rPr lang="en-US" sz="1050" b="0" kern="0">
                          <a:solidFill>
                            <a:srgbClr val="3F5261"/>
                          </a:solidFill>
                          <a:latin typeface="Calibri" pitchFamily="34" charset="0"/>
                        </a:rPr>
                        <a:t>Accuracy</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0.53</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3"/>
                  </a:ext>
                </a:extLst>
              </a:tr>
              <a:tr h="300000">
                <a:tc>
                  <a:txBody>
                    <a:bodyPr/>
                    <a:lstStyle/>
                    <a:p>
                      <a:pPr algn="l"/>
                      <a:r>
                        <a:rPr lang="en-US" sz="1050" b="0" kern="0">
                          <a:solidFill>
                            <a:srgbClr val="3F5261"/>
                          </a:solidFill>
                          <a:latin typeface="Calibri" pitchFamily="34" charset="0"/>
                        </a:rPr>
                        <a:t>Macro avg</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0.51</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0.52</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0.51</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4"/>
                  </a:ext>
                </a:extLst>
              </a:tr>
              <a:tr h="300000">
                <a:tc>
                  <a:txBody>
                    <a:bodyPr/>
                    <a:lstStyle/>
                    <a:p>
                      <a:pPr algn="l"/>
                      <a:r>
                        <a:rPr lang="en-US" sz="1050" b="0" kern="0">
                          <a:solidFill>
                            <a:srgbClr val="3F5261"/>
                          </a:solidFill>
                          <a:latin typeface="Calibri" pitchFamily="34" charset="0"/>
                        </a:rPr>
                        <a:t>Weighted avg</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0.58</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0.53</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0.54</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5"/>
                  </a:ext>
                </a:extLst>
              </a:tr>
            </a:tbl>
          </a:graphicData>
        </a:graphic>
      </p:graphicFrame>
      <p:sp>
        <p:nvSpPr>
          <p:cNvPr id="50" name="Chart Label">
            <a:extLst>
              <a:ext uri="{FF2B5EF4-FFF2-40B4-BE49-F238E27FC236}">
                <a16:creationId xmlns:a16="http://schemas.microsoft.com/office/drawing/2014/main" id="{8E49A490-7BA4-505E-49E3-FEF67C1318D5}"/>
              </a:ext>
            </a:extLst>
          </p:cNvPr>
          <p:cNvSpPr txBox="1"/>
          <p:nvPr/>
        </p:nvSpPr>
        <p:spPr>
          <a:xfrm>
            <a:off x="4830000" y="1380000"/>
            <a:ext cx="4130000" cy="230000"/>
          </a:xfrm>
          <a:prstGeom prst="rect">
            <a:avLst/>
          </a:prstGeom>
          <a:noFill/>
        </p:spPr>
        <p:txBody>
          <a:bodyPr wrap="square" lIns="0" tIns="0" rIns="0" bIns="0" anchor="t"/>
          <a:lstStyle/>
          <a:p>
            <a:pPr marL="0" indent="0">
              <a:buNone/>
            </a:pPr>
            <a:r>
              <a:rPr lang="en-US" sz="1100" b="1" kern="0">
                <a:solidFill>
                  <a:srgbClr val="0F2C48"/>
                </a:solidFill>
                <a:latin typeface="Calibri" pitchFamily="34" charset="0"/>
              </a:rPr>
              <a:t>Class distribution by support</a:t>
            </a:r>
          </a:p>
        </p:txBody>
      </p:sp>
      <p:graphicFrame>
        <p:nvGraphicFramePr>
          <p:cNvPr id="51" name="Class Distribution Chart">
            <a:extLst>
              <a:ext uri="{FF2B5EF4-FFF2-40B4-BE49-F238E27FC236}">
                <a16:creationId xmlns:a16="http://schemas.microsoft.com/office/drawing/2014/main" id="{909D0CBF-2F34-FDFA-D554-8DD94A86340D}"/>
              </a:ext>
            </a:extLst>
          </p:cNvPr>
          <p:cNvGraphicFramePr/>
          <p:nvPr/>
        </p:nvGraphicFramePr>
        <p:xfrm>
          <a:off x="4800000" y="1600000"/>
          <a:ext cx="4180000" cy="2150000"/>
        </p:xfrm>
        <a:graphic>
          <a:graphicData uri="http://schemas.openxmlformats.org/drawingml/2006/chart">
            <c:chart xmlns:c="http://schemas.openxmlformats.org/drawingml/2006/chart" xmlns:r="http://schemas.openxmlformats.org/officeDocument/2006/relationships" r:id="rId3"/>
          </a:graphicData>
        </a:graphic>
      </p:graphicFrame>
      <p:sp>
        <p:nvSpPr>
          <p:cNvPr id="52" name="Chart Insight">
            <a:extLst>
              <a:ext uri="{FF2B5EF4-FFF2-40B4-BE49-F238E27FC236}">
                <a16:creationId xmlns:a16="http://schemas.microsoft.com/office/drawing/2014/main" id="{70788659-C2F2-F906-2AC2-FC9DD3195C71}"/>
              </a:ext>
            </a:extLst>
          </p:cNvPr>
          <p:cNvSpPr txBox="1"/>
          <p:nvPr/>
        </p:nvSpPr>
        <p:spPr>
          <a:xfrm>
            <a:off x="4802909" y="3583709"/>
            <a:ext cx="4082473" cy="1108364"/>
          </a:xfrm>
          <a:prstGeom prst="rect">
            <a:avLst/>
          </a:prstGeom>
          <a:noFill/>
        </p:spPr>
        <p:txBody>
          <a:bodyPr wrap="square" lIns="0" tIns="0" rIns="0" bIns="0" anchor="t"/>
          <a:lstStyle/>
          <a:p>
            <a:pPr algn="just"/>
            <a:r>
              <a:rPr lang="en-US" sz="1600" b="1" kern="0" dirty="0">
                <a:solidFill>
                  <a:srgbClr val="128F90"/>
                </a:solidFill>
                <a:latin typeface="Calibri" pitchFamily="34" charset="0"/>
              </a:rPr>
              <a:t>68% non-churners vs 32% churners — an imbalanced dataset. </a:t>
            </a:r>
          </a:p>
          <a:p>
            <a:pPr algn="just"/>
            <a:r>
              <a:rPr lang="en-GB" sz="1600" b="1" kern="0" dirty="0">
                <a:solidFill>
                  <a:srgbClr val="128F90"/>
                </a:solidFill>
                <a:latin typeface="Calibri" pitchFamily="34" charset="0"/>
              </a:rPr>
              <a:t>This is a major improvement — SMOTE catches almost half of all churners, instead of one‑third.</a:t>
            </a:r>
            <a:endParaRPr lang="en-US" sz="1600" b="1" kern="0" dirty="0">
              <a:solidFill>
                <a:srgbClr val="128F90"/>
              </a:solidFill>
              <a:latin typeface="Calibri" pitchFamily="34" charset="0"/>
            </a:endParaRPr>
          </a:p>
        </p:txBody>
      </p:sp>
      <p:sp>
        <p:nvSpPr>
          <p:cNvPr id="53" name="Interpretation">
            <a:extLst>
              <a:ext uri="{FF2B5EF4-FFF2-40B4-BE49-F238E27FC236}">
                <a16:creationId xmlns:a16="http://schemas.microsoft.com/office/drawing/2014/main" id="{9FA0AAF1-2496-2A52-E1E6-7BFA1D2EE251}"/>
              </a:ext>
            </a:extLst>
          </p:cNvPr>
          <p:cNvSpPr txBox="1"/>
          <p:nvPr/>
        </p:nvSpPr>
        <p:spPr>
          <a:xfrm>
            <a:off x="317633" y="3440000"/>
            <a:ext cx="4300000" cy="1300000"/>
          </a:xfrm>
          <a:prstGeom prst="rect">
            <a:avLst/>
          </a:prstGeom>
          <a:noFill/>
        </p:spPr>
        <p:txBody>
          <a:bodyPr wrap="square" lIns="0" tIns="0" rIns="0" bIns="0" anchor="t"/>
          <a:lstStyle/>
          <a:p>
            <a:pPr marL="0" indent="0">
              <a:buNone/>
            </a:pPr>
            <a:r>
              <a:rPr lang="en-US" sz="1150" b="1" kern="0">
                <a:solidFill>
                  <a:srgbClr val="0F2C48"/>
                </a:solidFill>
                <a:latin typeface="Calibri" pitchFamily="34" charset="0"/>
              </a:rPr>
              <a:t>What this means</a:t>
            </a:r>
          </a:p>
          <a:p>
            <a:pPr marL="171450" indent="-171450">
              <a:buFont typeface="Arial"/>
              <a:buChar char="•"/>
            </a:pPr>
            <a:r>
              <a:rPr lang="en-US" sz="1050" b="1" kern="0">
                <a:solidFill>
                  <a:srgbClr val="128F90"/>
                </a:solidFill>
                <a:latin typeface="Calibri" pitchFamily="34" charset="0"/>
              </a:rPr>
              <a:t>Strong on non-churners (F1 0.61) </a:t>
            </a:r>
            <a:r>
              <a:rPr lang="en-US" sz="1050" b="0" kern="0">
                <a:solidFill>
                  <a:srgbClr val="3F5261"/>
                </a:solidFill>
                <a:latin typeface="Calibri" pitchFamily="34" charset="0"/>
              </a:rPr>
              <a:t>— the majority class, with plenty of examples to learn from.</a:t>
            </a:r>
          </a:p>
          <a:p>
            <a:pPr marL="171450" indent="-171450">
              <a:buFont typeface="Arial"/>
              <a:buChar char="•"/>
            </a:pPr>
            <a:r>
              <a:rPr lang="en-US" sz="1050" b="1" kern="0">
                <a:solidFill>
                  <a:srgbClr val="16436B"/>
                </a:solidFill>
                <a:latin typeface="Calibri" pitchFamily="34" charset="0"/>
              </a:rPr>
              <a:t>Weaker on churners (F1 0.40) </a:t>
            </a:r>
            <a:r>
              <a:rPr lang="en-US" sz="1050" b="0" kern="0">
                <a:solidFill>
                  <a:srgbClr val="3F5261"/>
                </a:solidFill>
                <a:latin typeface="Calibri" pitchFamily="34" charset="0"/>
              </a:rPr>
              <a:t>— the minority class is harder to detect: fewer riders and less consistent patterns.</a:t>
            </a:r>
          </a:p>
        </p:txBody>
      </p:sp>
    </p:spTree>
    <p:extLst>
      <p:ext uri="{BB962C8B-B14F-4D97-AF65-F5344CB8AC3E}">
        <p14:creationId xmlns:p14="http://schemas.microsoft.com/office/powerpoint/2010/main" val="4120321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9640C-2731-CD1D-FFCB-DB36FBDC821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7100C9F-7845-4E3A-9FCD-8C21883B2C12}"/>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a:extLst>
              <a:ext uri="{FF2B5EF4-FFF2-40B4-BE49-F238E27FC236}">
                <a16:creationId xmlns:a16="http://schemas.microsoft.com/office/drawing/2014/main" id="{69A64C6D-5793-EDF6-5FA5-DDD4B92F2C08}"/>
              </a:ext>
            </a:extLst>
          </p:cNvPr>
          <p:cNvSpPr>
            <a:spLocks noGrp="1"/>
          </p:cNvSpPr>
          <p:nvPr>
            <p:ph type="title" idx="101" hasCustomPrompt="1"/>
          </p:nvPr>
        </p:nvSpPr>
        <p:spPr>
          <a:xfrm>
            <a:off x="120316" y="493294"/>
            <a:ext cx="7795248" cy="517358"/>
          </a:xfrm>
          <a:prstGeom prst="rect">
            <a:avLst/>
          </a:prstGeom>
          <a:noFill/>
          <a:ln/>
        </p:spPr>
        <p:txBody>
          <a:bodyPr wrap="square" rtlCol="0" anchor="t"/>
          <a:lstStyle/>
          <a:p>
            <a:pPr marL="0" indent="0" algn="ctr">
              <a:buNone/>
            </a:pPr>
            <a:r>
              <a:rPr lang="en-US" sz="2400" b="1" dirty="0">
                <a:solidFill>
                  <a:srgbClr val="0F2C48"/>
                </a:solidFill>
                <a:latin typeface="Calibri Light" pitchFamily="34" charset="0"/>
                <a:ea typeface="Calibri Light" pitchFamily="34" charset="-122"/>
                <a:cs typeface="Calibri Light" pitchFamily="34" charset="-120"/>
              </a:rPr>
              <a:t>Model performance: Enhance performance – Class Weighting.</a:t>
            </a:r>
            <a:endParaRPr lang="en-US" sz="2400" dirty="0"/>
          </a:p>
        </p:txBody>
      </p:sp>
      <p:graphicFrame>
        <p:nvGraphicFramePr>
          <p:cNvPr id="23" name="Model Performance Table">
            <a:extLst>
              <a:ext uri="{FF2B5EF4-FFF2-40B4-BE49-F238E27FC236}">
                <a16:creationId xmlns:a16="http://schemas.microsoft.com/office/drawing/2014/main" id="{F7AEAED4-27D7-261E-8D00-485141303942}"/>
              </a:ext>
            </a:extLst>
          </p:cNvPr>
          <p:cNvGraphicFramePr>
            <a:graphicFrameLocks noGrp="1"/>
          </p:cNvGraphicFramePr>
          <p:nvPr/>
        </p:nvGraphicFramePr>
        <p:xfrm>
          <a:off x="157018" y="1098761"/>
          <a:ext cx="8885377" cy="3648727"/>
        </p:xfrm>
        <a:graphic>
          <a:graphicData uri="http://schemas.openxmlformats.org/drawingml/2006/table">
            <a:tbl>
              <a:tblPr firstRow="1" bandRow="1"/>
              <a:tblGrid>
                <a:gridCol w="2555337">
                  <a:extLst>
                    <a:ext uri="{9D8B030D-6E8A-4147-A177-3AD203B41FA5}">
                      <a16:colId xmlns:a16="http://schemas.microsoft.com/office/drawing/2014/main" val="20000"/>
                    </a:ext>
                  </a:extLst>
                </a:gridCol>
                <a:gridCol w="1266008">
                  <a:extLst>
                    <a:ext uri="{9D8B030D-6E8A-4147-A177-3AD203B41FA5}">
                      <a16:colId xmlns:a16="http://schemas.microsoft.com/office/drawing/2014/main" val="20001"/>
                    </a:ext>
                  </a:extLst>
                </a:gridCol>
                <a:gridCol w="1266008">
                  <a:extLst>
                    <a:ext uri="{9D8B030D-6E8A-4147-A177-3AD203B41FA5}">
                      <a16:colId xmlns:a16="http://schemas.microsoft.com/office/drawing/2014/main" val="20002"/>
                    </a:ext>
                  </a:extLst>
                </a:gridCol>
                <a:gridCol w="1266008">
                  <a:extLst>
                    <a:ext uri="{9D8B030D-6E8A-4147-A177-3AD203B41FA5}">
                      <a16:colId xmlns:a16="http://schemas.microsoft.com/office/drawing/2014/main" val="20003"/>
                    </a:ext>
                  </a:extLst>
                </a:gridCol>
                <a:gridCol w="1266008">
                  <a:extLst>
                    <a:ext uri="{9D8B030D-6E8A-4147-A177-3AD203B41FA5}">
                      <a16:colId xmlns:a16="http://schemas.microsoft.com/office/drawing/2014/main" val="20004"/>
                    </a:ext>
                  </a:extLst>
                </a:gridCol>
                <a:gridCol w="1266008">
                  <a:extLst>
                    <a:ext uri="{9D8B030D-6E8A-4147-A177-3AD203B41FA5}">
                      <a16:colId xmlns:a16="http://schemas.microsoft.com/office/drawing/2014/main" val="20005"/>
                    </a:ext>
                  </a:extLst>
                </a:gridCol>
              </a:tblGrid>
              <a:tr h="371057">
                <a:tc>
                  <a:txBody>
                    <a:bodyPr/>
                    <a:lstStyle/>
                    <a:p>
                      <a:pPr algn="l"/>
                      <a:r>
                        <a:rPr lang="en-US" sz="1050" b="1" kern="0" dirty="0">
                          <a:solidFill>
                            <a:srgbClr val="FFFFFF"/>
                          </a:solidFill>
                          <a:latin typeface="Calibri" pitchFamily="34" charset="0"/>
                        </a:rPr>
                        <a:t>Model</a:t>
                      </a:r>
                    </a:p>
                  </a:txBody>
                  <a:tcPr marT="27432" marB="27432" anchor="ctr">
                    <a:solidFill>
                      <a:srgbClr val="0F2C48"/>
                    </a:solidFill>
                  </a:tcPr>
                </a:tc>
                <a:tc>
                  <a:txBody>
                    <a:bodyPr/>
                    <a:lstStyle/>
                    <a:p>
                      <a:pPr algn="ctr"/>
                      <a:r>
                        <a:rPr lang="en-US" sz="1050" b="1" kern="0" dirty="0">
                          <a:solidFill>
                            <a:srgbClr val="FFFFFF"/>
                          </a:solidFill>
                          <a:latin typeface="Calibri" pitchFamily="34" charset="0"/>
                        </a:rPr>
                        <a:t>Accuracy</a:t>
                      </a:r>
                    </a:p>
                  </a:txBody>
                  <a:tcPr marT="27432" marB="27432" anchor="ctr">
                    <a:solidFill>
                      <a:srgbClr val="0F2C48"/>
                    </a:solidFill>
                  </a:tcPr>
                </a:tc>
                <a:tc>
                  <a:txBody>
                    <a:bodyPr/>
                    <a:lstStyle/>
                    <a:p>
                      <a:pPr algn="ctr"/>
                      <a:r>
                        <a:rPr lang="en-US" sz="1050" b="1" kern="0">
                          <a:solidFill>
                            <a:srgbClr val="FFFFFF"/>
                          </a:solidFill>
                          <a:latin typeface="Calibri" pitchFamily="34" charset="0"/>
                        </a:rPr>
                        <a:t>Precision</a:t>
                      </a:r>
                    </a:p>
                  </a:txBody>
                  <a:tcPr marT="27432" marB="27432" anchor="ctr">
                    <a:solidFill>
                      <a:srgbClr val="0F2C48"/>
                    </a:solidFill>
                  </a:tcPr>
                </a:tc>
                <a:tc>
                  <a:txBody>
                    <a:bodyPr/>
                    <a:lstStyle/>
                    <a:p>
                      <a:pPr algn="ctr"/>
                      <a:r>
                        <a:rPr lang="en-US" sz="1050" b="1" kern="0">
                          <a:solidFill>
                            <a:srgbClr val="FFFFFF"/>
                          </a:solidFill>
                          <a:latin typeface="Calibri" pitchFamily="34" charset="0"/>
                        </a:rPr>
                        <a:t>Recall</a:t>
                      </a:r>
                    </a:p>
                  </a:txBody>
                  <a:tcPr marT="27432" marB="27432" anchor="ctr">
                    <a:solidFill>
                      <a:srgbClr val="0F2C48"/>
                    </a:solidFill>
                  </a:tcPr>
                </a:tc>
                <a:tc>
                  <a:txBody>
                    <a:bodyPr/>
                    <a:lstStyle/>
                    <a:p>
                      <a:pPr algn="ctr"/>
                      <a:r>
                        <a:rPr lang="en-US" sz="1050" b="1" kern="0">
                          <a:solidFill>
                            <a:srgbClr val="FFFFFF"/>
                          </a:solidFill>
                          <a:latin typeface="Calibri" pitchFamily="34" charset="0"/>
                        </a:rPr>
                        <a:t>F1</a:t>
                      </a:r>
                    </a:p>
                  </a:txBody>
                  <a:tcPr marT="27432" marB="27432" anchor="ctr">
                    <a:solidFill>
                      <a:srgbClr val="0F2C48"/>
                    </a:solidFill>
                  </a:tcPr>
                </a:tc>
                <a:tc>
                  <a:txBody>
                    <a:bodyPr/>
                    <a:lstStyle/>
                    <a:p>
                      <a:pPr algn="ctr"/>
                      <a:r>
                        <a:rPr lang="en-US" sz="1050" b="1" kern="0" dirty="0">
                          <a:solidFill>
                            <a:srgbClr val="FFFFFF"/>
                          </a:solidFill>
                          <a:latin typeface="Calibri" pitchFamily="34" charset="0"/>
                        </a:rPr>
                        <a:t>AUC</a:t>
                      </a:r>
                    </a:p>
                  </a:txBody>
                  <a:tcPr marT="27432" marB="27432" anchor="ctr">
                    <a:solidFill>
                      <a:srgbClr val="0F2C48"/>
                    </a:solidFill>
                  </a:tcPr>
                </a:tc>
                <a:extLst>
                  <a:ext uri="{0D108BD9-81ED-4DB2-BD59-A6C34878D82A}">
                    <a16:rowId xmlns:a16="http://schemas.microsoft.com/office/drawing/2014/main" val="10000"/>
                  </a:ext>
                </a:extLst>
              </a:tr>
              <a:tr h="327767">
                <a:tc>
                  <a:txBody>
                    <a:bodyPr/>
                    <a:lstStyle/>
                    <a:p>
                      <a:pPr algn="l"/>
                      <a:r>
                        <a:rPr lang="en-US" sz="1050" b="1" kern="0" dirty="0">
                          <a:solidFill>
                            <a:srgbClr val="FFFFFF"/>
                          </a:solidFill>
                          <a:latin typeface="Calibri" pitchFamily="34" charset="0"/>
                        </a:rPr>
                        <a:t>Decision Tree</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0.582</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0.348</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0.337</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0.343</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0.518</a:t>
                      </a:r>
                    </a:p>
                  </a:txBody>
                  <a:tcPr marT="27432" marB="27432" anchor="ctr">
                    <a:lnB w="9525" cap="flat">
                      <a:solidFill>
                        <a:srgbClr val="CBD8DE"/>
                      </a:solidFill>
                    </a:lnB>
                    <a:solidFill>
                      <a:srgbClr val="128F90"/>
                    </a:solidFill>
                  </a:tcPr>
                </a:tc>
                <a:extLst>
                  <a:ext uri="{0D108BD9-81ED-4DB2-BD59-A6C34878D82A}">
                    <a16:rowId xmlns:a16="http://schemas.microsoft.com/office/drawing/2014/main" val="10001"/>
                  </a:ext>
                </a:extLst>
              </a:tr>
              <a:tr h="327767">
                <a:tc>
                  <a:txBody>
                    <a:bodyPr/>
                    <a:lstStyle/>
                    <a:p>
                      <a:pPr algn="l"/>
                      <a:r>
                        <a:rPr lang="en-US" sz="1050" b="0" kern="0">
                          <a:solidFill>
                            <a:srgbClr val="0F2C48"/>
                          </a:solidFill>
                          <a:latin typeface="Calibri" pitchFamily="34" charset="0"/>
                        </a:rPr>
                        <a:t>KNN</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0.632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0.360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0.180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0.240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0.518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2"/>
                  </a:ext>
                </a:extLst>
              </a:tr>
              <a:tr h="327767">
                <a:tc>
                  <a:txBody>
                    <a:bodyPr/>
                    <a:lstStyle/>
                    <a:p>
                      <a:pPr algn="l"/>
                      <a:r>
                        <a:rPr lang="en-US" sz="1050" b="0" kern="0">
                          <a:solidFill>
                            <a:srgbClr val="0F2C48"/>
                          </a:solidFill>
                          <a:latin typeface="Calibri" pitchFamily="34" charset="0"/>
                        </a:rPr>
                        <a:t>Bagging</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0.658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0.342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0.062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0.105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3"/>
                  </a:ext>
                </a:extLst>
              </a:tr>
              <a:tr h="327767">
                <a:tc>
                  <a:txBody>
                    <a:bodyPr/>
                    <a:lstStyle/>
                    <a:p>
                      <a:pPr algn="l"/>
                      <a:r>
                        <a:rPr lang="en-US" sz="1050" b="0" kern="0">
                          <a:solidFill>
                            <a:srgbClr val="0F2C48"/>
                          </a:solidFill>
                          <a:latin typeface="Calibri" pitchFamily="34" charset="0"/>
                        </a:rPr>
                        <a:t>Random Forest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0.665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0.042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0.075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0.513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4"/>
                  </a:ext>
                </a:extLst>
              </a:tr>
              <a:tr h="327767">
                <a:tc>
                  <a:txBody>
                    <a:bodyPr/>
                    <a:lstStyle/>
                    <a:p>
                      <a:pPr algn="l"/>
                      <a:r>
                        <a:rPr lang="en-US" sz="1050" b="0" kern="0">
                          <a:solidFill>
                            <a:srgbClr val="0F2C48"/>
                          </a:solidFill>
                          <a:latin typeface="Calibri" pitchFamily="34" charset="0"/>
                        </a:rPr>
                        <a:t>Logistic Regression</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0.496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0.323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0.396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5"/>
                  </a:ext>
                </a:extLst>
              </a:tr>
              <a:tr h="327767">
                <a:tc>
                  <a:txBody>
                    <a:bodyPr/>
                    <a:lstStyle/>
                    <a:p>
                      <a:pPr algn="l"/>
                      <a:r>
                        <a:rPr lang="en-US" sz="1050" b="0" kern="0">
                          <a:solidFill>
                            <a:srgbClr val="0F2C48"/>
                          </a:solidFill>
                          <a:latin typeface="Calibri" pitchFamily="34" charset="0"/>
                        </a:rPr>
                        <a:t>XGBoost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0.666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0.323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0.031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0.056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0.509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6"/>
                  </a:ext>
                </a:extLst>
              </a:tr>
              <a:tr h="327767">
                <a:tc>
                  <a:txBody>
                    <a:bodyPr/>
                    <a:lstStyle/>
                    <a:p>
                      <a:pPr algn="l"/>
                      <a:r>
                        <a:rPr lang="en-US" sz="1050" b="0" kern="0">
                          <a:solidFill>
                            <a:srgbClr val="0F2C48"/>
                          </a:solidFill>
                          <a:latin typeface="Calibri" pitchFamily="34" charset="0"/>
                        </a:rPr>
                        <a:t>Gradient Boosting</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0.675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0.421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0.012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0.024</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0.502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7"/>
                  </a:ext>
                </a:extLst>
              </a:tr>
              <a:tr h="327767">
                <a:tc>
                  <a:txBody>
                    <a:bodyPr/>
                    <a:lstStyle/>
                    <a:p>
                      <a:pPr algn="l"/>
                      <a:r>
                        <a:rPr lang="en-US" sz="1050" b="0" kern="0">
                          <a:solidFill>
                            <a:srgbClr val="0F2C48"/>
                          </a:solidFill>
                          <a:latin typeface="Calibri" pitchFamily="34" charset="0"/>
                        </a:rPr>
                        <a:t>SVC (RBF)</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0.501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8"/>
                  </a:ext>
                </a:extLst>
              </a:tr>
              <a:tr h="327767">
                <a:tc>
                  <a:txBody>
                    <a:bodyPr/>
                    <a:lstStyle/>
                    <a:p>
                      <a:pPr algn="l"/>
                      <a:r>
                        <a:rPr lang="en-US" sz="1050" b="0" kern="0">
                          <a:solidFill>
                            <a:srgbClr val="0F2C48"/>
                          </a:solidFill>
                          <a:latin typeface="Calibri" pitchFamily="34" charset="0"/>
                        </a:rPr>
                        <a:t>ExtraTrees</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0.646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0.313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0.079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0.126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0.499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9"/>
                  </a:ext>
                </a:extLst>
              </a:tr>
              <a:tr h="327767">
                <a:tc>
                  <a:txBody>
                    <a:bodyPr/>
                    <a:lstStyle/>
                    <a:p>
                      <a:pPr algn="l"/>
                      <a:r>
                        <a:rPr lang="en-US" sz="1050" b="0" kern="0" dirty="0">
                          <a:solidFill>
                            <a:srgbClr val="0F2C48"/>
                          </a:solidFill>
                          <a:latin typeface="Calibri" pitchFamily="34" charset="0"/>
                        </a:rPr>
                        <a:t>AdaBoost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0.677</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0F2C48"/>
                          </a:solidFill>
                          <a:latin typeface="Calibri" pitchFamily="34" charset="0"/>
                        </a:rPr>
                        <a:t>0.495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10"/>
                  </a:ext>
                </a:extLst>
              </a:tr>
            </a:tbl>
          </a:graphicData>
        </a:graphic>
      </p:graphicFrame>
      <p:sp>
        <p:nvSpPr>
          <p:cNvPr id="40" name="Caption">
            <a:extLst>
              <a:ext uri="{FF2B5EF4-FFF2-40B4-BE49-F238E27FC236}">
                <a16:creationId xmlns:a16="http://schemas.microsoft.com/office/drawing/2014/main" id="{2016D668-24E6-24EC-2B4A-7A378DF8A794}"/>
              </a:ext>
            </a:extLst>
          </p:cNvPr>
          <p:cNvSpPr txBox="1"/>
          <p:nvPr/>
        </p:nvSpPr>
        <p:spPr>
          <a:xfrm>
            <a:off x="317633" y="4851133"/>
            <a:ext cx="8056345" cy="278867"/>
          </a:xfrm>
          <a:prstGeom prst="rect">
            <a:avLst/>
          </a:prstGeom>
          <a:noFill/>
        </p:spPr>
        <p:txBody>
          <a:bodyPr wrap="square" lIns="0" tIns="0" rIns="0" bIns="0" rtlCol="0" anchor="t"/>
          <a:lstStyle/>
          <a:p>
            <a:pPr marL="0" indent="0">
              <a:buNone/>
            </a:pPr>
            <a:r>
              <a:rPr lang="en-US" sz="900" b="1" kern="0" dirty="0">
                <a:solidFill>
                  <a:srgbClr val="128F90"/>
                </a:solidFill>
                <a:latin typeface="Calibri" pitchFamily="34" charset="0"/>
              </a:rPr>
              <a:t>Best model by AUC: Decision Tree (0.518).  </a:t>
            </a:r>
            <a:r>
              <a:rPr lang="en-US" sz="900" b="0" kern="0" dirty="0">
                <a:solidFill>
                  <a:srgbClr val="8195A0"/>
                </a:solidFill>
                <a:latin typeface="Calibri" pitchFamily="34" charset="0"/>
              </a:rPr>
              <a:t>Metrics on 0–1 scale; rows ranked by AUC.</a:t>
            </a:r>
          </a:p>
        </p:txBody>
      </p:sp>
    </p:spTree>
    <p:extLst>
      <p:ext uri="{BB962C8B-B14F-4D97-AF65-F5344CB8AC3E}">
        <p14:creationId xmlns:p14="http://schemas.microsoft.com/office/powerpoint/2010/main" val="99028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C2A8F-628E-FAFF-809A-69674569BD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6AC8D7-DD62-00FA-AA10-D2E8BC2457CC}"/>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a:extLst>
              <a:ext uri="{FF2B5EF4-FFF2-40B4-BE49-F238E27FC236}">
                <a16:creationId xmlns:a16="http://schemas.microsoft.com/office/drawing/2014/main" id="{086056D3-96F9-EE80-C611-9B34F21A91D9}"/>
              </a:ext>
            </a:extLst>
          </p:cNvPr>
          <p:cNvSpPr>
            <a:spLocks noGrp="1"/>
          </p:cNvSpPr>
          <p:nvPr>
            <p:ph type="title" idx="101" hasCustomPrompt="1"/>
          </p:nvPr>
        </p:nvSpPr>
        <p:spPr>
          <a:xfrm>
            <a:off x="489528" y="628074"/>
            <a:ext cx="6650180" cy="452582"/>
          </a:xfrm>
          <a:prstGeom prst="rect">
            <a:avLst/>
          </a:prstGeom>
          <a:noFill/>
          <a:ln/>
        </p:spPr>
        <p:txBody>
          <a:bodyPr wrap="square" rtlCol="0" anchor="t"/>
          <a:lstStyle/>
          <a:p>
            <a:pPr algn="ctr"/>
            <a:r>
              <a:rPr lang="en-GB" dirty="0"/>
              <a:t>Classification Report: Class Weighting</a:t>
            </a:r>
            <a:r>
              <a:rPr lang="en-US" sz="2000" b="1" dirty="0">
                <a:solidFill>
                  <a:srgbClr val="0F2C48"/>
                </a:solidFill>
                <a:latin typeface="Calibri Light" pitchFamily="34" charset="0"/>
                <a:ea typeface="Calibri Light" pitchFamily="34" charset="-122"/>
                <a:cs typeface="Calibri Light" pitchFamily="34" charset="-120"/>
              </a:rPr>
              <a:t>. </a:t>
            </a:r>
            <a:endParaRPr lang="en-US" sz="2000" dirty="0"/>
          </a:p>
        </p:txBody>
      </p:sp>
      <p:sp>
        <p:nvSpPr>
          <p:cNvPr id="40" name="Caption">
            <a:extLst>
              <a:ext uri="{FF2B5EF4-FFF2-40B4-BE49-F238E27FC236}">
                <a16:creationId xmlns:a16="http://schemas.microsoft.com/office/drawing/2014/main" id="{B6E618F5-C4F7-65E6-5C57-34EF83F7683C}"/>
              </a:ext>
            </a:extLst>
          </p:cNvPr>
          <p:cNvSpPr txBox="1"/>
          <p:nvPr/>
        </p:nvSpPr>
        <p:spPr>
          <a:xfrm>
            <a:off x="317633" y="4851133"/>
            <a:ext cx="8056345" cy="278867"/>
          </a:xfrm>
          <a:prstGeom prst="rect">
            <a:avLst/>
          </a:prstGeom>
          <a:noFill/>
        </p:spPr>
        <p:txBody>
          <a:bodyPr wrap="square" lIns="0" tIns="0" rIns="0" bIns="0" rtlCol="0" anchor="t"/>
          <a:lstStyle/>
          <a:p>
            <a:pPr marL="0" indent="0">
              <a:buNone/>
            </a:pPr>
            <a:r>
              <a:rPr lang="en-US" sz="900" b="1" kern="0">
                <a:solidFill>
                  <a:srgbClr val="128F90"/>
                </a:solidFill>
                <a:latin typeface="Calibri" pitchFamily="34" charset="0"/>
              </a:rPr>
              <a:t>Class key</a:t>
            </a:r>
            <a:r>
              <a:rPr lang="en-US" sz="900" b="1" kern="0" dirty="0">
                <a:solidFill>
                  <a:srgbClr val="128F90"/>
                </a:solidFill>
                <a:latin typeface="Calibri" pitchFamily="34" charset="0"/>
              </a:rPr>
              <a:t>: </a:t>
            </a:r>
            <a:r>
              <a:rPr lang="en-US" sz="900" b="1" kern="0">
                <a:solidFill>
                  <a:srgbClr val="128F90"/>
                </a:solidFill>
                <a:latin typeface="Calibri" pitchFamily="34" charset="0"/>
              </a:rPr>
              <a:t>0 = Non-churners, 1 = Churners.  </a:t>
            </a:r>
            <a:r>
              <a:rPr lang="en-US" sz="900" b="0" kern="0">
                <a:solidFill>
                  <a:srgbClr val="8195A0"/>
                </a:solidFill>
                <a:latin typeface="Calibri" pitchFamily="34" charset="0"/>
              </a:rPr>
              <a:t>Support = number of riders per class in the test set (n = 2,000).</a:t>
            </a:r>
            <a:endParaRPr lang="en-US" sz="900" b="0" kern="0" dirty="0">
              <a:solidFill>
                <a:srgbClr val="8195A0"/>
              </a:solidFill>
              <a:latin typeface="Calibri" pitchFamily="34" charset="0"/>
            </a:endParaRPr>
          </a:p>
        </p:txBody>
      </p:sp>
      <p:graphicFrame>
        <p:nvGraphicFramePr>
          <p:cNvPr id="4" name="Classification Report Table">
            <a:extLst>
              <a:ext uri="{FF2B5EF4-FFF2-40B4-BE49-F238E27FC236}">
                <a16:creationId xmlns:a16="http://schemas.microsoft.com/office/drawing/2014/main" id="{B99BD97F-E062-603D-36DB-33FBCB5F6528}"/>
              </a:ext>
            </a:extLst>
          </p:cNvPr>
          <p:cNvGraphicFramePr>
            <a:graphicFrameLocks noGrp="1"/>
          </p:cNvGraphicFramePr>
          <p:nvPr/>
        </p:nvGraphicFramePr>
        <p:xfrm>
          <a:off x="317633" y="1440000"/>
          <a:ext cx="4420000" cy="1836000"/>
        </p:xfrm>
        <a:graphic>
          <a:graphicData uri="http://schemas.openxmlformats.org/drawingml/2006/table">
            <a:tbl>
              <a:tblPr firstRow="1" bandRow="1"/>
              <a:tblGrid>
                <a:gridCol w="1650000">
                  <a:extLst>
                    <a:ext uri="{9D8B030D-6E8A-4147-A177-3AD203B41FA5}">
                      <a16:colId xmlns:a16="http://schemas.microsoft.com/office/drawing/2014/main" val="20000"/>
                    </a:ext>
                  </a:extLst>
                </a:gridCol>
                <a:gridCol w="690000">
                  <a:extLst>
                    <a:ext uri="{9D8B030D-6E8A-4147-A177-3AD203B41FA5}">
                      <a16:colId xmlns:a16="http://schemas.microsoft.com/office/drawing/2014/main" val="20001"/>
                    </a:ext>
                  </a:extLst>
                </a:gridCol>
                <a:gridCol w="690000">
                  <a:extLst>
                    <a:ext uri="{9D8B030D-6E8A-4147-A177-3AD203B41FA5}">
                      <a16:colId xmlns:a16="http://schemas.microsoft.com/office/drawing/2014/main" val="20002"/>
                    </a:ext>
                  </a:extLst>
                </a:gridCol>
                <a:gridCol w="700000">
                  <a:extLst>
                    <a:ext uri="{9D8B030D-6E8A-4147-A177-3AD203B41FA5}">
                      <a16:colId xmlns:a16="http://schemas.microsoft.com/office/drawing/2014/main" val="20003"/>
                    </a:ext>
                  </a:extLst>
                </a:gridCol>
                <a:gridCol w="690000">
                  <a:extLst>
                    <a:ext uri="{9D8B030D-6E8A-4147-A177-3AD203B41FA5}">
                      <a16:colId xmlns:a16="http://schemas.microsoft.com/office/drawing/2014/main" val="20004"/>
                    </a:ext>
                  </a:extLst>
                </a:gridCol>
              </a:tblGrid>
              <a:tr h="336000">
                <a:tc>
                  <a:txBody>
                    <a:bodyPr/>
                    <a:lstStyle/>
                    <a:p>
                      <a:pPr algn="l"/>
                      <a:r>
                        <a:rPr lang="en-US" sz="1050" b="1" kern="0">
                          <a:solidFill>
                            <a:srgbClr val="FFFFFF"/>
                          </a:solidFill>
                          <a:latin typeface="Calibri" pitchFamily="34" charset="0"/>
                        </a:rPr>
                        <a:t>Class</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Precision</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Recall</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F1-score</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Support</a:t>
                      </a:r>
                    </a:p>
                  </a:txBody>
                  <a:tcPr marL="82296" marR="82296" marT="21600" marB="21600" anchor="ctr">
                    <a:solidFill>
                      <a:srgbClr val="0F2C48"/>
                    </a:solidFill>
                  </a:tcPr>
                </a:tc>
                <a:extLst>
                  <a:ext uri="{0D108BD9-81ED-4DB2-BD59-A6C34878D82A}">
                    <a16:rowId xmlns:a16="http://schemas.microsoft.com/office/drawing/2014/main" val="10000"/>
                  </a:ext>
                </a:extLst>
              </a:tr>
              <a:tr h="300000">
                <a:tc>
                  <a:txBody>
                    <a:bodyPr/>
                    <a:lstStyle/>
                    <a:p>
                      <a:pPr algn="l"/>
                      <a:r>
                        <a:rPr lang="en-US" sz="1050" b="1" kern="0">
                          <a:solidFill>
                            <a:srgbClr val="0F2C48"/>
                          </a:solidFill>
                          <a:latin typeface="Calibri" pitchFamily="34" charset="0"/>
                        </a:rPr>
                        <a:t>Non-churners (0)</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0.69</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0.55</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0.61</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1,354</a:t>
                      </a:r>
                    </a:p>
                  </a:txBody>
                  <a:tcPr marL="82296" marR="82296" marT="21600" marB="21600" anchor="ctr">
                    <a:lnB w="9525" cap="flat">
                      <a:solidFill>
                        <a:srgbClr val="CBD8DE"/>
                      </a:solidFill>
                    </a:lnB>
                    <a:solidFill>
                      <a:srgbClr val="FFFFFF"/>
                    </a:solidFill>
                  </a:tcPr>
                </a:tc>
                <a:extLst>
                  <a:ext uri="{0D108BD9-81ED-4DB2-BD59-A6C34878D82A}">
                    <a16:rowId xmlns:a16="http://schemas.microsoft.com/office/drawing/2014/main" val="10001"/>
                  </a:ext>
                </a:extLst>
              </a:tr>
              <a:tr h="300000">
                <a:tc>
                  <a:txBody>
                    <a:bodyPr/>
                    <a:lstStyle/>
                    <a:p>
                      <a:pPr algn="l"/>
                      <a:r>
                        <a:rPr lang="en-US" sz="1050" b="1" kern="0">
                          <a:solidFill>
                            <a:srgbClr val="0F2C48"/>
                          </a:solidFill>
                          <a:latin typeface="Calibri" pitchFamily="34" charset="0"/>
                        </a:rPr>
                        <a:t>Churners (1)</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0.48</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0.40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646</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2"/>
                  </a:ext>
                </a:extLst>
              </a:tr>
              <a:tr h="300000">
                <a:tc>
                  <a:txBody>
                    <a:bodyPr/>
                    <a:lstStyle/>
                    <a:p>
                      <a:pPr algn="l"/>
                      <a:r>
                        <a:rPr lang="en-US" sz="1050" b="0" kern="0">
                          <a:solidFill>
                            <a:srgbClr val="3F5261"/>
                          </a:solidFill>
                          <a:latin typeface="Calibri" pitchFamily="34" charset="0"/>
                        </a:rPr>
                        <a:t>Accuracy</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0.53</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3"/>
                  </a:ext>
                </a:extLst>
              </a:tr>
              <a:tr h="300000">
                <a:tc>
                  <a:txBody>
                    <a:bodyPr/>
                    <a:lstStyle/>
                    <a:p>
                      <a:pPr algn="l"/>
                      <a:r>
                        <a:rPr lang="en-US" sz="1050" b="0" kern="0">
                          <a:solidFill>
                            <a:srgbClr val="3F5261"/>
                          </a:solidFill>
                          <a:latin typeface="Calibri" pitchFamily="34" charset="0"/>
                        </a:rPr>
                        <a:t>Macro avg</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0.51</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0.52</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0.51</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4"/>
                  </a:ext>
                </a:extLst>
              </a:tr>
              <a:tr h="300000">
                <a:tc>
                  <a:txBody>
                    <a:bodyPr/>
                    <a:lstStyle/>
                    <a:p>
                      <a:pPr algn="l"/>
                      <a:r>
                        <a:rPr lang="en-US" sz="1050" b="0" kern="0">
                          <a:solidFill>
                            <a:srgbClr val="3F5261"/>
                          </a:solidFill>
                          <a:latin typeface="Calibri" pitchFamily="34" charset="0"/>
                        </a:rPr>
                        <a:t>Weighted avg</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0.58</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0.53</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0.54</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5"/>
                  </a:ext>
                </a:extLst>
              </a:tr>
            </a:tbl>
          </a:graphicData>
        </a:graphic>
      </p:graphicFrame>
      <p:sp>
        <p:nvSpPr>
          <p:cNvPr id="50" name="Chart Label">
            <a:extLst>
              <a:ext uri="{FF2B5EF4-FFF2-40B4-BE49-F238E27FC236}">
                <a16:creationId xmlns:a16="http://schemas.microsoft.com/office/drawing/2014/main" id="{FF7D15D4-5174-30F2-E299-C9D9B9743A4D}"/>
              </a:ext>
            </a:extLst>
          </p:cNvPr>
          <p:cNvSpPr txBox="1"/>
          <p:nvPr/>
        </p:nvSpPr>
        <p:spPr>
          <a:xfrm>
            <a:off x="4830000" y="1380000"/>
            <a:ext cx="4130000" cy="230000"/>
          </a:xfrm>
          <a:prstGeom prst="rect">
            <a:avLst/>
          </a:prstGeom>
          <a:noFill/>
        </p:spPr>
        <p:txBody>
          <a:bodyPr wrap="square" lIns="0" tIns="0" rIns="0" bIns="0" anchor="t"/>
          <a:lstStyle/>
          <a:p>
            <a:pPr marL="0" indent="0">
              <a:buNone/>
            </a:pPr>
            <a:r>
              <a:rPr lang="en-US" sz="1100" b="1" kern="0">
                <a:solidFill>
                  <a:srgbClr val="0F2C48"/>
                </a:solidFill>
                <a:latin typeface="Calibri" pitchFamily="34" charset="0"/>
              </a:rPr>
              <a:t>Class distribution by support</a:t>
            </a:r>
          </a:p>
        </p:txBody>
      </p:sp>
      <p:graphicFrame>
        <p:nvGraphicFramePr>
          <p:cNvPr id="51" name="Class Distribution Chart">
            <a:extLst>
              <a:ext uri="{FF2B5EF4-FFF2-40B4-BE49-F238E27FC236}">
                <a16:creationId xmlns:a16="http://schemas.microsoft.com/office/drawing/2014/main" id="{08EB81D4-F8BD-1597-D26F-589751535658}"/>
              </a:ext>
            </a:extLst>
          </p:cNvPr>
          <p:cNvGraphicFramePr/>
          <p:nvPr/>
        </p:nvGraphicFramePr>
        <p:xfrm>
          <a:off x="4800000" y="1600000"/>
          <a:ext cx="4180000" cy="2150000"/>
        </p:xfrm>
        <a:graphic>
          <a:graphicData uri="http://schemas.openxmlformats.org/drawingml/2006/chart">
            <c:chart xmlns:c="http://schemas.openxmlformats.org/drawingml/2006/chart" xmlns:r="http://schemas.openxmlformats.org/officeDocument/2006/relationships" r:id="rId3"/>
          </a:graphicData>
        </a:graphic>
      </p:graphicFrame>
      <p:sp>
        <p:nvSpPr>
          <p:cNvPr id="52" name="Chart Insight">
            <a:extLst>
              <a:ext uri="{FF2B5EF4-FFF2-40B4-BE49-F238E27FC236}">
                <a16:creationId xmlns:a16="http://schemas.microsoft.com/office/drawing/2014/main" id="{F4CC2677-D662-13DB-124F-1A7BBEF181CB}"/>
              </a:ext>
            </a:extLst>
          </p:cNvPr>
          <p:cNvSpPr txBox="1"/>
          <p:nvPr/>
        </p:nvSpPr>
        <p:spPr>
          <a:xfrm>
            <a:off x="4802909" y="3583709"/>
            <a:ext cx="4257963" cy="1173018"/>
          </a:xfrm>
          <a:prstGeom prst="rect">
            <a:avLst/>
          </a:prstGeom>
          <a:noFill/>
        </p:spPr>
        <p:txBody>
          <a:bodyPr wrap="square" lIns="0" tIns="0" rIns="0" bIns="0" anchor="t"/>
          <a:lstStyle/>
          <a:p>
            <a:pPr algn="just"/>
            <a:r>
              <a:rPr lang="en-US" sz="1600" b="1" kern="0" dirty="0">
                <a:solidFill>
                  <a:srgbClr val="128F90"/>
                </a:solidFill>
                <a:latin typeface="Calibri" pitchFamily="34" charset="0"/>
              </a:rPr>
              <a:t>68% non-churners vs 32% churners — an imbalanced dataset. </a:t>
            </a:r>
          </a:p>
          <a:p>
            <a:pPr algn="just"/>
            <a:r>
              <a:rPr lang="en-GB" sz="1600" b="1" kern="0" dirty="0">
                <a:solidFill>
                  <a:srgbClr val="128F90"/>
                </a:solidFill>
                <a:latin typeface="Calibri" pitchFamily="34" charset="0"/>
              </a:rPr>
              <a:t>This is a major improvement — SMOTE catches  catching almost half of all churners, instead of one‑third.</a:t>
            </a:r>
            <a:endParaRPr lang="en-US" sz="1600" b="1" kern="0" dirty="0">
              <a:solidFill>
                <a:srgbClr val="128F90"/>
              </a:solidFill>
              <a:latin typeface="Calibri" pitchFamily="34" charset="0"/>
            </a:endParaRPr>
          </a:p>
        </p:txBody>
      </p:sp>
      <p:sp>
        <p:nvSpPr>
          <p:cNvPr id="53" name="Interpretation">
            <a:extLst>
              <a:ext uri="{FF2B5EF4-FFF2-40B4-BE49-F238E27FC236}">
                <a16:creationId xmlns:a16="http://schemas.microsoft.com/office/drawing/2014/main" id="{D099E1BC-588D-CAB7-ABB6-77E8F544A125}"/>
              </a:ext>
            </a:extLst>
          </p:cNvPr>
          <p:cNvSpPr txBox="1"/>
          <p:nvPr/>
        </p:nvSpPr>
        <p:spPr>
          <a:xfrm>
            <a:off x="317633" y="3440000"/>
            <a:ext cx="4300000" cy="1300000"/>
          </a:xfrm>
          <a:prstGeom prst="rect">
            <a:avLst/>
          </a:prstGeom>
          <a:noFill/>
        </p:spPr>
        <p:txBody>
          <a:bodyPr wrap="square" lIns="0" tIns="0" rIns="0" bIns="0" anchor="t"/>
          <a:lstStyle/>
          <a:p>
            <a:pPr marL="0" indent="0">
              <a:buNone/>
            </a:pPr>
            <a:r>
              <a:rPr lang="en-US" sz="1150" b="1" kern="0">
                <a:solidFill>
                  <a:srgbClr val="0F2C48"/>
                </a:solidFill>
                <a:latin typeface="Calibri" pitchFamily="34" charset="0"/>
              </a:rPr>
              <a:t>What this means</a:t>
            </a:r>
          </a:p>
          <a:p>
            <a:pPr marL="171450" indent="-171450">
              <a:buFont typeface="Arial"/>
              <a:buChar char="•"/>
            </a:pPr>
            <a:r>
              <a:rPr lang="en-US" sz="1050" b="1" kern="0">
                <a:solidFill>
                  <a:srgbClr val="128F90"/>
                </a:solidFill>
                <a:latin typeface="Calibri" pitchFamily="34" charset="0"/>
              </a:rPr>
              <a:t>Strong on non-churners (F1 0.61) </a:t>
            </a:r>
            <a:r>
              <a:rPr lang="en-US" sz="1050" b="0" kern="0">
                <a:solidFill>
                  <a:srgbClr val="3F5261"/>
                </a:solidFill>
                <a:latin typeface="Calibri" pitchFamily="34" charset="0"/>
              </a:rPr>
              <a:t>— the majority class, with plenty of examples to learn from.</a:t>
            </a:r>
          </a:p>
          <a:p>
            <a:pPr marL="171450" indent="-171450">
              <a:buFont typeface="Arial"/>
              <a:buChar char="•"/>
            </a:pPr>
            <a:r>
              <a:rPr lang="en-US" sz="1050" b="1" kern="0">
                <a:solidFill>
                  <a:srgbClr val="16436B"/>
                </a:solidFill>
                <a:latin typeface="Calibri" pitchFamily="34" charset="0"/>
              </a:rPr>
              <a:t>Weaker on churners (F1 0.40) </a:t>
            </a:r>
            <a:r>
              <a:rPr lang="en-US" sz="1050" b="0" kern="0">
                <a:solidFill>
                  <a:srgbClr val="3F5261"/>
                </a:solidFill>
                <a:latin typeface="Calibri" pitchFamily="34" charset="0"/>
              </a:rPr>
              <a:t>— the minority class is harder to detect: fewer riders and less consistent patterns.</a:t>
            </a:r>
          </a:p>
        </p:txBody>
      </p:sp>
    </p:spTree>
    <p:extLst>
      <p:ext uri="{BB962C8B-B14F-4D97-AF65-F5344CB8AC3E}">
        <p14:creationId xmlns:p14="http://schemas.microsoft.com/office/powerpoint/2010/main" val="1065278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24651-FD13-90A1-42F8-827B3180149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91091C-F5A7-AC76-689A-C3036C2F6F60}"/>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a:extLst>
              <a:ext uri="{FF2B5EF4-FFF2-40B4-BE49-F238E27FC236}">
                <a16:creationId xmlns:a16="http://schemas.microsoft.com/office/drawing/2014/main" id="{2AC7FC21-A9AD-66B0-03FE-5B6D7E02EE1D}"/>
              </a:ext>
            </a:extLst>
          </p:cNvPr>
          <p:cNvSpPr>
            <a:spLocks noGrp="1"/>
          </p:cNvSpPr>
          <p:nvPr>
            <p:ph type="title" idx="101" hasCustomPrompt="1"/>
          </p:nvPr>
        </p:nvSpPr>
        <p:spPr>
          <a:xfrm>
            <a:off x="120316" y="493294"/>
            <a:ext cx="7795248" cy="517358"/>
          </a:xfrm>
          <a:prstGeom prst="rect">
            <a:avLst/>
          </a:prstGeom>
          <a:noFill/>
          <a:ln/>
        </p:spPr>
        <p:txBody>
          <a:bodyPr wrap="square" rtlCol="0" anchor="t"/>
          <a:lstStyle/>
          <a:p>
            <a:pPr marL="0" indent="0" algn="ctr">
              <a:buNone/>
            </a:pPr>
            <a:r>
              <a:rPr lang="en-US" sz="2400" b="1" dirty="0">
                <a:solidFill>
                  <a:srgbClr val="0F2C48"/>
                </a:solidFill>
                <a:latin typeface="Calibri Light" pitchFamily="34" charset="0"/>
                <a:ea typeface="Calibri Light" pitchFamily="34" charset="-122"/>
                <a:cs typeface="Calibri Light" pitchFamily="34" charset="-120"/>
              </a:rPr>
              <a:t>Model performance: Enhance performance – </a:t>
            </a:r>
            <a:r>
              <a:rPr lang="en-US" sz="1600" b="1" dirty="0">
                <a:solidFill>
                  <a:srgbClr val="0F2C48"/>
                </a:solidFill>
                <a:latin typeface="Calibri Light" pitchFamily="34" charset="0"/>
                <a:ea typeface="Calibri Light" pitchFamily="34" charset="-122"/>
                <a:cs typeface="Calibri Light" pitchFamily="34" charset="-120"/>
              </a:rPr>
              <a:t>Threshold Optimization.</a:t>
            </a:r>
            <a:endParaRPr lang="en-US" sz="1600" dirty="0"/>
          </a:p>
        </p:txBody>
      </p:sp>
      <p:graphicFrame>
        <p:nvGraphicFramePr>
          <p:cNvPr id="23" name="Model Performance Table">
            <a:extLst>
              <a:ext uri="{FF2B5EF4-FFF2-40B4-BE49-F238E27FC236}">
                <a16:creationId xmlns:a16="http://schemas.microsoft.com/office/drawing/2014/main" id="{F1A42C07-C53C-BE2E-3AB1-F4ABE1A3B91F}"/>
              </a:ext>
            </a:extLst>
          </p:cNvPr>
          <p:cNvGraphicFramePr>
            <a:graphicFrameLocks noGrp="1"/>
          </p:cNvGraphicFramePr>
          <p:nvPr/>
        </p:nvGraphicFramePr>
        <p:xfrm>
          <a:off x="157018" y="1098761"/>
          <a:ext cx="8885377" cy="3648727"/>
        </p:xfrm>
        <a:graphic>
          <a:graphicData uri="http://schemas.openxmlformats.org/drawingml/2006/table">
            <a:tbl>
              <a:tblPr firstRow="1" bandRow="1"/>
              <a:tblGrid>
                <a:gridCol w="2555337">
                  <a:extLst>
                    <a:ext uri="{9D8B030D-6E8A-4147-A177-3AD203B41FA5}">
                      <a16:colId xmlns:a16="http://schemas.microsoft.com/office/drawing/2014/main" val="20000"/>
                    </a:ext>
                  </a:extLst>
                </a:gridCol>
                <a:gridCol w="1266008">
                  <a:extLst>
                    <a:ext uri="{9D8B030D-6E8A-4147-A177-3AD203B41FA5}">
                      <a16:colId xmlns:a16="http://schemas.microsoft.com/office/drawing/2014/main" val="20001"/>
                    </a:ext>
                  </a:extLst>
                </a:gridCol>
                <a:gridCol w="1266008">
                  <a:extLst>
                    <a:ext uri="{9D8B030D-6E8A-4147-A177-3AD203B41FA5}">
                      <a16:colId xmlns:a16="http://schemas.microsoft.com/office/drawing/2014/main" val="20002"/>
                    </a:ext>
                  </a:extLst>
                </a:gridCol>
                <a:gridCol w="1266008">
                  <a:extLst>
                    <a:ext uri="{9D8B030D-6E8A-4147-A177-3AD203B41FA5}">
                      <a16:colId xmlns:a16="http://schemas.microsoft.com/office/drawing/2014/main" val="20003"/>
                    </a:ext>
                  </a:extLst>
                </a:gridCol>
                <a:gridCol w="1266008">
                  <a:extLst>
                    <a:ext uri="{9D8B030D-6E8A-4147-A177-3AD203B41FA5}">
                      <a16:colId xmlns:a16="http://schemas.microsoft.com/office/drawing/2014/main" val="20004"/>
                    </a:ext>
                  </a:extLst>
                </a:gridCol>
                <a:gridCol w="1266008">
                  <a:extLst>
                    <a:ext uri="{9D8B030D-6E8A-4147-A177-3AD203B41FA5}">
                      <a16:colId xmlns:a16="http://schemas.microsoft.com/office/drawing/2014/main" val="20005"/>
                    </a:ext>
                  </a:extLst>
                </a:gridCol>
              </a:tblGrid>
              <a:tr h="371057">
                <a:tc>
                  <a:txBody>
                    <a:bodyPr/>
                    <a:lstStyle/>
                    <a:p>
                      <a:pPr algn="l"/>
                      <a:r>
                        <a:rPr lang="en-US" sz="1050" b="1" kern="0" dirty="0">
                          <a:solidFill>
                            <a:srgbClr val="FFFFFF"/>
                          </a:solidFill>
                          <a:latin typeface="Calibri" pitchFamily="34" charset="0"/>
                        </a:rPr>
                        <a:t>Model</a:t>
                      </a:r>
                    </a:p>
                  </a:txBody>
                  <a:tcPr marT="27432" marB="27432" anchor="ctr">
                    <a:solidFill>
                      <a:srgbClr val="0F2C48"/>
                    </a:solidFill>
                  </a:tcPr>
                </a:tc>
                <a:tc>
                  <a:txBody>
                    <a:bodyPr/>
                    <a:lstStyle/>
                    <a:p>
                      <a:pPr algn="ctr"/>
                      <a:r>
                        <a:rPr lang="en-US" sz="1050" b="1" kern="0" dirty="0">
                          <a:solidFill>
                            <a:srgbClr val="FFFFFF"/>
                          </a:solidFill>
                          <a:latin typeface="Calibri" pitchFamily="34" charset="0"/>
                        </a:rPr>
                        <a:t>Accuracy</a:t>
                      </a:r>
                    </a:p>
                  </a:txBody>
                  <a:tcPr marT="27432" marB="27432" anchor="ctr">
                    <a:solidFill>
                      <a:srgbClr val="0F2C48"/>
                    </a:solidFill>
                  </a:tcPr>
                </a:tc>
                <a:tc>
                  <a:txBody>
                    <a:bodyPr/>
                    <a:lstStyle/>
                    <a:p>
                      <a:pPr algn="ctr"/>
                      <a:r>
                        <a:rPr lang="en-US" sz="1050" b="1" kern="0">
                          <a:solidFill>
                            <a:srgbClr val="FFFFFF"/>
                          </a:solidFill>
                          <a:latin typeface="Calibri" pitchFamily="34" charset="0"/>
                        </a:rPr>
                        <a:t>Precision</a:t>
                      </a:r>
                    </a:p>
                  </a:txBody>
                  <a:tcPr marT="27432" marB="27432" anchor="ctr">
                    <a:solidFill>
                      <a:srgbClr val="0F2C48"/>
                    </a:solidFill>
                  </a:tcPr>
                </a:tc>
                <a:tc>
                  <a:txBody>
                    <a:bodyPr/>
                    <a:lstStyle/>
                    <a:p>
                      <a:pPr algn="ctr"/>
                      <a:r>
                        <a:rPr lang="en-US" sz="1050" b="1" kern="0">
                          <a:solidFill>
                            <a:srgbClr val="FFFFFF"/>
                          </a:solidFill>
                          <a:latin typeface="Calibri" pitchFamily="34" charset="0"/>
                        </a:rPr>
                        <a:t>Recall</a:t>
                      </a:r>
                    </a:p>
                  </a:txBody>
                  <a:tcPr marT="27432" marB="27432" anchor="ctr">
                    <a:solidFill>
                      <a:srgbClr val="0F2C48"/>
                    </a:solidFill>
                  </a:tcPr>
                </a:tc>
                <a:tc>
                  <a:txBody>
                    <a:bodyPr/>
                    <a:lstStyle/>
                    <a:p>
                      <a:pPr algn="ctr"/>
                      <a:r>
                        <a:rPr lang="en-US" sz="1050" b="1" kern="0">
                          <a:solidFill>
                            <a:srgbClr val="FFFFFF"/>
                          </a:solidFill>
                          <a:latin typeface="Calibri" pitchFamily="34" charset="0"/>
                        </a:rPr>
                        <a:t>F1</a:t>
                      </a:r>
                    </a:p>
                  </a:txBody>
                  <a:tcPr marT="27432" marB="27432" anchor="ctr">
                    <a:solidFill>
                      <a:srgbClr val="0F2C48"/>
                    </a:solidFill>
                  </a:tcPr>
                </a:tc>
                <a:tc>
                  <a:txBody>
                    <a:bodyPr/>
                    <a:lstStyle/>
                    <a:p>
                      <a:pPr algn="ctr"/>
                      <a:r>
                        <a:rPr lang="en-US" sz="1050" b="1" kern="0" dirty="0">
                          <a:solidFill>
                            <a:srgbClr val="FFFFFF"/>
                          </a:solidFill>
                          <a:latin typeface="Calibri" pitchFamily="34" charset="0"/>
                        </a:rPr>
                        <a:t>AUC</a:t>
                      </a:r>
                    </a:p>
                  </a:txBody>
                  <a:tcPr marT="27432" marB="27432" anchor="ctr">
                    <a:solidFill>
                      <a:srgbClr val="0F2C48"/>
                    </a:solidFill>
                  </a:tcPr>
                </a:tc>
                <a:extLst>
                  <a:ext uri="{0D108BD9-81ED-4DB2-BD59-A6C34878D82A}">
                    <a16:rowId xmlns:a16="http://schemas.microsoft.com/office/drawing/2014/main" val="10000"/>
                  </a:ext>
                </a:extLst>
              </a:tr>
              <a:tr h="327767">
                <a:tc>
                  <a:txBody>
                    <a:bodyPr/>
                    <a:lstStyle/>
                    <a:p>
                      <a:pPr algn="l"/>
                      <a:r>
                        <a:rPr lang="en-US" sz="1050" b="1" kern="0" dirty="0">
                          <a:solidFill>
                            <a:srgbClr val="FFFFFF"/>
                          </a:solidFill>
                          <a:latin typeface="Calibri" pitchFamily="34" charset="0"/>
                        </a:rPr>
                        <a:t>Decision Tree</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0.582</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0.348</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0.337</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0.343</a:t>
                      </a:r>
                    </a:p>
                  </a:txBody>
                  <a:tcPr marT="27432" marB="27432" anchor="ctr">
                    <a:lnB w="9525" cap="flat">
                      <a:solidFill>
                        <a:srgbClr val="CBD8DE"/>
                      </a:solidFill>
                    </a:lnB>
                    <a:solidFill>
                      <a:srgbClr val="128F90"/>
                    </a:solidFill>
                  </a:tcPr>
                </a:tc>
                <a:tc>
                  <a:txBody>
                    <a:bodyPr/>
                    <a:lstStyle/>
                    <a:p>
                      <a:pPr algn="ctr"/>
                      <a:r>
                        <a:rPr lang="en-US" sz="1050" b="1" kern="0">
                          <a:solidFill>
                            <a:srgbClr val="FFFFFF"/>
                          </a:solidFill>
                          <a:latin typeface="Calibri" pitchFamily="34" charset="0"/>
                        </a:rPr>
                        <a:t>0.518</a:t>
                      </a:r>
                    </a:p>
                  </a:txBody>
                  <a:tcPr marT="27432" marB="27432" anchor="ctr">
                    <a:lnB w="9525" cap="flat">
                      <a:solidFill>
                        <a:srgbClr val="CBD8DE"/>
                      </a:solidFill>
                    </a:lnB>
                    <a:solidFill>
                      <a:srgbClr val="128F90"/>
                    </a:solidFill>
                  </a:tcPr>
                </a:tc>
                <a:extLst>
                  <a:ext uri="{0D108BD9-81ED-4DB2-BD59-A6C34878D82A}">
                    <a16:rowId xmlns:a16="http://schemas.microsoft.com/office/drawing/2014/main" val="10001"/>
                  </a:ext>
                </a:extLst>
              </a:tr>
              <a:tr h="327767">
                <a:tc>
                  <a:txBody>
                    <a:bodyPr/>
                    <a:lstStyle/>
                    <a:p>
                      <a:pPr algn="l"/>
                      <a:r>
                        <a:rPr lang="en-US" sz="1050" b="0" kern="0">
                          <a:solidFill>
                            <a:srgbClr val="0F2C48"/>
                          </a:solidFill>
                          <a:latin typeface="Calibri" pitchFamily="34" charset="0"/>
                        </a:rPr>
                        <a:t>KNN</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0.632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0.360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0.180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0.240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0.518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2"/>
                  </a:ext>
                </a:extLst>
              </a:tr>
              <a:tr h="327767">
                <a:tc>
                  <a:txBody>
                    <a:bodyPr/>
                    <a:lstStyle/>
                    <a:p>
                      <a:pPr algn="l"/>
                      <a:r>
                        <a:rPr lang="en-US" sz="1050" b="0" kern="0">
                          <a:solidFill>
                            <a:srgbClr val="0F2C48"/>
                          </a:solidFill>
                          <a:latin typeface="Calibri" pitchFamily="34" charset="0"/>
                        </a:rPr>
                        <a:t>Bagging</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0.658</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0.342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0.062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0.105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3"/>
                  </a:ext>
                </a:extLst>
              </a:tr>
              <a:tr h="327767">
                <a:tc>
                  <a:txBody>
                    <a:bodyPr/>
                    <a:lstStyle/>
                    <a:p>
                      <a:pPr algn="l"/>
                      <a:r>
                        <a:rPr lang="en-US" sz="1050" b="0" kern="0">
                          <a:solidFill>
                            <a:srgbClr val="0F2C48"/>
                          </a:solidFill>
                          <a:latin typeface="Calibri" pitchFamily="34" charset="0"/>
                        </a:rPr>
                        <a:t>Random Forest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0.665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0.346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0.042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0.075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0.513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4"/>
                  </a:ext>
                </a:extLst>
              </a:tr>
              <a:tr h="327767">
                <a:tc>
                  <a:txBody>
                    <a:bodyPr/>
                    <a:lstStyle/>
                    <a:p>
                      <a:pPr algn="l"/>
                      <a:r>
                        <a:rPr lang="en-US" sz="1050" b="0" kern="0">
                          <a:solidFill>
                            <a:srgbClr val="0F2C48"/>
                          </a:solidFill>
                          <a:latin typeface="Calibri" pitchFamily="34" charset="0"/>
                        </a:rPr>
                        <a:t>Logistic Regression</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0.496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0.323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0.396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0.510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5"/>
                  </a:ext>
                </a:extLst>
              </a:tr>
              <a:tr h="327767">
                <a:tc>
                  <a:txBody>
                    <a:bodyPr/>
                    <a:lstStyle/>
                    <a:p>
                      <a:pPr algn="l"/>
                      <a:r>
                        <a:rPr lang="en-US" sz="1050" b="0" kern="0">
                          <a:solidFill>
                            <a:srgbClr val="0F2C48"/>
                          </a:solidFill>
                          <a:latin typeface="Calibri" pitchFamily="34" charset="0"/>
                        </a:rPr>
                        <a:t>XGBoost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0.666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0.323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0.031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0.056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0.509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6"/>
                  </a:ext>
                </a:extLst>
              </a:tr>
              <a:tr h="327767">
                <a:tc>
                  <a:txBody>
                    <a:bodyPr/>
                    <a:lstStyle/>
                    <a:p>
                      <a:pPr algn="l"/>
                      <a:r>
                        <a:rPr lang="en-US" sz="1050" b="0" kern="0">
                          <a:solidFill>
                            <a:srgbClr val="0F2C48"/>
                          </a:solidFill>
                          <a:latin typeface="Calibri" pitchFamily="34" charset="0"/>
                        </a:rPr>
                        <a:t>Gradient Boosting</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0.675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0.421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0.012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0.024</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0.502</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7"/>
                  </a:ext>
                </a:extLst>
              </a:tr>
              <a:tr h="327767">
                <a:tc>
                  <a:txBody>
                    <a:bodyPr/>
                    <a:lstStyle/>
                    <a:p>
                      <a:pPr algn="l"/>
                      <a:r>
                        <a:rPr lang="en-US" sz="1050" b="0" kern="0">
                          <a:solidFill>
                            <a:srgbClr val="0F2C48"/>
                          </a:solidFill>
                          <a:latin typeface="Calibri" pitchFamily="34" charset="0"/>
                        </a:rPr>
                        <a:t>SVC (RBF)</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0.501</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8"/>
                  </a:ext>
                </a:extLst>
              </a:tr>
              <a:tr h="327767">
                <a:tc>
                  <a:txBody>
                    <a:bodyPr/>
                    <a:lstStyle/>
                    <a:p>
                      <a:pPr algn="l"/>
                      <a:r>
                        <a:rPr lang="en-US" sz="1050" b="0" kern="0">
                          <a:solidFill>
                            <a:srgbClr val="0F2C48"/>
                          </a:solidFill>
                          <a:latin typeface="Calibri" pitchFamily="34" charset="0"/>
                        </a:rPr>
                        <a:t>ExtraTrees</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0.646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0.313</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0.079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0.126</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0.499</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FFFFFF"/>
                    </a:solidFill>
                  </a:tcPr>
                </a:tc>
                <a:extLst>
                  <a:ext uri="{0D108BD9-81ED-4DB2-BD59-A6C34878D82A}">
                    <a16:rowId xmlns:a16="http://schemas.microsoft.com/office/drawing/2014/main" val="10009"/>
                  </a:ext>
                </a:extLst>
              </a:tr>
              <a:tr h="327767">
                <a:tc>
                  <a:txBody>
                    <a:bodyPr/>
                    <a:lstStyle/>
                    <a:p>
                      <a:pPr algn="l"/>
                      <a:r>
                        <a:rPr lang="en-US" sz="1050" b="0" kern="0" dirty="0">
                          <a:solidFill>
                            <a:srgbClr val="0F2C48"/>
                          </a:solidFill>
                          <a:latin typeface="Calibri" pitchFamily="34" charset="0"/>
                        </a:rPr>
                        <a:t>AdaBoost</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0.677</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0F2C48"/>
                          </a:solidFill>
                          <a:latin typeface="Calibri" pitchFamily="34" charset="0"/>
                        </a:rPr>
                        <a:t>0.000</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0F2C48"/>
                          </a:solidFill>
                          <a:latin typeface="Calibri" pitchFamily="34" charset="0"/>
                        </a:rPr>
                        <a:t>0.495</a:t>
                      </a:r>
                    </a:p>
                  </a:txBody>
                  <a:tcPr marT="27432" marB="27432"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10"/>
                  </a:ext>
                </a:extLst>
              </a:tr>
            </a:tbl>
          </a:graphicData>
        </a:graphic>
      </p:graphicFrame>
      <p:sp>
        <p:nvSpPr>
          <p:cNvPr id="40" name="Caption">
            <a:extLst>
              <a:ext uri="{FF2B5EF4-FFF2-40B4-BE49-F238E27FC236}">
                <a16:creationId xmlns:a16="http://schemas.microsoft.com/office/drawing/2014/main" id="{170D3450-8C3A-12C9-BB96-4FC5CF7D10CA}"/>
              </a:ext>
            </a:extLst>
          </p:cNvPr>
          <p:cNvSpPr txBox="1"/>
          <p:nvPr/>
        </p:nvSpPr>
        <p:spPr>
          <a:xfrm>
            <a:off x="317633" y="4851133"/>
            <a:ext cx="8056345" cy="278867"/>
          </a:xfrm>
          <a:prstGeom prst="rect">
            <a:avLst/>
          </a:prstGeom>
          <a:noFill/>
        </p:spPr>
        <p:txBody>
          <a:bodyPr wrap="square" lIns="0" tIns="0" rIns="0" bIns="0" rtlCol="0" anchor="t"/>
          <a:lstStyle/>
          <a:p>
            <a:pPr marL="0" indent="0">
              <a:buNone/>
            </a:pPr>
            <a:r>
              <a:rPr lang="en-US" sz="900" b="1" kern="0" dirty="0">
                <a:solidFill>
                  <a:srgbClr val="128F90"/>
                </a:solidFill>
                <a:latin typeface="Calibri" pitchFamily="34" charset="0"/>
              </a:rPr>
              <a:t>Best model by AUC: Decision Tree (0.518).  </a:t>
            </a:r>
            <a:r>
              <a:rPr lang="en-US" sz="900" b="0" kern="0" dirty="0">
                <a:solidFill>
                  <a:srgbClr val="8195A0"/>
                </a:solidFill>
                <a:latin typeface="Calibri" pitchFamily="34" charset="0"/>
              </a:rPr>
              <a:t>Metrics on 0–1 scale; rows ranked by AUC.</a:t>
            </a:r>
          </a:p>
        </p:txBody>
      </p:sp>
    </p:spTree>
    <p:extLst>
      <p:ext uri="{BB962C8B-B14F-4D97-AF65-F5344CB8AC3E}">
        <p14:creationId xmlns:p14="http://schemas.microsoft.com/office/powerpoint/2010/main" val="239766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A7AFA-0FD0-19F3-DFBD-4796226D5A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8D4CEC-CDC6-3FDF-4228-313FBDB180DA}"/>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a:extLst>
              <a:ext uri="{FF2B5EF4-FFF2-40B4-BE49-F238E27FC236}">
                <a16:creationId xmlns:a16="http://schemas.microsoft.com/office/drawing/2014/main" id="{CC3FBCB0-0ECF-A370-D2AB-537AC42AE558}"/>
              </a:ext>
            </a:extLst>
          </p:cNvPr>
          <p:cNvSpPr>
            <a:spLocks noGrp="1"/>
          </p:cNvSpPr>
          <p:nvPr>
            <p:ph type="title" idx="101" hasCustomPrompt="1"/>
          </p:nvPr>
        </p:nvSpPr>
        <p:spPr>
          <a:xfrm>
            <a:off x="0" y="526474"/>
            <a:ext cx="7980218" cy="452582"/>
          </a:xfrm>
          <a:prstGeom prst="rect">
            <a:avLst/>
          </a:prstGeom>
          <a:noFill/>
          <a:ln/>
        </p:spPr>
        <p:txBody>
          <a:bodyPr wrap="square" rtlCol="0" anchor="t"/>
          <a:lstStyle/>
          <a:p>
            <a:pPr algn="ctr"/>
            <a:r>
              <a:rPr lang="en-GB" dirty="0"/>
              <a:t>Classification Report: Threshold Optimization</a:t>
            </a:r>
            <a:r>
              <a:rPr lang="en-US" sz="2000" b="1" dirty="0">
                <a:solidFill>
                  <a:srgbClr val="0F2C48"/>
                </a:solidFill>
                <a:latin typeface="Calibri Light" pitchFamily="34" charset="0"/>
                <a:ea typeface="Calibri Light" pitchFamily="34" charset="-122"/>
                <a:cs typeface="Calibri Light" pitchFamily="34" charset="-120"/>
              </a:rPr>
              <a:t>. </a:t>
            </a:r>
            <a:endParaRPr lang="en-US" sz="2000" dirty="0"/>
          </a:p>
        </p:txBody>
      </p:sp>
      <p:sp>
        <p:nvSpPr>
          <p:cNvPr id="40" name="Caption">
            <a:extLst>
              <a:ext uri="{FF2B5EF4-FFF2-40B4-BE49-F238E27FC236}">
                <a16:creationId xmlns:a16="http://schemas.microsoft.com/office/drawing/2014/main" id="{5778535E-C672-79AF-81CD-BA3D03F73333}"/>
              </a:ext>
            </a:extLst>
          </p:cNvPr>
          <p:cNvSpPr txBox="1"/>
          <p:nvPr/>
        </p:nvSpPr>
        <p:spPr>
          <a:xfrm>
            <a:off x="317633" y="4851133"/>
            <a:ext cx="8056345" cy="278867"/>
          </a:xfrm>
          <a:prstGeom prst="rect">
            <a:avLst/>
          </a:prstGeom>
          <a:noFill/>
        </p:spPr>
        <p:txBody>
          <a:bodyPr wrap="square" lIns="0" tIns="0" rIns="0" bIns="0" rtlCol="0" anchor="t"/>
          <a:lstStyle/>
          <a:p>
            <a:pPr marL="0" indent="0">
              <a:buNone/>
            </a:pPr>
            <a:r>
              <a:rPr lang="en-US" sz="900" b="1" kern="0">
                <a:solidFill>
                  <a:srgbClr val="128F90"/>
                </a:solidFill>
                <a:latin typeface="Calibri" pitchFamily="34" charset="0"/>
              </a:rPr>
              <a:t>Class key</a:t>
            </a:r>
            <a:r>
              <a:rPr lang="en-US" sz="900" b="1" kern="0" dirty="0">
                <a:solidFill>
                  <a:srgbClr val="128F90"/>
                </a:solidFill>
                <a:latin typeface="Calibri" pitchFamily="34" charset="0"/>
              </a:rPr>
              <a:t>: </a:t>
            </a:r>
            <a:r>
              <a:rPr lang="en-US" sz="900" b="1" kern="0">
                <a:solidFill>
                  <a:srgbClr val="128F90"/>
                </a:solidFill>
                <a:latin typeface="Calibri" pitchFamily="34" charset="0"/>
              </a:rPr>
              <a:t>0 = Non-churners, 1 = Churners.  </a:t>
            </a:r>
            <a:r>
              <a:rPr lang="en-US" sz="900" b="0" kern="0">
                <a:solidFill>
                  <a:srgbClr val="8195A0"/>
                </a:solidFill>
                <a:latin typeface="Calibri" pitchFamily="34" charset="0"/>
              </a:rPr>
              <a:t>Support = number of riders per class in the test set (n = 2,000).</a:t>
            </a:r>
            <a:endParaRPr lang="en-US" sz="900" b="0" kern="0" dirty="0">
              <a:solidFill>
                <a:srgbClr val="8195A0"/>
              </a:solidFill>
              <a:latin typeface="Calibri" pitchFamily="34" charset="0"/>
            </a:endParaRPr>
          </a:p>
        </p:txBody>
      </p:sp>
      <p:graphicFrame>
        <p:nvGraphicFramePr>
          <p:cNvPr id="4" name="Classification Report Table">
            <a:extLst>
              <a:ext uri="{FF2B5EF4-FFF2-40B4-BE49-F238E27FC236}">
                <a16:creationId xmlns:a16="http://schemas.microsoft.com/office/drawing/2014/main" id="{80FB7F2A-5140-E956-C855-16B3C1945C38}"/>
              </a:ext>
            </a:extLst>
          </p:cNvPr>
          <p:cNvGraphicFramePr>
            <a:graphicFrameLocks noGrp="1"/>
          </p:cNvGraphicFramePr>
          <p:nvPr>
            <p:extLst>
              <p:ext uri="{D42A27DB-BD31-4B8C-83A1-F6EECF244321}">
                <p14:modId xmlns:p14="http://schemas.microsoft.com/office/powerpoint/2010/main" val="3656062933"/>
              </p:ext>
            </p:extLst>
          </p:nvPr>
        </p:nvGraphicFramePr>
        <p:xfrm>
          <a:off x="317633" y="1440000"/>
          <a:ext cx="4420000" cy="1836000"/>
        </p:xfrm>
        <a:graphic>
          <a:graphicData uri="http://schemas.openxmlformats.org/drawingml/2006/table">
            <a:tbl>
              <a:tblPr firstRow="1" bandRow="1"/>
              <a:tblGrid>
                <a:gridCol w="1650000">
                  <a:extLst>
                    <a:ext uri="{9D8B030D-6E8A-4147-A177-3AD203B41FA5}">
                      <a16:colId xmlns:a16="http://schemas.microsoft.com/office/drawing/2014/main" val="20000"/>
                    </a:ext>
                  </a:extLst>
                </a:gridCol>
                <a:gridCol w="690000">
                  <a:extLst>
                    <a:ext uri="{9D8B030D-6E8A-4147-A177-3AD203B41FA5}">
                      <a16:colId xmlns:a16="http://schemas.microsoft.com/office/drawing/2014/main" val="20001"/>
                    </a:ext>
                  </a:extLst>
                </a:gridCol>
                <a:gridCol w="690000">
                  <a:extLst>
                    <a:ext uri="{9D8B030D-6E8A-4147-A177-3AD203B41FA5}">
                      <a16:colId xmlns:a16="http://schemas.microsoft.com/office/drawing/2014/main" val="20002"/>
                    </a:ext>
                  </a:extLst>
                </a:gridCol>
                <a:gridCol w="700000">
                  <a:extLst>
                    <a:ext uri="{9D8B030D-6E8A-4147-A177-3AD203B41FA5}">
                      <a16:colId xmlns:a16="http://schemas.microsoft.com/office/drawing/2014/main" val="20003"/>
                    </a:ext>
                  </a:extLst>
                </a:gridCol>
                <a:gridCol w="690000">
                  <a:extLst>
                    <a:ext uri="{9D8B030D-6E8A-4147-A177-3AD203B41FA5}">
                      <a16:colId xmlns:a16="http://schemas.microsoft.com/office/drawing/2014/main" val="20004"/>
                    </a:ext>
                  </a:extLst>
                </a:gridCol>
              </a:tblGrid>
              <a:tr h="336000">
                <a:tc>
                  <a:txBody>
                    <a:bodyPr/>
                    <a:lstStyle/>
                    <a:p>
                      <a:pPr algn="l"/>
                      <a:r>
                        <a:rPr lang="en-US" sz="1050" b="1" kern="0" dirty="0">
                          <a:solidFill>
                            <a:srgbClr val="FFFFFF"/>
                          </a:solidFill>
                          <a:latin typeface="Calibri" pitchFamily="34" charset="0"/>
                        </a:rPr>
                        <a:t>Class</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Precision</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Recall</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F1-score</a:t>
                      </a:r>
                    </a:p>
                  </a:txBody>
                  <a:tcPr marL="82296" marR="82296" marT="21600" marB="21600" anchor="ctr">
                    <a:solidFill>
                      <a:srgbClr val="0F2C48"/>
                    </a:solidFill>
                  </a:tcPr>
                </a:tc>
                <a:tc>
                  <a:txBody>
                    <a:bodyPr/>
                    <a:lstStyle/>
                    <a:p>
                      <a:pPr algn="ctr"/>
                      <a:r>
                        <a:rPr lang="en-US" sz="1050" b="1" kern="0">
                          <a:solidFill>
                            <a:srgbClr val="FFFFFF"/>
                          </a:solidFill>
                          <a:latin typeface="Calibri" pitchFamily="34" charset="0"/>
                        </a:rPr>
                        <a:t>Support</a:t>
                      </a:r>
                    </a:p>
                  </a:txBody>
                  <a:tcPr marL="82296" marR="82296" marT="21600" marB="21600" anchor="ctr">
                    <a:solidFill>
                      <a:srgbClr val="0F2C48"/>
                    </a:solidFill>
                  </a:tcPr>
                </a:tc>
                <a:extLst>
                  <a:ext uri="{0D108BD9-81ED-4DB2-BD59-A6C34878D82A}">
                    <a16:rowId xmlns:a16="http://schemas.microsoft.com/office/drawing/2014/main" val="10000"/>
                  </a:ext>
                </a:extLst>
              </a:tr>
              <a:tr h="300000">
                <a:tc>
                  <a:txBody>
                    <a:bodyPr/>
                    <a:lstStyle/>
                    <a:p>
                      <a:pPr algn="l"/>
                      <a:r>
                        <a:rPr lang="en-US" sz="1050" b="1" kern="0">
                          <a:solidFill>
                            <a:srgbClr val="0F2C48"/>
                          </a:solidFill>
                          <a:latin typeface="Calibri" pitchFamily="34" charset="0"/>
                        </a:rPr>
                        <a:t>Non-churners (0)</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0.00</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0.00</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0.00</a:t>
                      </a:r>
                    </a:p>
                  </a:txBody>
                  <a:tcPr marL="82296" marR="82296" marT="21600" marB="21600" anchor="ctr">
                    <a:lnB w="9525" cap="flat">
                      <a:solidFill>
                        <a:srgbClr val="CBD8DE"/>
                      </a:solidFill>
                    </a:lnB>
                    <a:solidFill>
                      <a:srgbClr val="FFFFFF"/>
                    </a:solidFill>
                  </a:tcPr>
                </a:tc>
                <a:tc>
                  <a:txBody>
                    <a:bodyPr/>
                    <a:lstStyle/>
                    <a:p>
                      <a:pPr algn="ctr"/>
                      <a:r>
                        <a:rPr lang="en-US" sz="1050" b="0" kern="0">
                          <a:solidFill>
                            <a:srgbClr val="0F2C48"/>
                          </a:solidFill>
                          <a:latin typeface="Calibri" pitchFamily="34" charset="0"/>
                        </a:rPr>
                        <a:t>1,354</a:t>
                      </a:r>
                    </a:p>
                  </a:txBody>
                  <a:tcPr marL="82296" marR="82296" marT="21600" marB="21600" anchor="ctr">
                    <a:lnB w="9525" cap="flat">
                      <a:solidFill>
                        <a:srgbClr val="CBD8DE"/>
                      </a:solidFill>
                    </a:lnB>
                    <a:solidFill>
                      <a:srgbClr val="FFFFFF"/>
                    </a:solidFill>
                  </a:tcPr>
                </a:tc>
                <a:extLst>
                  <a:ext uri="{0D108BD9-81ED-4DB2-BD59-A6C34878D82A}">
                    <a16:rowId xmlns:a16="http://schemas.microsoft.com/office/drawing/2014/main" val="10001"/>
                  </a:ext>
                </a:extLst>
              </a:tr>
              <a:tr h="300000">
                <a:tc>
                  <a:txBody>
                    <a:bodyPr/>
                    <a:lstStyle/>
                    <a:p>
                      <a:pPr algn="l"/>
                      <a:r>
                        <a:rPr lang="en-US" sz="1050" b="1" kern="0">
                          <a:solidFill>
                            <a:srgbClr val="0F2C48"/>
                          </a:solidFill>
                          <a:latin typeface="Calibri" pitchFamily="34" charset="0"/>
                        </a:rPr>
                        <a:t>Churners (1)</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0.32</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1.00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0.49</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0F2C48"/>
                          </a:solidFill>
                          <a:latin typeface="Calibri" pitchFamily="34" charset="0"/>
                        </a:rPr>
                        <a:t>646</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2"/>
                  </a:ext>
                </a:extLst>
              </a:tr>
              <a:tr h="300000">
                <a:tc>
                  <a:txBody>
                    <a:bodyPr/>
                    <a:lstStyle/>
                    <a:p>
                      <a:pPr algn="l"/>
                      <a:r>
                        <a:rPr lang="en-US" sz="1050" b="0" kern="0">
                          <a:solidFill>
                            <a:srgbClr val="3F5261"/>
                          </a:solidFill>
                          <a:latin typeface="Calibri" pitchFamily="34" charset="0"/>
                        </a:rPr>
                        <a:t>Accuracy</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0.32</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3"/>
                  </a:ext>
                </a:extLst>
              </a:tr>
              <a:tr h="300000">
                <a:tc>
                  <a:txBody>
                    <a:bodyPr/>
                    <a:lstStyle/>
                    <a:p>
                      <a:pPr algn="l"/>
                      <a:r>
                        <a:rPr lang="en-US" sz="1050" b="0" kern="0">
                          <a:solidFill>
                            <a:srgbClr val="3F5261"/>
                          </a:solidFill>
                          <a:latin typeface="Calibri" pitchFamily="34" charset="0"/>
                        </a:rPr>
                        <a:t>Macro avg</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0.16</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0.50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0.24</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4"/>
                  </a:ext>
                </a:extLst>
              </a:tr>
              <a:tr h="300000">
                <a:tc>
                  <a:txBody>
                    <a:bodyPr/>
                    <a:lstStyle/>
                    <a:p>
                      <a:pPr algn="l"/>
                      <a:r>
                        <a:rPr lang="en-US" sz="1050" b="0" kern="0">
                          <a:solidFill>
                            <a:srgbClr val="3F5261"/>
                          </a:solidFill>
                          <a:latin typeface="Calibri" pitchFamily="34" charset="0"/>
                        </a:rPr>
                        <a:t>Weighted avg</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0.10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0.32</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a:solidFill>
                            <a:srgbClr val="3F5261"/>
                          </a:solidFill>
                          <a:latin typeface="Calibri" pitchFamily="34" charset="0"/>
                        </a:rPr>
                        <a:t>0.16</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tc>
                  <a:txBody>
                    <a:bodyPr/>
                    <a:lstStyle/>
                    <a:p>
                      <a:pPr algn="ctr"/>
                      <a:r>
                        <a:rPr lang="en-US" sz="1050" b="0" kern="0" dirty="0">
                          <a:solidFill>
                            <a:srgbClr val="3F5261"/>
                          </a:solidFill>
                          <a:latin typeface="Calibri" pitchFamily="34" charset="0"/>
                        </a:rPr>
                        <a:t>2,000</a:t>
                      </a:r>
                    </a:p>
                  </a:txBody>
                  <a:tcPr marL="82296" marR="82296" marT="21600" marB="21600" anchor="ctr">
                    <a:lnT w="9525" cap="flat" cmpd="sng" algn="ctr">
                      <a:solidFill>
                        <a:srgbClr val="CBD8DE"/>
                      </a:solidFill>
                      <a:prstDash val="solid"/>
                      <a:round/>
                      <a:headEnd type="none" w="med" len="med"/>
                      <a:tailEnd type="none" w="med" len="med"/>
                    </a:lnT>
                    <a:lnB w="9525" cap="flat">
                      <a:solidFill>
                        <a:srgbClr val="CBD8DE"/>
                      </a:solidFill>
                    </a:lnB>
                    <a:solidFill>
                      <a:srgbClr val="EAF1F3"/>
                    </a:solidFill>
                  </a:tcPr>
                </a:tc>
                <a:extLst>
                  <a:ext uri="{0D108BD9-81ED-4DB2-BD59-A6C34878D82A}">
                    <a16:rowId xmlns:a16="http://schemas.microsoft.com/office/drawing/2014/main" val="10005"/>
                  </a:ext>
                </a:extLst>
              </a:tr>
            </a:tbl>
          </a:graphicData>
        </a:graphic>
      </p:graphicFrame>
      <p:sp>
        <p:nvSpPr>
          <p:cNvPr id="50" name="Chart Label">
            <a:extLst>
              <a:ext uri="{FF2B5EF4-FFF2-40B4-BE49-F238E27FC236}">
                <a16:creationId xmlns:a16="http://schemas.microsoft.com/office/drawing/2014/main" id="{9E57DDA8-F7B4-43F3-A161-704B7B674988}"/>
              </a:ext>
            </a:extLst>
          </p:cNvPr>
          <p:cNvSpPr txBox="1"/>
          <p:nvPr/>
        </p:nvSpPr>
        <p:spPr>
          <a:xfrm>
            <a:off x="4830000" y="1380000"/>
            <a:ext cx="4130000" cy="230000"/>
          </a:xfrm>
          <a:prstGeom prst="rect">
            <a:avLst/>
          </a:prstGeom>
          <a:noFill/>
        </p:spPr>
        <p:txBody>
          <a:bodyPr wrap="square" lIns="0" tIns="0" rIns="0" bIns="0" anchor="t"/>
          <a:lstStyle/>
          <a:p>
            <a:pPr marL="0" indent="0">
              <a:buNone/>
            </a:pPr>
            <a:r>
              <a:rPr lang="en-US" sz="1100" b="1" kern="0">
                <a:solidFill>
                  <a:srgbClr val="0F2C48"/>
                </a:solidFill>
                <a:latin typeface="Calibri" pitchFamily="34" charset="0"/>
              </a:rPr>
              <a:t>Class distribution by support</a:t>
            </a:r>
          </a:p>
        </p:txBody>
      </p:sp>
      <p:graphicFrame>
        <p:nvGraphicFramePr>
          <p:cNvPr id="51" name="Class Distribution Chart">
            <a:extLst>
              <a:ext uri="{FF2B5EF4-FFF2-40B4-BE49-F238E27FC236}">
                <a16:creationId xmlns:a16="http://schemas.microsoft.com/office/drawing/2014/main" id="{789ECDDB-1DCD-9382-0FF5-7D8F440AEF24}"/>
              </a:ext>
            </a:extLst>
          </p:cNvPr>
          <p:cNvGraphicFramePr/>
          <p:nvPr/>
        </p:nvGraphicFramePr>
        <p:xfrm>
          <a:off x="4800000" y="1600000"/>
          <a:ext cx="4180000" cy="2150000"/>
        </p:xfrm>
        <a:graphic>
          <a:graphicData uri="http://schemas.openxmlformats.org/drawingml/2006/chart">
            <c:chart xmlns:c="http://schemas.openxmlformats.org/drawingml/2006/chart" xmlns:r="http://schemas.openxmlformats.org/officeDocument/2006/relationships" r:id="rId3"/>
          </a:graphicData>
        </a:graphic>
      </p:graphicFrame>
      <p:sp>
        <p:nvSpPr>
          <p:cNvPr id="52" name="Chart Insight">
            <a:extLst>
              <a:ext uri="{FF2B5EF4-FFF2-40B4-BE49-F238E27FC236}">
                <a16:creationId xmlns:a16="http://schemas.microsoft.com/office/drawing/2014/main" id="{677995A9-8958-84E9-3768-4E9055F4CB7C}"/>
              </a:ext>
            </a:extLst>
          </p:cNvPr>
          <p:cNvSpPr txBox="1"/>
          <p:nvPr/>
        </p:nvSpPr>
        <p:spPr>
          <a:xfrm>
            <a:off x="4802909" y="3583709"/>
            <a:ext cx="4257963" cy="1173018"/>
          </a:xfrm>
          <a:prstGeom prst="rect">
            <a:avLst/>
          </a:prstGeom>
          <a:noFill/>
        </p:spPr>
        <p:txBody>
          <a:bodyPr wrap="square" lIns="0" tIns="0" rIns="0" bIns="0" anchor="t"/>
          <a:lstStyle/>
          <a:p>
            <a:pPr algn="just"/>
            <a:r>
              <a:rPr lang="en-US" sz="1600" b="1" kern="0" dirty="0">
                <a:solidFill>
                  <a:srgbClr val="128F90"/>
                </a:solidFill>
                <a:latin typeface="Calibri" pitchFamily="34" charset="0"/>
              </a:rPr>
              <a:t>68% non-churners vs 32% churners — an imbalanced dataset. </a:t>
            </a:r>
          </a:p>
          <a:p>
            <a:pPr algn="just"/>
            <a:r>
              <a:rPr lang="en-GB" sz="1600" b="1" kern="0">
                <a:solidFill>
                  <a:srgbClr val="128F90"/>
                </a:solidFill>
                <a:latin typeface="Calibri" pitchFamily="34" charset="0"/>
              </a:rPr>
              <a:t>The model now flags every churner (recall 1.00), but with precision </a:t>
            </a:r>
            <a:r>
              <a:rPr lang="en-GB" sz="1600" b="1" kern="0" dirty="0">
                <a:solidFill>
                  <a:srgbClr val="128F90"/>
                </a:solidFill>
                <a:latin typeface="Calibri" pitchFamily="34" charset="0"/>
              </a:rPr>
              <a:t>of </a:t>
            </a:r>
            <a:r>
              <a:rPr lang="en-GB" sz="1600" b="1" kern="0">
                <a:solidFill>
                  <a:srgbClr val="128F90"/>
                </a:solidFill>
                <a:latin typeface="Calibri" pitchFamily="34" charset="0"/>
              </a:rPr>
              <a:t>just 0.32 most alerts are false alarms</a:t>
            </a:r>
            <a:r>
              <a:rPr lang="en-GB" sz="1600" b="1" kern="0" dirty="0">
                <a:solidFill>
                  <a:srgbClr val="128F90"/>
                </a:solidFill>
                <a:latin typeface="Calibri" pitchFamily="34" charset="0"/>
              </a:rPr>
              <a:t>.</a:t>
            </a:r>
            <a:endParaRPr lang="en-US" sz="1600" b="1" kern="0" dirty="0">
              <a:solidFill>
                <a:srgbClr val="128F90"/>
              </a:solidFill>
              <a:latin typeface="Calibri" pitchFamily="34" charset="0"/>
            </a:endParaRPr>
          </a:p>
        </p:txBody>
      </p:sp>
      <p:sp>
        <p:nvSpPr>
          <p:cNvPr id="53" name="Interpretation">
            <a:extLst>
              <a:ext uri="{FF2B5EF4-FFF2-40B4-BE49-F238E27FC236}">
                <a16:creationId xmlns:a16="http://schemas.microsoft.com/office/drawing/2014/main" id="{5E770F7E-67FD-AF82-D5BF-F5862508CC9C}"/>
              </a:ext>
            </a:extLst>
          </p:cNvPr>
          <p:cNvSpPr txBox="1"/>
          <p:nvPr/>
        </p:nvSpPr>
        <p:spPr>
          <a:xfrm>
            <a:off x="317633" y="3440000"/>
            <a:ext cx="4300000" cy="1300000"/>
          </a:xfrm>
          <a:prstGeom prst="rect">
            <a:avLst/>
          </a:prstGeom>
          <a:noFill/>
        </p:spPr>
        <p:txBody>
          <a:bodyPr wrap="square" lIns="0" tIns="0" rIns="0" bIns="0" anchor="t"/>
          <a:lstStyle/>
          <a:p>
            <a:pPr marL="0" indent="0">
              <a:buNone/>
            </a:pPr>
            <a:r>
              <a:rPr lang="en-US" sz="1150" b="1" kern="0" dirty="0">
                <a:solidFill>
                  <a:srgbClr val="0F2C48"/>
                </a:solidFill>
                <a:latin typeface="Calibri" pitchFamily="34" charset="0"/>
              </a:rPr>
              <a:t>What this means</a:t>
            </a:r>
          </a:p>
          <a:p>
            <a:pPr marL="171450" indent="-171450">
              <a:buFont typeface="Arial"/>
              <a:buChar char="•"/>
            </a:pPr>
            <a:r>
              <a:rPr lang="en-US" sz="1050" b="1" kern="0">
                <a:solidFill>
                  <a:srgbClr val="128F90"/>
                </a:solidFill>
                <a:latin typeface="Calibri" pitchFamily="34" charset="0"/>
              </a:rPr>
              <a:t>Catches every churner </a:t>
            </a:r>
            <a:r>
              <a:rPr lang="en-US" sz="1050" b="1" kern="0" dirty="0">
                <a:solidFill>
                  <a:srgbClr val="128F90"/>
                </a:solidFill>
                <a:latin typeface="Calibri" pitchFamily="34" charset="0"/>
              </a:rPr>
              <a:t>(</a:t>
            </a:r>
            <a:r>
              <a:rPr lang="en-US" sz="1050" b="1" kern="0">
                <a:solidFill>
                  <a:srgbClr val="128F90"/>
                </a:solidFill>
                <a:latin typeface="Calibri" pitchFamily="34" charset="0"/>
              </a:rPr>
              <a:t>recall 1.00</a:t>
            </a:r>
            <a:r>
              <a:rPr lang="en-US" sz="1050" b="1" kern="0" dirty="0">
                <a:solidFill>
                  <a:srgbClr val="128F90"/>
                </a:solidFill>
                <a:latin typeface="Calibri" pitchFamily="34" charset="0"/>
              </a:rPr>
              <a:t>) </a:t>
            </a:r>
            <a:r>
              <a:rPr lang="en-US" sz="1050" b="0" kern="0" dirty="0">
                <a:solidFill>
                  <a:srgbClr val="3F5261"/>
                </a:solidFill>
                <a:latin typeface="Calibri" pitchFamily="34" charset="0"/>
              </a:rPr>
              <a:t>— </a:t>
            </a:r>
            <a:r>
              <a:rPr lang="en-US" sz="1050" b="0" kern="0">
                <a:solidFill>
                  <a:srgbClr val="3F5261"/>
                </a:solidFill>
                <a:latin typeface="Calibri" pitchFamily="34" charset="0"/>
              </a:rPr>
              <a:t>but only by flagging almost everyone</a:t>
            </a:r>
            <a:r>
              <a:rPr lang="en-US" sz="1050" b="0" kern="0" dirty="0">
                <a:solidFill>
                  <a:srgbClr val="3F5261"/>
                </a:solidFill>
                <a:latin typeface="Calibri" pitchFamily="34" charset="0"/>
              </a:rPr>
              <a:t>, </a:t>
            </a:r>
            <a:r>
              <a:rPr lang="en-US" sz="1050" b="0" kern="0">
                <a:solidFill>
                  <a:srgbClr val="3F5261"/>
                </a:solidFill>
                <a:latin typeface="Calibri" pitchFamily="34" charset="0"/>
              </a:rPr>
              <a:t>so precision on churners falls </a:t>
            </a:r>
            <a:r>
              <a:rPr lang="en-US" sz="1050" b="0" kern="0" dirty="0">
                <a:solidFill>
                  <a:srgbClr val="3F5261"/>
                </a:solidFill>
                <a:latin typeface="Calibri" pitchFamily="34" charset="0"/>
              </a:rPr>
              <a:t>to </a:t>
            </a:r>
            <a:r>
              <a:rPr lang="en-US" sz="1050" b="0" kern="0">
                <a:solidFill>
                  <a:srgbClr val="3F5261"/>
                </a:solidFill>
                <a:latin typeface="Calibri" pitchFamily="34" charset="0"/>
              </a:rPr>
              <a:t>0.32</a:t>
            </a:r>
            <a:r>
              <a:rPr lang="en-US" sz="1050" b="0" kern="0" dirty="0">
                <a:solidFill>
                  <a:srgbClr val="3F5261"/>
                </a:solidFill>
                <a:latin typeface="Calibri" pitchFamily="34" charset="0"/>
              </a:rPr>
              <a:t>.</a:t>
            </a:r>
          </a:p>
          <a:p>
            <a:pPr marL="171450" indent="-171450">
              <a:buFont typeface="Arial"/>
              <a:buChar char="•"/>
            </a:pPr>
            <a:r>
              <a:rPr lang="en-US" sz="1050" b="1" kern="0">
                <a:solidFill>
                  <a:srgbClr val="16436B"/>
                </a:solidFill>
                <a:latin typeface="Calibri" pitchFamily="34" charset="0"/>
              </a:rPr>
              <a:t>Misses non-churners completely </a:t>
            </a:r>
            <a:r>
              <a:rPr lang="en-US" sz="1050" b="1" kern="0" dirty="0">
                <a:solidFill>
                  <a:srgbClr val="16436B"/>
                </a:solidFill>
                <a:latin typeface="Calibri" pitchFamily="34" charset="0"/>
              </a:rPr>
              <a:t>(F1 </a:t>
            </a:r>
            <a:r>
              <a:rPr lang="en-US" sz="1050" b="1" kern="0">
                <a:solidFill>
                  <a:srgbClr val="16436B"/>
                </a:solidFill>
                <a:latin typeface="Calibri" pitchFamily="34" charset="0"/>
              </a:rPr>
              <a:t>0.00</a:t>
            </a:r>
            <a:r>
              <a:rPr lang="en-US" sz="1050" b="1" kern="0" dirty="0">
                <a:solidFill>
                  <a:srgbClr val="16436B"/>
                </a:solidFill>
                <a:latin typeface="Calibri" pitchFamily="34" charset="0"/>
              </a:rPr>
              <a:t>) </a:t>
            </a:r>
            <a:r>
              <a:rPr lang="en-US" sz="1050" b="0" kern="0" dirty="0">
                <a:solidFill>
                  <a:srgbClr val="3F5261"/>
                </a:solidFill>
                <a:latin typeface="Calibri" pitchFamily="34" charset="0"/>
              </a:rPr>
              <a:t>— the </a:t>
            </a:r>
            <a:r>
              <a:rPr lang="en-US" sz="1050" b="0" kern="0">
                <a:solidFill>
                  <a:srgbClr val="3F5261"/>
                </a:solidFill>
                <a:latin typeface="Calibri" pitchFamily="34" charset="0"/>
              </a:rPr>
              <a:t>model labels virtually all riders as churn, dragging accuracy down </a:t>
            </a:r>
            <a:r>
              <a:rPr lang="en-US" sz="1050" b="0" kern="0" dirty="0">
                <a:solidFill>
                  <a:srgbClr val="3F5261"/>
                </a:solidFill>
                <a:latin typeface="Calibri" pitchFamily="34" charset="0"/>
              </a:rPr>
              <a:t>to </a:t>
            </a:r>
            <a:r>
              <a:rPr lang="en-US" sz="1050" b="0" kern="0">
                <a:solidFill>
                  <a:srgbClr val="3F5261"/>
                </a:solidFill>
                <a:latin typeface="Calibri" pitchFamily="34" charset="0"/>
              </a:rPr>
              <a:t>0.32</a:t>
            </a:r>
            <a:r>
              <a:rPr lang="en-US" sz="1050" b="0" kern="0" dirty="0">
                <a:solidFill>
                  <a:srgbClr val="3F5261"/>
                </a:solidFill>
                <a:latin typeface="Calibri" pitchFamily="34" charset="0"/>
              </a:rPr>
              <a:t>.</a:t>
            </a:r>
          </a:p>
          <a:p>
            <a:pPr marL="171450" indent="-171450">
              <a:buFont typeface="Arial"/>
              <a:buChar char="•"/>
            </a:pPr>
            <a:r>
              <a:rPr lang="en-GB" sz="1050" b="1" kern="0" dirty="0">
                <a:solidFill>
                  <a:srgbClr val="16436B"/>
                </a:solidFill>
                <a:latin typeface="Calibri" pitchFamily="34" charset="0"/>
              </a:rPr>
              <a:t>Threshold optimisation cannot fix poor probability separation.</a:t>
            </a:r>
            <a:endParaRPr lang="en-US" sz="1050" b="1" kern="0" dirty="0">
              <a:solidFill>
                <a:srgbClr val="16436B"/>
              </a:solidFill>
              <a:latin typeface="Calibri" pitchFamily="34" charset="0"/>
            </a:endParaRPr>
          </a:p>
        </p:txBody>
      </p:sp>
    </p:spTree>
    <p:extLst>
      <p:ext uri="{BB962C8B-B14F-4D97-AF65-F5344CB8AC3E}">
        <p14:creationId xmlns:p14="http://schemas.microsoft.com/office/powerpoint/2010/main" val="2490579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6929-90D5-9B7A-9165-4870B1B1F1F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04FAF18-D3C1-6AF3-DEDB-A76D52F0174D}"/>
              </a:ext>
            </a:extLst>
          </p:cNvPr>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CHURN MODEL</a:t>
            </a:r>
            <a:endParaRPr lang="en-US" sz="1250" dirty="0"/>
          </a:p>
        </p:txBody>
      </p:sp>
      <p:sp>
        <p:nvSpPr>
          <p:cNvPr id="3" name="Text 0">
            <a:extLst>
              <a:ext uri="{FF2B5EF4-FFF2-40B4-BE49-F238E27FC236}">
                <a16:creationId xmlns:a16="http://schemas.microsoft.com/office/drawing/2014/main" id="{8F86B6CE-A62D-28B2-035F-FFA2C9BD82F6}"/>
              </a:ext>
            </a:extLst>
          </p:cNvPr>
          <p:cNvSpPr>
            <a:spLocks noGrp="1"/>
          </p:cNvSpPr>
          <p:nvPr>
            <p:ph type="title" idx="101" hasCustomPrompt="1"/>
          </p:nvPr>
        </p:nvSpPr>
        <p:spPr>
          <a:xfrm>
            <a:off x="437804" y="512803"/>
            <a:ext cx="6886632" cy="678688"/>
          </a:xfrm>
          <a:prstGeom prst="rect">
            <a:avLst/>
          </a:prstGeom>
          <a:noFill/>
          <a:ln/>
        </p:spPr>
        <p:txBody>
          <a:bodyPr wrap="square" rtlCol="0" anchor="t"/>
          <a:lstStyle/>
          <a:p>
            <a:pPr marL="0" indent="0" algn="l">
              <a:buNone/>
            </a:pPr>
            <a:r>
              <a:rPr lang="en-US" dirty="0"/>
              <a:t>Why choose the Random Forest model? </a:t>
            </a:r>
            <a:endParaRPr lang="en-US" sz="3300" dirty="0"/>
          </a:p>
        </p:txBody>
      </p:sp>
      <p:sp>
        <p:nvSpPr>
          <p:cNvPr id="4" name="card">
            <a:extLst>
              <a:ext uri="{FF2B5EF4-FFF2-40B4-BE49-F238E27FC236}">
                <a16:creationId xmlns:a16="http://schemas.microsoft.com/office/drawing/2014/main" id="{91499C79-74AA-EBFF-AE8F-AE4784C2F288}"/>
              </a:ext>
              <a:ext uri="{C183D7F6-B498-43B3-948B-1728B52AA6E4}">
                <adec:decorative xmlns:adec="http://schemas.microsoft.com/office/drawing/2017/decorative" val="1"/>
              </a:ext>
            </a:extLst>
          </p:cNvPr>
          <p:cNvSpPr/>
          <p:nvPr/>
        </p:nvSpPr>
        <p:spPr>
          <a:xfrm>
            <a:off x="566928" y="1572768"/>
            <a:ext cx="1737360" cy="11887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5" name="Text 3">
            <a:extLst>
              <a:ext uri="{FF2B5EF4-FFF2-40B4-BE49-F238E27FC236}">
                <a16:creationId xmlns:a16="http://schemas.microsoft.com/office/drawing/2014/main" id="{A74804CF-D0AB-7B08-0727-E74694FFF28C}"/>
              </a:ext>
            </a:extLst>
          </p:cNvPr>
          <p:cNvSpPr/>
          <p:nvPr/>
        </p:nvSpPr>
        <p:spPr>
          <a:xfrm>
            <a:off x="658368" y="1755648"/>
            <a:ext cx="1554480" cy="566928"/>
          </a:xfrm>
          <a:prstGeom prst="rect">
            <a:avLst/>
          </a:prstGeom>
          <a:noFill/>
          <a:ln/>
        </p:spPr>
        <p:txBody>
          <a:bodyPr wrap="square" lIns="0" tIns="0" rIns="0" bIns="0" rtlCol="0" anchor="ctr"/>
          <a:lstStyle/>
          <a:p>
            <a:pPr marL="0" indent="0" algn="ctr">
              <a:buNone/>
            </a:pPr>
            <a:r>
              <a:rPr lang="en-US" sz="3400" b="1">
                <a:solidFill>
                  <a:srgbClr val="0F2C48"/>
                </a:solidFill>
                <a:latin typeface="Calibri Light" pitchFamily="34" charset="0"/>
                <a:ea typeface="Calibri Light" pitchFamily="34" charset="-122"/>
                <a:cs typeface="Calibri Light" pitchFamily="34" charset="-120"/>
              </a:rPr>
              <a:t>0.499</a:t>
            </a:r>
            <a:endParaRPr lang="en-US" sz="3400" dirty="0"/>
          </a:p>
        </p:txBody>
      </p:sp>
      <p:sp>
        <p:nvSpPr>
          <p:cNvPr id="6" name="Text 4">
            <a:extLst>
              <a:ext uri="{FF2B5EF4-FFF2-40B4-BE49-F238E27FC236}">
                <a16:creationId xmlns:a16="http://schemas.microsoft.com/office/drawing/2014/main" id="{364CEB0B-060B-0512-E23F-88F0318C18B3}"/>
              </a:ext>
            </a:extLst>
          </p:cNvPr>
          <p:cNvSpPr/>
          <p:nvPr/>
        </p:nvSpPr>
        <p:spPr>
          <a:xfrm>
            <a:off x="658368" y="2340864"/>
            <a:ext cx="1554480" cy="420624"/>
          </a:xfrm>
          <a:prstGeom prst="rect">
            <a:avLst/>
          </a:prstGeom>
          <a:noFill/>
          <a:ln/>
        </p:spPr>
        <p:txBody>
          <a:bodyPr wrap="square" lIns="0" tIns="0" rIns="0" bIns="0" rtlCol="0" anchor="ctr"/>
          <a:lstStyle/>
          <a:p>
            <a:pPr marL="0" indent="0" algn="ctr">
              <a:buNone/>
            </a:pPr>
            <a:r>
              <a:rPr lang="en-US" sz="1250" dirty="0">
                <a:solidFill>
                  <a:srgbClr val="3F5261"/>
                </a:solidFill>
                <a:latin typeface="Calibri" pitchFamily="34" charset="0"/>
                <a:ea typeface="Calibri" pitchFamily="34" charset="-122"/>
                <a:cs typeface="Calibri" pitchFamily="34" charset="-120"/>
              </a:rPr>
              <a:t>ROC-AUC</a:t>
            </a:r>
          </a:p>
          <a:p>
            <a:pPr marL="0" indent="0" algn="ctr">
              <a:spcBef>
                <a:spcPts val="300"/>
              </a:spcBef>
              <a:buNone/>
            </a:pPr>
            <a:r>
              <a:rPr lang="en-US" sz="900">
                <a:solidFill>
                  <a:srgbClr val="8A97A0"/>
                </a:solidFill>
                <a:latin typeface="Calibri" pitchFamily="34" charset="0"/>
              </a:rPr>
              <a:t>Ranking separability</a:t>
            </a:r>
          </a:p>
        </p:txBody>
      </p:sp>
      <p:sp>
        <p:nvSpPr>
          <p:cNvPr id="7" name="card">
            <a:extLst>
              <a:ext uri="{FF2B5EF4-FFF2-40B4-BE49-F238E27FC236}">
                <a16:creationId xmlns:a16="http://schemas.microsoft.com/office/drawing/2014/main" id="{A17A8F08-68EB-D28B-6485-64E103145EF8}"/>
              </a:ext>
              <a:ext uri="{C183D7F6-B498-43B3-948B-1728B52AA6E4}">
                <adec:decorative xmlns:adec="http://schemas.microsoft.com/office/drawing/2017/decorative" val="1"/>
              </a:ext>
            </a:extLst>
          </p:cNvPr>
          <p:cNvSpPr/>
          <p:nvPr/>
        </p:nvSpPr>
        <p:spPr>
          <a:xfrm>
            <a:off x="2468880" y="1572768"/>
            <a:ext cx="1737360" cy="11887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8" name="Text 6">
            <a:extLst>
              <a:ext uri="{FF2B5EF4-FFF2-40B4-BE49-F238E27FC236}">
                <a16:creationId xmlns:a16="http://schemas.microsoft.com/office/drawing/2014/main" id="{38D8A1AA-CFBD-C683-0B80-BAB5F9AEAE63}"/>
              </a:ext>
            </a:extLst>
          </p:cNvPr>
          <p:cNvSpPr/>
          <p:nvPr/>
        </p:nvSpPr>
        <p:spPr>
          <a:xfrm>
            <a:off x="2560320" y="1755648"/>
            <a:ext cx="1554480" cy="566928"/>
          </a:xfrm>
          <a:prstGeom prst="rect">
            <a:avLst/>
          </a:prstGeom>
          <a:noFill/>
          <a:ln/>
        </p:spPr>
        <p:txBody>
          <a:bodyPr wrap="square" lIns="0" tIns="0" rIns="0" bIns="0" rtlCol="0" anchor="ctr"/>
          <a:lstStyle/>
          <a:p>
            <a:pPr marL="0" indent="0" algn="ctr">
              <a:buNone/>
            </a:pPr>
            <a:r>
              <a:rPr lang="en-US" sz="3400" b="1">
                <a:solidFill>
                  <a:srgbClr val="0F2C48"/>
                </a:solidFill>
                <a:latin typeface="Calibri Light" pitchFamily="34" charset="0"/>
                <a:ea typeface="Calibri Light" pitchFamily="34" charset="-122"/>
                <a:cs typeface="Calibri Light" pitchFamily="34" charset="-120"/>
              </a:rPr>
              <a:t>0.323</a:t>
            </a:r>
            <a:endParaRPr lang="en-US" sz="3400" dirty="0"/>
          </a:p>
        </p:txBody>
      </p:sp>
      <p:sp>
        <p:nvSpPr>
          <p:cNvPr id="9" name="Text 7">
            <a:extLst>
              <a:ext uri="{FF2B5EF4-FFF2-40B4-BE49-F238E27FC236}">
                <a16:creationId xmlns:a16="http://schemas.microsoft.com/office/drawing/2014/main" id="{0D8326C5-3798-2AFD-CF7D-26B8F967DC1F}"/>
              </a:ext>
            </a:extLst>
          </p:cNvPr>
          <p:cNvSpPr/>
          <p:nvPr/>
        </p:nvSpPr>
        <p:spPr>
          <a:xfrm>
            <a:off x="2560320" y="2340864"/>
            <a:ext cx="1554480" cy="420624"/>
          </a:xfrm>
          <a:prstGeom prst="rect">
            <a:avLst/>
          </a:prstGeom>
          <a:noFill/>
          <a:ln/>
        </p:spPr>
        <p:txBody>
          <a:bodyPr wrap="square" lIns="0" tIns="0" rIns="0" bIns="0" rtlCol="0" anchor="ctr"/>
          <a:lstStyle/>
          <a:p>
            <a:pPr marL="0" indent="0" algn="ctr">
              <a:buNone/>
            </a:pPr>
            <a:r>
              <a:rPr lang="en-US" sz="1250" dirty="0">
                <a:solidFill>
                  <a:srgbClr val="3F5261"/>
                </a:solidFill>
                <a:latin typeface="Calibri" pitchFamily="34" charset="0"/>
                <a:ea typeface="Calibri" pitchFamily="34" charset="-122"/>
                <a:cs typeface="Calibri" pitchFamily="34" charset="-120"/>
              </a:rPr>
              <a:t>Precision</a:t>
            </a:r>
          </a:p>
          <a:p>
            <a:pPr marL="0" indent="0" algn="ctr">
              <a:spcBef>
                <a:spcPts val="300"/>
              </a:spcBef>
              <a:buNone/>
            </a:pPr>
            <a:r>
              <a:rPr lang="en-US" sz="900">
                <a:solidFill>
                  <a:srgbClr val="8A97A0"/>
                </a:solidFill>
                <a:latin typeface="Calibri" pitchFamily="34" charset="0"/>
              </a:rPr>
              <a:t>Share of flags that churn</a:t>
            </a:r>
          </a:p>
        </p:txBody>
      </p:sp>
      <p:sp>
        <p:nvSpPr>
          <p:cNvPr id="10" name="card">
            <a:extLst>
              <a:ext uri="{FF2B5EF4-FFF2-40B4-BE49-F238E27FC236}">
                <a16:creationId xmlns:a16="http://schemas.microsoft.com/office/drawing/2014/main" id="{EB824584-0A73-7EBD-A81B-EF3DCD538A3C}"/>
              </a:ext>
              <a:ext uri="{C183D7F6-B498-43B3-948B-1728B52AA6E4}">
                <adec:decorative xmlns:adec="http://schemas.microsoft.com/office/drawing/2017/decorative" val="1"/>
              </a:ext>
            </a:extLst>
          </p:cNvPr>
          <p:cNvSpPr/>
          <p:nvPr/>
        </p:nvSpPr>
        <p:spPr>
          <a:xfrm>
            <a:off x="566928" y="2926080"/>
            <a:ext cx="1737360" cy="1188720"/>
          </a:xfrm>
          <a:prstGeom prst="rect">
            <a:avLst/>
          </a:prstGeom>
          <a:solidFill>
            <a:srgbClr val="DE4E1F"/>
          </a:solidFill>
          <a:ln w="12700">
            <a:solidFill>
              <a:srgbClr val="C43F16"/>
            </a:solidFill>
            <a:prstDash val="solid"/>
          </a:ln>
          <a:effectLst>
            <a:outerShdw blurRad="114300" dist="38100" dir="5400000" algn="bl" rotWithShape="0">
              <a:srgbClr val="9FB2B8">
                <a:alpha val="22000"/>
              </a:srgbClr>
            </a:outerShdw>
          </a:effectLst>
        </p:spPr>
        <p:txBody>
          <a:bodyPr/>
          <a:lstStyle/>
          <a:p>
            <a:endParaRPr lang="en-GB"/>
          </a:p>
        </p:txBody>
      </p:sp>
      <p:sp>
        <p:nvSpPr>
          <p:cNvPr id="11" name="Text 9">
            <a:extLst>
              <a:ext uri="{FF2B5EF4-FFF2-40B4-BE49-F238E27FC236}">
                <a16:creationId xmlns:a16="http://schemas.microsoft.com/office/drawing/2014/main" id="{A48A935C-B9A9-E547-509A-D0CF48422290}"/>
              </a:ext>
            </a:extLst>
          </p:cNvPr>
          <p:cNvSpPr/>
          <p:nvPr/>
        </p:nvSpPr>
        <p:spPr>
          <a:xfrm>
            <a:off x="658368" y="3108960"/>
            <a:ext cx="1554480" cy="566928"/>
          </a:xfrm>
          <a:prstGeom prst="rect">
            <a:avLst/>
          </a:prstGeom>
          <a:noFill/>
          <a:ln/>
        </p:spPr>
        <p:txBody>
          <a:bodyPr wrap="square" lIns="0" tIns="0" rIns="0" bIns="0" rtlCol="0" anchor="ctr"/>
          <a:lstStyle/>
          <a:p>
            <a:pPr marL="0" indent="0" algn="ctr">
              <a:buNone/>
            </a:pPr>
            <a:r>
              <a:rPr lang="en-US" sz="3400" b="1">
                <a:solidFill>
                  <a:srgbClr val="FFFFFF"/>
                </a:solidFill>
                <a:latin typeface="Calibri Light" pitchFamily="34" charset="0"/>
                <a:ea typeface="Calibri Light" pitchFamily="34" charset="-122"/>
                <a:cs typeface="Calibri Light" pitchFamily="34" charset="-120"/>
              </a:rPr>
              <a:t>1.000</a:t>
            </a:r>
            <a:endParaRPr lang="en-US" sz="3400" dirty="0"/>
          </a:p>
        </p:txBody>
      </p:sp>
      <p:sp>
        <p:nvSpPr>
          <p:cNvPr id="12" name="Text 10">
            <a:extLst>
              <a:ext uri="{FF2B5EF4-FFF2-40B4-BE49-F238E27FC236}">
                <a16:creationId xmlns:a16="http://schemas.microsoft.com/office/drawing/2014/main" id="{2C411432-1778-793D-8637-2A09D0D098F4}"/>
              </a:ext>
            </a:extLst>
          </p:cNvPr>
          <p:cNvSpPr/>
          <p:nvPr/>
        </p:nvSpPr>
        <p:spPr>
          <a:xfrm>
            <a:off x="658368" y="3694176"/>
            <a:ext cx="1554480" cy="420624"/>
          </a:xfrm>
          <a:prstGeom prst="rect">
            <a:avLst/>
          </a:prstGeom>
          <a:noFill/>
          <a:ln/>
        </p:spPr>
        <p:txBody>
          <a:bodyPr wrap="square" lIns="0" tIns="0" rIns="0" bIns="0" rtlCol="0" anchor="ctr"/>
          <a:lstStyle/>
          <a:p>
            <a:pPr marL="0" indent="0" algn="ctr">
              <a:buNone/>
            </a:pPr>
            <a:r>
              <a:rPr lang="en-US" sz="1250">
                <a:solidFill>
                  <a:srgbClr val="FFFFFF"/>
                </a:solidFill>
                <a:latin typeface="Calibri" pitchFamily="34" charset="0"/>
                <a:ea typeface="Calibri" pitchFamily="34" charset="-122"/>
                <a:cs typeface="Calibri" pitchFamily="34" charset="-120"/>
              </a:rPr>
              <a:t>Recall </a:t>
            </a:r>
          </a:p>
          <a:p>
            <a:pPr marL="0" indent="0" algn="ctr">
              <a:spcBef>
                <a:spcPts val="300"/>
              </a:spcBef>
              <a:buNone/>
            </a:pPr>
            <a:r>
              <a:rPr lang="en-US" sz="900">
                <a:solidFill>
                  <a:srgbClr val="FFFFFF"/>
                </a:solidFill>
                <a:latin typeface="Calibri" pitchFamily="34" charset="0"/>
              </a:rPr>
              <a:t>Every churner caught</a:t>
            </a:r>
          </a:p>
        </p:txBody>
      </p:sp>
      <p:sp>
        <p:nvSpPr>
          <p:cNvPr id="13" name="card">
            <a:extLst>
              <a:ext uri="{FF2B5EF4-FFF2-40B4-BE49-F238E27FC236}">
                <a16:creationId xmlns:a16="http://schemas.microsoft.com/office/drawing/2014/main" id="{A0057A86-6E66-91C0-C154-6D6D86C8813B}"/>
              </a:ext>
              <a:ext uri="{C183D7F6-B498-43B3-948B-1728B52AA6E4}">
                <adec:decorative xmlns:adec="http://schemas.microsoft.com/office/drawing/2017/decorative" val="1"/>
              </a:ext>
            </a:extLst>
          </p:cNvPr>
          <p:cNvSpPr/>
          <p:nvPr/>
        </p:nvSpPr>
        <p:spPr>
          <a:xfrm>
            <a:off x="2468880" y="2926080"/>
            <a:ext cx="1737360" cy="11887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4" name="Text 12">
            <a:extLst>
              <a:ext uri="{FF2B5EF4-FFF2-40B4-BE49-F238E27FC236}">
                <a16:creationId xmlns:a16="http://schemas.microsoft.com/office/drawing/2014/main" id="{411F1106-AEBF-10A5-C29D-543FE46D042C}"/>
              </a:ext>
            </a:extLst>
          </p:cNvPr>
          <p:cNvSpPr/>
          <p:nvPr/>
        </p:nvSpPr>
        <p:spPr>
          <a:xfrm>
            <a:off x="2560320" y="3108960"/>
            <a:ext cx="1554480" cy="566928"/>
          </a:xfrm>
          <a:prstGeom prst="rect">
            <a:avLst/>
          </a:prstGeom>
          <a:noFill/>
          <a:ln/>
        </p:spPr>
        <p:txBody>
          <a:bodyPr wrap="square" lIns="0" tIns="0" rIns="0" bIns="0" rtlCol="0" anchor="ctr"/>
          <a:lstStyle/>
          <a:p>
            <a:pPr marL="0" indent="0" algn="ctr">
              <a:buNone/>
            </a:pPr>
            <a:r>
              <a:rPr lang="en-US" sz="3400" b="1">
                <a:solidFill>
                  <a:srgbClr val="0F2C48"/>
                </a:solidFill>
                <a:latin typeface="Calibri Light" pitchFamily="34" charset="0"/>
                <a:ea typeface="Calibri Light" pitchFamily="34" charset="-122"/>
                <a:cs typeface="Calibri Light" pitchFamily="34" charset="-120"/>
              </a:rPr>
              <a:t>0.489</a:t>
            </a:r>
            <a:endParaRPr lang="en-US" sz="3400" dirty="0"/>
          </a:p>
        </p:txBody>
      </p:sp>
      <p:sp>
        <p:nvSpPr>
          <p:cNvPr id="15" name="Text 13">
            <a:extLst>
              <a:ext uri="{FF2B5EF4-FFF2-40B4-BE49-F238E27FC236}">
                <a16:creationId xmlns:a16="http://schemas.microsoft.com/office/drawing/2014/main" id="{078CD6C6-B220-54D9-A2CC-388F8F6A9090}"/>
              </a:ext>
            </a:extLst>
          </p:cNvPr>
          <p:cNvSpPr/>
          <p:nvPr/>
        </p:nvSpPr>
        <p:spPr>
          <a:xfrm>
            <a:off x="2560320" y="3694176"/>
            <a:ext cx="1554480" cy="420624"/>
          </a:xfrm>
          <a:prstGeom prst="rect">
            <a:avLst/>
          </a:prstGeom>
          <a:noFill/>
          <a:ln/>
        </p:spPr>
        <p:txBody>
          <a:bodyPr wrap="square" lIns="0" tIns="0" rIns="0" bIns="0" rtlCol="0" anchor="ctr"/>
          <a:lstStyle/>
          <a:p>
            <a:pPr marL="0" indent="0" algn="ctr">
              <a:buNone/>
            </a:pPr>
            <a:r>
              <a:rPr lang="en-US" sz="1250" dirty="0">
                <a:solidFill>
                  <a:srgbClr val="3F5261"/>
                </a:solidFill>
                <a:latin typeface="Calibri" pitchFamily="34" charset="0"/>
                <a:ea typeface="Calibri" pitchFamily="34" charset="-122"/>
                <a:cs typeface="Calibri" pitchFamily="34" charset="-120"/>
              </a:rPr>
              <a:t>F1 score</a:t>
            </a:r>
          </a:p>
          <a:p>
            <a:pPr marL="0" indent="0" algn="ctr">
              <a:spcBef>
                <a:spcPts val="300"/>
              </a:spcBef>
              <a:buNone/>
            </a:pPr>
            <a:r>
              <a:rPr lang="en-US" sz="900">
                <a:solidFill>
                  <a:srgbClr val="8A97A0"/>
                </a:solidFill>
                <a:latin typeface="Calibri" pitchFamily="34" charset="0"/>
              </a:rPr>
              <a:t>Precision–recall balance</a:t>
            </a:r>
          </a:p>
        </p:txBody>
      </p:sp>
      <p:sp>
        <p:nvSpPr>
          <p:cNvPr id="16" name="Text 14">
            <a:extLst>
              <a:ext uri="{FF2B5EF4-FFF2-40B4-BE49-F238E27FC236}">
                <a16:creationId xmlns:a16="http://schemas.microsoft.com/office/drawing/2014/main" id="{2EE21DA5-E0AA-568E-0655-D6D9684FCE22}"/>
              </a:ext>
            </a:extLst>
          </p:cNvPr>
          <p:cNvSpPr/>
          <p:nvPr/>
        </p:nvSpPr>
        <p:spPr>
          <a:xfrm>
            <a:off x="372963" y="4184073"/>
            <a:ext cx="4051255" cy="497840"/>
          </a:xfrm>
          <a:prstGeom prst="rect">
            <a:avLst/>
          </a:prstGeom>
          <a:noFill/>
          <a:ln/>
        </p:spPr>
        <p:txBody>
          <a:bodyPr wrap="square" lIns="0" tIns="0" rIns="0" bIns="0" rtlCol="0" anchor="ctr"/>
          <a:lstStyle/>
          <a:p>
            <a:pPr marL="0" indent="0">
              <a:buNone/>
            </a:pPr>
            <a:r>
              <a:rPr lang="en-US" sz="1200" i="1" dirty="0">
                <a:solidFill>
                  <a:srgbClr val="16436B"/>
                </a:solidFill>
                <a:latin typeface="Calibri" pitchFamily="34" charset="0"/>
                <a:ea typeface="Calibri" pitchFamily="34" charset="-122"/>
                <a:cs typeface="Calibri" pitchFamily="34" charset="-120"/>
              </a:rPr>
              <a:t>Algorithm: </a:t>
            </a:r>
            <a:r>
              <a:rPr lang="en-US" sz="1200" i="1">
                <a:solidFill>
                  <a:srgbClr val="16436B"/>
                </a:solidFill>
                <a:latin typeface="Calibri" pitchFamily="34" charset="0"/>
                <a:ea typeface="Calibri" pitchFamily="34" charset="-122"/>
                <a:cs typeface="Calibri" pitchFamily="34" charset="-120"/>
              </a:rPr>
              <a:t>Random Forest</a:t>
            </a:r>
            <a:r>
              <a:rPr lang="en-US" sz="1200" i="1" dirty="0">
                <a:solidFill>
                  <a:srgbClr val="16436B"/>
                </a:solidFill>
                <a:latin typeface="Calibri" pitchFamily="34" charset="0"/>
                <a:ea typeface="Calibri" pitchFamily="34" charset="-122"/>
                <a:cs typeface="Calibri" pitchFamily="34" charset="-120"/>
              </a:rPr>
              <a:t> ·  Interpretation: SHAP explanations</a:t>
            </a:r>
            <a:endParaRPr lang="en-US" sz="1200" dirty="0"/>
          </a:p>
        </p:txBody>
      </p:sp>
      <p:sp>
        <p:nvSpPr>
          <p:cNvPr id="17" name="Text 15">
            <a:extLst>
              <a:ext uri="{FF2B5EF4-FFF2-40B4-BE49-F238E27FC236}">
                <a16:creationId xmlns:a16="http://schemas.microsoft.com/office/drawing/2014/main" id="{F870DA1C-C128-0866-D1F4-671246258F47}"/>
              </a:ext>
            </a:extLst>
          </p:cNvPr>
          <p:cNvSpPr/>
          <p:nvPr/>
        </p:nvSpPr>
        <p:spPr>
          <a:xfrm>
            <a:off x="4617720" y="1463040"/>
            <a:ext cx="4023360" cy="320040"/>
          </a:xfrm>
          <a:prstGeom prst="rect">
            <a:avLst/>
          </a:prstGeom>
          <a:noFill/>
          <a:ln/>
        </p:spPr>
        <p:txBody>
          <a:bodyPr wrap="square" lIns="0" tIns="0" rIns="0" bIns="0" rtlCol="0" anchor="ctr"/>
          <a:lstStyle/>
          <a:p>
            <a:pPr marL="0" indent="0">
              <a:buNone/>
            </a:pPr>
            <a:r>
              <a:rPr lang="en-US" sz="1300" b="1" dirty="0">
                <a:solidFill>
                  <a:srgbClr val="16436B"/>
                </a:solidFill>
                <a:latin typeface="Calibri" pitchFamily="34" charset="0"/>
                <a:ea typeface="Calibri" pitchFamily="34" charset="-122"/>
                <a:cs typeface="Calibri" pitchFamily="34" charset="-120"/>
              </a:rPr>
              <a:t>Feature importance</a:t>
            </a:r>
            <a:endParaRPr lang="en-US" sz="1300" dirty="0"/>
          </a:p>
        </p:txBody>
      </p:sp>
      <p:graphicFrame>
        <p:nvGraphicFramePr>
          <p:cNvPr id="18" name="Feature importance chart" descr="Bar chart of feature importance: trip recency 0.24, ride frequency 0.19, cancellations 0.14, tenure 0.11, engagement 0.08">
            <a:extLst>
              <a:ext uri="{FF2B5EF4-FFF2-40B4-BE49-F238E27FC236}">
                <a16:creationId xmlns:a16="http://schemas.microsoft.com/office/drawing/2014/main" id="{1822C4DE-7CEC-F3BE-9FE6-582505E757D8}"/>
              </a:ext>
            </a:extLst>
          </p:cNvPr>
          <p:cNvGraphicFramePr/>
          <p:nvPr/>
        </p:nvGraphicFramePr>
        <p:xfrm>
          <a:off x="4526280" y="1783080"/>
          <a:ext cx="416052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6">
            <a:extLst>
              <a:ext uri="{FF2B5EF4-FFF2-40B4-BE49-F238E27FC236}">
                <a16:creationId xmlns:a16="http://schemas.microsoft.com/office/drawing/2014/main" id="{3DE8C179-D090-CA81-62B2-4E6FAA229428}"/>
              </a:ext>
            </a:extLst>
          </p:cNvPr>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07</a:t>
            </a:r>
            <a:endParaRPr lang="en-US" sz="1100" dirty="0"/>
          </a:p>
        </p:txBody>
      </p:sp>
      <p:sp>
        <p:nvSpPr>
          <p:cNvPr id="20" name="Text 17">
            <a:extLst>
              <a:ext uri="{FF2B5EF4-FFF2-40B4-BE49-F238E27FC236}">
                <a16:creationId xmlns:a16="http://schemas.microsoft.com/office/drawing/2014/main" id="{49CE181D-DAC2-F762-8AFA-85E4E96D1652}"/>
              </a:ext>
            </a:extLst>
          </p:cNvPr>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1" name="Text 18">
            <a:extLst>
              <a:ext uri="{FF2B5EF4-FFF2-40B4-BE49-F238E27FC236}">
                <a16:creationId xmlns:a16="http://schemas.microsoft.com/office/drawing/2014/main" id="{117CD6D6-F0FD-F65E-2656-BAF6322D0103}"/>
              </a:ext>
            </a:extLst>
          </p:cNvPr>
          <p:cNvSpPr/>
          <p:nvPr/>
        </p:nvSpPr>
        <p:spPr>
          <a:xfrm>
            <a:off x="3474720" y="4704588"/>
            <a:ext cx="3108960" cy="274320"/>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Tree>
    <p:extLst>
      <p:ext uri="{BB962C8B-B14F-4D97-AF65-F5344CB8AC3E}">
        <p14:creationId xmlns:p14="http://schemas.microsoft.com/office/powerpoint/2010/main" val="2332730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a:solidFill>
                  <a:srgbClr val="128F90"/>
                </a:solidFill>
                <a:latin typeface="Calibri" pitchFamily="34" charset="0"/>
                <a:ea typeface="Calibri" pitchFamily="34" charset="-122"/>
                <a:cs typeface="Calibri" pitchFamily="34" charset="-120"/>
              </a:rPr>
              <a:t>CHURN MODEL</a:t>
            </a:r>
            <a:endParaRPr lang="en-US" sz="1250"/>
          </a:p>
        </p:txBody>
      </p:sp>
      <p:sp>
        <p:nvSpPr>
          <p:cNvPr id="3" name="Title 1"/>
          <p:cNvSpPr>
            <a:spLocks noGrp="1"/>
          </p:cNvSpPr>
          <p:nvPr>
            <p:ph type="title" idx="101"/>
          </p:nvPr>
        </p:nvSpPr>
        <p:spPr>
          <a:xfrm>
            <a:off x="437804" y="512803"/>
            <a:ext cx="7200000" cy="678688"/>
          </a:xfrm>
          <a:prstGeom prst="rect">
            <a:avLst/>
          </a:prstGeom>
          <a:noFill/>
          <a:ln/>
        </p:spPr>
        <p:txBody>
          <a:bodyPr wrap="square" rtlCol="0" anchor="t"/>
          <a:lstStyle/>
          <a:p>
            <a:pPr marL="0" indent="0" algn="l">
              <a:buNone/>
            </a:pPr>
            <a:r>
              <a:rPr lang="en-US"/>
              <a:t>What drives churn?</a:t>
            </a:r>
            <a:endParaRPr lang="en-US" sz="3300"/>
          </a:p>
        </p:txBody>
      </p:sp>
      <p:sp>
        <p:nvSpPr>
          <p:cNvPr id="4" name="Dek"/>
          <p:cNvSpPr/>
          <p:nvPr/>
        </p:nvSpPr>
        <p:spPr>
          <a:xfrm>
            <a:off x="566928" y="1360000"/>
            <a:ext cx="5418236" cy="274836"/>
          </a:xfrm>
          <a:prstGeom prst="rect">
            <a:avLst/>
          </a:prstGeom>
          <a:noFill/>
          <a:ln/>
        </p:spPr>
        <p:txBody>
          <a:bodyPr wrap="square" lIns="0" tIns="0" rIns="0" bIns="0" rtlCol="0" anchor="ctr"/>
          <a:lstStyle/>
          <a:p>
            <a:pPr marL="0" indent="0">
              <a:buNone/>
            </a:pPr>
            <a:r>
              <a:rPr lang="en-US" sz="1300" b="1">
                <a:solidFill>
                  <a:srgbClr val="16436B"/>
                </a:solidFill>
                <a:latin typeface="Calibri" pitchFamily="34" charset="0"/>
                <a:ea typeface="Calibri" pitchFamily="34" charset="-122"/>
                <a:cs typeface="Calibri" pitchFamily="34" charset="-120"/>
              </a:rPr>
              <a:t>How much each factor points to who is likely to leave</a:t>
            </a:r>
            <a:endParaRPr lang="en-US" sz="1300" dirty="0"/>
          </a:p>
        </p:txBody>
      </p:sp>
      <p:graphicFrame>
        <p:nvGraphicFramePr>
          <p:cNvPr id="5" name="FeatureChart"/>
          <p:cNvGraphicFramePr/>
          <p:nvPr>
            <p:extLst>
              <p:ext uri="{D42A27DB-BD31-4B8C-83A1-F6EECF244321}">
                <p14:modId xmlns:p14="http://schemas.microsoft.com/office/powerpoint/2010/main" val="4102381737"/>
              </p:ext>
            </p:extLst>
          </p:nvPr>
        </p:nvGraphicFramePr>
        <p:xfrm>
          <a:off x="480000" y="1660000"/>
          <a:ext cx="5850000" cy="2900000"/>
        </p:xfrm>
        <a:graphic>
          <a:graphicData uri="http://schemas.openxmlformats.org/drawingml/2006/chart">
            <c:chart xmlns:c="http://schemas.openxmlformats.org/drawingml/2006/chart" xmlns:r="http://schemas.openxmlformats.org/officeDocument/2006/relationships" r:id="rId2"/>
          </a:graphicData>
        </a:graphic>
      </p:graphicFrame>
      <p:sp>
        <p:nvSpPr>
          <p:cNvPr id="6" name="Insight heading"/>
          <p:cNvSpPr/>
          <p:nvPr/>
        </p:nvSpPr>
        <p:spPr>
          <a:xfrm>
            <a:off x="6580000" y="1780000"/>
            <a:ext cx="2200000" cy="320040"/>
          </a:xfrm>
          <a:prstGeom prst="rect">
            <a:avLst/>
          </a:prstGeom>
          <a:noFill/>
          <a:ln/>
        </p:spPr>
        <p:txBody>
          <a:bodyPr wrap="square" lIns="0" tIns="0" rIns="0" bIns="0" rtlCol="0" anchor="t"/>
          <a:lstStyle/>
          <a:p>
            <a:pPr marL="0" indent="0">
              <a:buNone/>
            </a:pPr>
            <a:r>
              <a:rPr lang="en-US" sz="1300" b="1">
                <a:solidFill>
                  <a:srgbClr val="16436B"/>
                </a:solidFill>
                <a:latin typeface="Calibri" pitchFamily="34" charset="0"/>
                <a:ea typeface="Calibri" pitchFamily="34" charset="-122"/>
                <a:cs typeface="Calibri" pitchFamily="34" charset="-120"/>
              </a:rPr>
              <a:t>What this tells us</a:t>
            </a:r>
          </a:p>
        </p:txBody>
      </p:sp>
      <p:sp>
        <p:nvSpPr>
          <p:cNvPr id="7" name="Insight body"/>
          <p:cNvSpPr/>
          <p:nvPr/>
        </p:nvSpPr>
        <p:spPr>
          <a:xfrm>
            <a:off x="6580000" y="2160000"/>
            <a:ext cx="2200000" cy="2000000"/>
          </a:xfrm>
          <a:prstGeom prst="rect">
            <a:avLst/>
          </a:prstGeom>
          <a:noFill/>
          <a:ln/>
        </p:spPr>
        <p:txBody>
          <a:bodyPr wrap="square" lIns="0" tIns="0" rIns="0" bIns="0" rtlCol="0" anchor="t"/>
          <a:lstStyle/>
          <a:p>
            <a:pPr marL="0" indent="0">
              <a:buNone/>
            </a:pPr>
            <a:r>
              <a:rPr lang="en-US" sz="1200">
                <a:solidFill>
                  <a:srgbClr val="3F5261"/>
                </a:solidFill>
                <a:latin typeface="Calibri" pitchFamily="34" charset="0"/>
                <a:ea typeface="Calibri" pitchFamily="34" charset="-122"/>
                <a:cs typeface="Calibri" pitchFamily="34" charset="-120"/>
              </a:rPr>
              <a:t>Age is the biggest clue to who might leave, making up about 40% of the picture.</a:t>
            </a:r>
          </a:p>
          <a:p>
            <a:pPr marL="0" indent="0">
              <a:spcBef>
                <a:spcPts val="600"/>
              </a:spcBef>
              <a:buNone/>
            </a:pPr>
            <a:r>
              <a:rPr lang="en-US" sz="1200">
                <a:solidFill>
                  <a:srgbClr val="3F5261"/>
                </a:solidFill>
                <a:latin typeface="Calibri" pitchFamily="34" charset="0"/>
                <a:ea typeface="Calibri" pitchFamily="34" charset="-122"/>
                <a:cs typeface="Calibri" pitchFamily="34" charset="-120"/>
              </a:rPr>
              <a:t>How often someone rides and their city come next. Whether they were referred matters least.</a:t>
            </a:r>
          </a:p>
        </p:txBody>
      </p:sp>
      <p:sp>
        <p:nvSpPr>
          <p:cNvPr id="8" name="Footer left"/>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a:solidFill>
                  <a:srgbClr val="8195A0"/>
                </a:solidFill>
                <a:latin typeface="Calibri" pitchFamily="34" charset="0"/>
                <a:ea typeface="Calibri" pitchFamily="34" charset="-122"/>
                <a:cs typeface="Calibri" pitchFamily="34" charset="-120"/>
              </a:rPr>
              <a:t>RideWise Analytics</a:t>
            </a:r>
            <a:endParaRPr lang="en-US" sz="1100"/>
          </a:p>
        </p:txBody>
      </p:sp>
      <p:sp>
        <p:nvSpPr>
          <p:cNvPr id="10" name="Footer page"/>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a:solidFill>
                  <a:srgbClr val="8195A0"/>
                </a:solidFill>
                <a:latin typeface="Calibri" pitchFamily="34" charset="0"/>
                <a:ea typeface="Calibri" pitchFamily="34" charset="-122"/>
                <a:cs typeface="Calibri" pitchFamily="34" charset="-120"/>
              </a:rPr>
              <a:t>08</a:t>
            </a:r>
            <a:endParaRPr lang="en-US" sz="1100"/>
          </a:p>
        </p:txBody>
      </p:sp>
    </p:spTree>
    <p:extLst>
      <p:ext uri="{BB962C8B-B14F-4D97-AF65-F5344CB8AC3E}">
        <p14:creationId xmlns:p14="http://schemas.microsoft.com/office/powerpoint/2010/main" val="830722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a:solidFill>
                  <a:srgbClr val="128F90"/>
                </a:solidFill>
                <a:latin typeface="Calibri" pitchFamily="34" charset="0"/>
                <a:ea typeface="Calibri" pitchFamily="34" charset="-122"/>
                <a:cs typeface="Calibri" pitchFamily="34" charset="-120"/>
              </a:rPr>
              <a:t>CHURN MODEL</a:t>
            </a:r>
            <a:endParaRPr lang="en-US" sz="1250"/>
          </a:p>
        </p:txBody>
      </p:sp>
      <p:sp>
        <p:nvSpPr>
          <p:cNvPr id="3" name="Title 1"/>
          <p:cNvSpPr>
            <a:spLocks noGrp="1"/>
          </p:cNvSpPr>
          <p:nvPr>
            <p:ph type="title" idx="101"/>
          </p:nvPr>
        </p:nvSpPr>
        <p:spPr>
          <a:xfrm>
            <a:off x="437804" y="512803"/>
            <a:ext cx="7800000" cy="678688"/>
          </a:xfrm>
          <a:prstGeom prst="rect">
            <a:avLst/>
          </a:prstGeom>
          <a:noFill/>
          <a:ln/>
        </p:spPr>
        <p:txBody>
          <a:bodyPr wrap="square" rtlCol="0" anchor="t"/>
          <a:lstStyle/>
          <a:p>
            <a:pPr marL="0" indent="0" algn="l">
              <a:buNone/>
            </a:pPr>
            <a:r>
              <a:rPr lang="en-US"/>
              <a:t>What doesn’t predict churn?</a:t>
            </a:r>
            <a:endParaRPr lang="en-US" sz="3300"/>
          </a:p>
        </p:txBody>
      </p:sp>
      <p:sp>
        <p:nvSpPr>
          <p:cNvPr id="4" name="Dek"/>
          <p:cNvSpPr/>
          <p:nvPr/>
        </p:nvSpPr>
        <p:spPr>
          <a:xfrm>
            <a:off x="566928" y="1360000"/>
            <a:ext cx="4800000" cy="320040"/>
          </a:xfrm>
          <a:prstGeom prst="rect">
            <a:avLst/>
          </a:prstGeom>
          <a:noFill/>
          <a:ln/>
        </p:spPr>
        <p:txBody>
          <a:bodyPr wrap="square" lIns="0" tIns="0" rIns="0" bIns="0" rtlCol="0" anchor="ctr"/>
          <a:lstStyle/>
          <a:p>
            <a:pPr marL="0" indent="0">
              <a:buNone/>
            </a:pPr>
            <a:r>
              <a:rPr lang="en-US" sz="1300" b="1">
                <a:solidFill>
                  <a:srgbClr val="16436B"/>
                </a:solidFill>
                <a:latin typeface="Calibri" pitchFamily="34" charset="0"/>
                <a:ea typeface="Calibri" pitchFamily="34" charset="-122"/>
                <a:cs typeface="Calibri" pitchFamily="34" charset="-120"/>
              </a:rPr>
              <a:t>Relative importance — every factor, ranked</a:t>
            </a:r>
            <a:endParaRPr lang="en-US" sz="1300"/>
          </a:p>
        </p:txBody>
      </p:sp>
      <p:graphicFrame>
        <p:nvGraphicFramePr>
          <p:cNvPr id="5" name="ZeroChart" descr="Chart"/>
          <p:cNvGraphicFramePr/>
          <p:nvPr>
            <p:extLst>
              <p:ext uri="{D42A27DB-BD31-4B8C-83A1-F6EECF244321}">
                <p14:modId xmlns:p14="http://schemas.microsoft.com/office/powerpoint/2010/main" val="3970021081"/>
              </p:ext>
            </p:extLst>
          </p:nvPr>
        </p:nvGraphicFramePr>
        <p:xfrm>
          <a:off x="480000" y="1660000"/>
          <a:ext cx="5850000" cy="2950000"/>
        </p:xfrm>
        <a:graphic>
          <a:graphicData uri="http://schemas.openxmlformats.org/drawingml/2006/chart">
            <c:chart xmlns:c="http://schemas.openxmlformats.org/drawingml/2006/chart" xmlns:r="http://schemas.openxmlformats.org/officeDocument/2006/relationships" r:id="rId2"/>
          </a:graphicData>
        </a:graphic>
      </p:graphicFrame>
      <p:sp>
        <p:nvSpPr>
          <p:cNvPr id="7" name="Insight heading"/>
          <p:cNvSpPr/>
          <p:nvPr/>
        </p:nvSpPr>
        <p:spPr>
          <a:xfrm>
            <a:off x="6580000" y="1780000"/>
            <a:ext cx="2200000" cy="320040"/>
          </a:xfrm>
          <a:prstGeom prst="rect">
            <a:avLst/>
          </a:prstGeom>
          <a:noFill/>
          <a:ln/>
        </p:spPr>
        <p:txBody>
          <a:bodyPr wrap="square" lIns="0" tIns="0" rIns="0" bIns="0" rtlCol="0" anchor="t"/>
          <a:lstStyle/>
          <a:p>
            <a:pPr marL="0" indent="0">
              <a:buNone/>
            </a:pPr>
            <a:r>
              <a:rPr lang="en-US" sz="1300" b="1">
                <a:solidFill>
                  <a:srgbClr val="16436B"/>
                </a:solidFill>
                <a:latin typeface="Calibri" pitchFamily="34" charset="0"/>
                <a:ea typeface="Calibri" pitchFamily="34" charset="-122"/>
                <a:cs typeface="Calibri" pitchFamily="34" charset="-120"/>
              </a:rPr>
              <a:t>What this tells us</a:t>
            </a:r>
          </a:p>
        </p:txBody>
      </p:sp>
      <p:sp>
        <p:nvSpPr>
          <p:cNvPr id="8" name="Insight body"/>
          <p:cNvSpPr/>
          <p:nvPr/>
        </p:nvSpPr>
        <p:spPr>
          <a:xfrm>
            <a:off x="6580000" y="2160000"/>
            <a:ext cx="2200000" cy="2200000"/>
          </a:xfrm>
          <a:prstGeom prst="rect">
            <a:avLst/>
          </a:prstGeom>
          <a:noFill/>
          <a:ln/>
        </p:spPr>
        <p:txBody>
          <a:bodyPr wrap="square" lIns="0" tIns="0" rIns="0" bIns="0" rtlCol="0" anchor="t"/>
          <a:lstStyle/>
          <a:p>
            <a:pPr marL="0" indent="0">
              <a:buNone/>
            </a:pPr>
            <a:r>
              <a:rPr lang="en-US" sz="1200">
                <a:solidFill>
                  <a:srgbClr val="3F5261"/>
                </a:solidFill>
                <a:latin typeface="Calibri" pitchFamily="34" charset="0"/>
                <a:ea typeface="Calibri" pitchFamily="34" charset="-122"/>
                <a:cs typeface="Calibri" pitchFamily="34" charset="-120"/>
              </a:rPr>
              <a:t>The tall teal bars drive churn. The four grey bars don’t.</a:t>
            </a:r>
          </a:p>
          <a:p>
            <a:pPr marL="0" indent="0">
              <a:spcBef>
                <a:spcPts val="600"/>
              </a:spcBef>
              <a:buNone/>
            </a:pPr>
            <a:r>
              <a:rPr lang="en-US" sz="1200">
                <a:solidFill>
                  <a:srgbClr val="3F5261"/>
                </a:solidFill>
                <a:latin typeface="Calibri" pitchFamily="34" charset="0"/>
                <a:ea typeface="Calibri" pitchFamily="34" charset="-122"/>
                <a:cs typeface="Calibri" pitchFamily="34" charset="-120"/>
              </a:rPr>
              <a:t>Loyalty tier, engagement, average fare and age band each scored zero — on their own they tell us nothing about who leaves.</a:t>
            </a:r>
          </a:p>
        </p:txBody>
      </p:sp>
      <p:sp>
        <p:nvSpPr>
          <p:cNvPr id="30" name="Footer left"/>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a:solidFill>
                  <a:srgbClr val="8195A0"/>
                </a:solidFill>
                <a:latin typeface="Calibri" pitchFamily="34" charset="0"/>
                <a:ea typeface="Calibri" pitchFamily="34" charset="-122"/>
                <a:cs typeface="Calibri" pitchFamily="34" charset="-120"/>
              </a:rPr>
              <a:t>RideWise Analytics</a:t>
            </a:r>
            <a:endParaRPr lang="en-US" sz="1100"/>
          </a:p>
        </p:txBody>
      </p:sp>
      <p:sp>
        <p:nvSpPr>
          <p:cNvPr id="31" name="Footer page"/>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a:solidFill>
                  <a:srgbClr val="8195A0"/>
                </a:solidFill>
                <a:latin typeface="Calibri" pitchFamily="34" charset="0"/>
                <a:ea typeface="Calibri" pitchFamily="34" charset="-122"/>
                <a:cs typeface="Calibri" pitchFamily="34" charset="-120"/>
              </a:rPr>
              <a:t>09</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7AE03-AF1B-7FD9-C646-88CC6006C1BA}"/>
              </a:ext>
            </a:extLst>
          </p:cNvPr>
          <p:cNvSpPr>
            <a:spLocks noGrp="1"/>
          </p:cNvSpPr>
          <p:nvPr>
            <p:ph type="title" idx="101"/>
          </p:nvPr>
        </p:nvSpPr>
        <p:spPr/>
        <p:txBody>
          <a:bodyPr/>
          <a:lstStyle/>
          <a:p>
            <a:r>
              <a:rPr lang="en-GB" dirty="0"/>
              <a:t>Stopped here. </a:t>
            </a:r>
            <a:br>
              <a:rPr lang="en-GB" dirty="0"/>
            </a:br>
            <a:endParaRPr lang="en-GB" dirty="0"/>
          </a:p>
        </p:txBody>
      </p:sp>
    </p:spTree>
    <p:extLst>
      <p:ext uri="{BB962C8B-B14F-4D97-AF65-F5344CB8AC3E}">
        <p14:creationId xmlns:p14="http://schemas.microsoft.com/office/powerpoint/2010/main" val="124892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SEGMENTATION</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KMeans rider clusters</a:t>
            </a:r>
            <a:endParaRPr lang="en-US" sz="3300" dirty="0"/>
          </a:p>
        </p:txBody>
      </p:sp>
      <p:sp>
        <p:nvSpPr>
          <p:cNvPr id="4" name="card">
            <a:extLst>
              <a:ext uri="{C183D7F6-B498-43B3-948B-1728B52AA6E4}">
                <adec:decorative xmlns:adec="http://schemas.microsoft.com/office/drawing/2017/decorative" val="1"/>
              </a:ext>
            </a:extLst>
          </p:cNvPr>
          <p:cNvSpPr/>
          <p:nvPr/>
        </p:nvSpPr>
        <p:spPr>
          <a:xfrm>
            <a:off x="566928" y="1600200"/>
            <a:ext cx="1947672" cy="2286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5" name="accent">
            <a:extLst>
              <a:ext uri="{C183D7F6-B498-43B3-948B-1728B52AA6E4}">
                <adec:decorative xmlns:adec="http://schemas.microsoft.com/office/drawing/2017/decorative" val="1"/>
              </a:ext>
            </a:extLst>
          </p:cNvPr>
          <p:cNvSpPr/>
          <p:nvPr/>
        </p:nvSpPr>
        <p:spPr>
          <a:xfrm>
            <a:off x="566928" y="1600200"/>
            <a:ext cx="1947672" cy="91440"/>
          </a:xfrm>
          <a:prstGeom prst="rect">
            <a:avLst/>
          </a:prstGeom>
          <a:solidFill>
            <a:srgbClr val="128F90"/>
          </a:solidFill>
          <a:ln/>
        </p:spPr>
        <p:txBody>
          <a:bodyPr/>
          <a:lstStyle/>
          <a:p>
            <a:endParaRPr lang="en-GB"/>
          </a:p>
        </p:txBody>
      </p:sp>
      <p:sp>
        <p:nvSpPr>
          <p:cNvPr id="6" name="Text 4"/>
          <p:cNvSpPr/>
          <p:nvPr/>
        </p:nvSpPr>
        <p:spPr>
          <a:xfrm>
            <a:off x="749808" y="1911096"/>
            <a:ext cx="1581912" cy="640080"/>
          </a:xfrm>
          <a:prstGeom prst="rect">
            <a:avLst/>
          </a:prstGeom>
          <a:noFill/>
          <a:ln/>
        </p:spPr>
        <p:txBody>
          <a:bodyPr wrap="square" lIns="0" tIns="0" rIns="0" bIns="0" rtlCol="0" anchor="ctr"/>
          <a:lstStyle/>
          <a:p>
            <a:pPr marL="0" indent="0">
              <a:buNone/>
            </a:pPr>
            <a:r>
              <a:rPr lang="en-US" sz="3600" b="1" dirty="0">
                <a:solidFill>
                  <a:srgbClr val="0F2C48"/>
                </a:solidFill>
                <a:latin typeface="Calibri Light" pitchFamily="34" charset="0"/>
                <a:ea typeface="Calibri Light" pitchFamily="34" charset="-122"/>
                <a:cs typeface="Calibri Light" pitchFamily="34" charset="-120"/>
              </a:rPr>
              <a:t>24%</a:t>
            </a:r>
            <a:endParaRPr lang="en-US" sz="3600" dirty="0"/>
          </a:p>
        </p:txBody>
      </p:sp>
      <p:sp>
        <p:nvSpPr>
          <p:cNvPr id="7" name="Text 5"/>
          <p:cNvSpPr/>
          <p:nvPr/>
        </p:nvSpPr>
        <p:spPr>
          <a:xfrm>
            <a:off x="749808" y="2651760"/>
            <a:ext cx="1581912" cy="365760"/>
          </a:xfrm>
          <a:prstGeom prst="rect">
            <a:avLst/>
          </a:prstGeom>
          <a:noFill/>
          <a:ln/>
        </p:spPr>
        <p:txBody>
          <a:bodyPr wrap="square" lIns="0" tIns="0" rIns="0" bIns="0" rtlCol="0" anchor="ctr"/>
          <a:lstStyle/>
          <a:p>
            <a:pPr marL="0" indent="0">
              <a:buNone/>
            </a:pPr>
            <a:r>
              <a:rPr lang="en-US" sz="1600" b="1" dirty="0">
                <a:solidFill>
                  <a:srgbClr val="0F2C48"/>
                </a:solidFill>
                <a:latin typeface="Calibri" pitchFamily="34" charset="0"/>
                <a:ea typeface="Calibri" pitchFamily="34" charset="-122"/>
                <a:cs typeface="Calibri" pitchFamily="34" charset="-120"/>
              </a:rPr>
              <a:t>Champions</a:t>
            </a:r>
            <a:endParaRPr lang="en-US" sz="1600" dirty="0"/>
          </a:p>
        </p:txBody>
      </p:sp>
      <p:sp>
        <p:nvSpPr>
          <p:cNvPr id="8" name="Text 6"/>
          <p:cNvSpPr/>
          <p:nvPr/>
        </p:nvSpPr>
        <p:spPr>
          <a:xfrm>
            <a:off x="749808" y="3081528"/>
            <a:ext cx="1581912" cy="274320"/>
          </a:xfrm>
          <a:prstGeom prst="rect">
            <a:avLst/>
          </a:prstGeom>
          <a:noFill/>
          <a:ln/>
        </p:spPr>
        <p:txBody>
          <a:bodyPr wrap="square" lIns="0" tIns="0" rIns="0" bIns="0" rtlCol="0" anchor="ctr"/>
          <a:lstStyle/>
          <a:p>
            <a:pPr marL="0" indent="0">
              <a:buNone/>
            </a:pPr>
            <a:r>
              <a:rPr lang="en-US" sz="1050" dirty="0">
                <a:solidFill>
                  <a:srgbClr val="8195A0"/>
                </a:solidFill>
                <a:latin typeface="Calibri" pitchFamily="34" charset="0"/>
                <a:ea typeface="Calibri" pitchFamily="34" charset="-122"/>
                <a:cs typeface="Calibri" pitchFamily="34" charset="-120"/>
              </a:rPr>
              <a:t>Business action</a:t>
            </a:r>
            <a:endParaRPr lang="en-US" sz="1050" dirty="0"/>
          </a:p>
        </p:txBody>
      </p:sp>
      <p:sp>
        <p:nvSpPr>
          <p:cNvPr id="9" name="Text 7">
            <a:extLst>
              <a:ext uri="{C183D7F6-B498-43B3-948B-1728B52AA6E4}">
                <adec:decorative xmlns:adec="http://schemas.microsoft.com/office/drawing/2017/decorative" val="1"/>
              </a:ext>
            </a:extLst>
          </p:cNvPr>
          <p:cNvSpPr/>
          <p:nvPr/>
        </p:nvSpPr>
        <p:spPr>
          <a:xfrm>
            <a:off x="749808" y="3337560"/>
            <a:ext cx="1618488" cy="411480"/>
          </a:xfrm>
          <a:prstGeom prst="rect">
            <a:avLst/>
          </a:prstGeom>
          <a:noFill/>
          <a:ln/>
        </p:spPr>
        <p:txBody>
          <a:bodyPr wrap="square" lIns="0" tIns="0" rIns="0" bIns="0" rtlCol="0" anchor="ctr"/>
          <a:lstStyle/>
          <a:p>
            <a:pPr marL="0" indent="0">
              <a:buNone/>
            </a:pPr>
            <a:r>
              <a:rPr lang="en-US" sz="1300" b="1" dirty="0">
                <a:solidFill>
                  <a:srgbClr val="128F90"/>
                </a:solidFill>
                <a:latin typeface="Calibri" pitchFamily="34" charset="0"/>
                <a:ea typeface="Calibri" pitchFamily="34" charset="-122"/>
                <a:cs typeface="Calibri" pitchFamily="34" charset="-120"/>
              </a:rPr>
              <a:t>Reward &amp; retain</a:t>
            </a:r>
            <a:endParaRPr lang="en-US" sz="1300" dirty="0"/>
          </a:p>
        </p:txBody>
      </p:sp>
      <p:sp>
        <p:nvSpPr>
          <p:cNvPr id="10" name="card">
            <a:extLst>
              <a:ext uri="{C183D7F6-B498-43B3-948B-1728B52AA6E4}">
                <adec:decorative xmlns:adec="http://schemas.microsoft.com/office/drawing/2017/decorative" val="1"/>
              </a:ext>
            </a:extLst>
          </p:cNvPr>
          <p:cNvSpPr/>
          <p:nvPr/>
        </p:nvSpPr>
        <p:spPr>
          <a:xfrm>
            <a:off x="2734056" y="1600200"/>
            <a:ext cx="1947672" cy="2286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1" name="accent">
            <a:extLst>
              <a:ext uri="{C183D7F6-B498-43B3-948B-1728B52AA6E4}">
                <adec:decorative xmlns:adec="http://schemas.microsoft.com/office/drawing/2017/decorative" val="1"/>
              </a:ext>
            </a:extLst>
          </p:cNvPr>
          <p:cNvSpPr/>
          <p:nvPr/>
        </p:nvSpPr>
        <p:spPr>
          <a:xfrm>
            <a:off x="2734056" y="1600200"/>
            <a:ext cx="1947672" cy="91440"/>
          </a:xfrm>
          <a:prstGeom prst="rect">
            <a:avLst/>
          </a:prstGeom>
          <a:solidFill>
            <a:srgbClr val="0F2C48"/>
          </a:solidFill>
          <a:ln/>
        </p:spPr>
        <p:txBody>
          <a:bodyPr/>
          <a:lstStyle/>
          <a:p>
            <a:endParaRPr lang="en-GB"/>
          </a:p>
        </p:txBody>
      </p:sp>
      <p:sp>
        <p:nvSpPr>
          <p:cNvPr id="12" name="Text 10"/>
          <p:cNvSpPr/>
          <p:nvPr/>
        </p:nvSpPr>
        <p:spPr>
          <a:xfrm>
            <a:off x="2916936" y="1911096"/>
            <a:ext cx="1581912" cy="640080"/>
          </a:xfrm>
          <a:prstGeom prst="rect">
            <a:avLst/>
          </a:prstGeom>
          <a:noFill/>
          <a:ln/>
        </p:spPr>
        <p:txBody>
          <a:bodyPr wrap="square" lIns="0" tIns="0" rIns="0" bIns="0" rtlCol="0" anchor="ctr"/>
          <a:lstStyle/>
          <a:p>
            <a:pPr marL="0" indent="0">
              <a:buNone/>
            </a:pPr>
            <a:r>
              <a:rPr lang="en-US" sz="3600" b="1" dirty="0">
                <a:solidFill>
                  <a:srgbClr val="0F2C48"/>
                </a:solidFill>
                <a:latin typeface="Calibri Light" pitchFamily="34" charset="0"/>
                <a:ea typeface="Calibri Light" pitchFamily="34" charset="-122"/>
                <a:cs typeface="Calibri Light" pitchFamily="34" charset="-120"/>
              </a:rPr>
              <a:t>31%</a:t>
            </a:r>
            <a:endParaRPr lang="en-US" sz="3600" dirty="0"/>
          </a:p>
        </p:txBody>
      </p:sp>
      <p:sp>
        <p:nvSpPr>
          <p:cNvPr id="13" name="Text 11"/>
          <p:cNvSpPr/>
          <p:nvPr/>
        </p:nvSpPr>
        <p:spPr>
          <a:xfrm>
            <a:off x="2916936" y="2651760"/>
            <a:ext cx="1581912" cy="365760"/>
          </a:xfrm>
          <a:prstGeom prst="rect">
            <a:avLst/>
          </a:prstGeom>
          <a:noFill/>
          <a:ln/>
        </p:spPr>
        <p:txBody>
          <a:bodyPr wrap="square" lIns="0" tIns="0" rIns="0" bIns="0" rtlCol="0" anchor="ctr"/>
          <a:lstStyle/>
          <a:p>
            <a:pPr marL="0" indent="0">
              <a:buNone/>
            </a:pPr>
            <a:r>
              <a:rPr lang="en-US" sz="1600" b="1" dirty="0">
                <a:solidFill>
                  <a:srgbClr val="0F2C48"/>
                </a:solidFill>
                <a:latin typeface="Calibri" pitchFamily="34" charset="0"/>
                <a:ea typeface="Calibri" pitchFamily="34" charset="-122"/>
                <a:cs typeface="Calibri" pitchFamily="34" charset="-120"/>
              </a:rPr>
              <a:t>Loyal Riders</a:t>
            </a:r>
            <a:endParaRPr lang="en-US" sz="1600" dirty="0"/>
          </a:p>
        </p:txBody>
      </p:sp>
      <p:sp>
        <p:nvSpPr>
          <p:cNvPr id="14" name="Text 12">
            <a:extLst>
              <a:ext uri="{C183D7F6-B498-43B3-948B-1728B52AA6E4}">
                <adec:decorative xmlns:adec="http://schemas.microsoft.com/office/drawing/2017/decorative" val="1"/>
              </a:ext>
            </a:extLst>
          </p:cNvPr>
          <p:cNvSpPr/>
          <p:nvPr/>
        </p:nvSpPr>
        <p:spPr>
          <a:xfrm>
            <a:off x="2916936" y="3081528"/>
            <a:ext cx="1581912" cy="274320"/>
          </a:xfrm>
          <a:prstGeom prst="rect">
            <a:avLst/>
          </a:prstGeom>
          <a:noFill/>
          <a:ln/>
        </p:spPr>
        <p:txBody>
          <a:bodyPr wrap="square" lIns="0" tIns="0" rIns="0" bIns="0" rtlCol="0" anchor="ctr"/>
          <a:lstStyle/>
          <a:p>
            <a:pPr marL="0" indent="0">
              <a:buNone/>
            </a:pPr>
            <a:r>
              <a:rPr lang="en-US" sz="1050" dirty="0">
                <a:solidFill>
                  <a:srgbClr val="8195A0"/>
                </a:solidFill>
                <a:latin typeface="Calibri" pitchFamily="34" charset="0"/>
                <a:ea typeface="Calibri" pitchFamily="34" charset="-122"/>
                <a:cs typeface="Calibri" pitchFamily="34" charset="-120"/>
              </a:rPr>
              <a:t>Business action</a:t>
            </a:r>
            <a:endParaRPr lang="en-US" sz="1050" dirty="0"/>
          </a:p>
        </p:txBody>
      </p:sp>
      <p:sp>
        <p:nvSpPr>
          <p:cNvPr id="15" name="Text 13">
            <a:extLst>
              <a:ext uri="{C183D7F6-B498-43B3-948B-1728B52AA6E4}">
                <adec:decorative xmlns:adec="http://schemas.microsoft.com/office/drawing/2017/decorative" val="1"/>
              </a:ext>
            </a:extLst>
          </p:cNvPr>
          <p:cNvSpPr/>
          <p:nvPr/>
        </p:nvSpPr>
        <p:spPr>
          <a:xfrm>
            <a:off x="2916936" y="3337560"/>
            <a:ext cx="1618488" cy="411480"/>
          </a:xfrm>
          <a:prstGeom prst="rect">
            <a:avLst/>
          </a:prstGeom>
          <a:noFill/>
          <a:ln/>
        </p:spPr>
        <p:txBody>
          <a:bodyPr wrap="square" lIns="0" tIns="0" rIns="0" bIns="0" rtlCol="0" anchor="ctr"/>
          <a:lstStyle/>
          <a:p>
            <a:pPr marL="0" indent="0">
              <a:buNone/>
            </a:pPr>
            <a:r>
              <a:rPr lang="en-US" sz="1300" b="1" dirty="0">
                <a:solidFill>
                  <a:srgbClr val="128F90"/>
                </a:solidFill>
                <a:latin typeface="Calibri" pitchFamily="34" charset="0"/>
                <a:ea typeface="Calibri" pitchFamily="34" charset="-122"/>
                <a:cs typeface="Calibri" pitchFamily="34" charset="-120"/>
              </a:rPr>
              <a:t>Nurture loyalty</a:t>
            </a:r>
            <a:endParaRPr lang="en-US" sz="1300" dirty="0"/>
          </a:p>
        </p:txBody>
      </p:sp>
      <p:sp>
        <p:nvSpPr>
          <p:cNvPr id="16" name="card">
            <a:extLst>
              <a:ext uri="{C183D7F6-B498-43B3-948B-1728B52AA6E4}">
                <adec:decorative xmlns:adec="http://schemas.microsoft.com/office/drawing/2017/decorative" val="1"/>
              </a:ext>
            </a:extLst>
          </p:cNvPr>
          <p:cNvSpPr/>
          <p:nvPr/>
        </p:nvSpPr>
        <p:spPr>
          <a:xfrm>
            <a:off x="4901184" y="1600200"/>
            <a:ext cx="1947672" cy="2286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7" name="accent">
            <a:extLst>
              <a:ext uri="{C183D7F6-B498-43B3-948B-1728B52AA6E4}">
                <adec:decorative xmlns:adec="http://schemas.microsoft.com/office/drawing/2017/decorative" val="1"/>
              </a:ext>
            </a:extLst>
          </p:cNvPr>
          <p:cNvSpPr/>
          <p:nvPr/>
        </p:nvSpPr>
        <p:spPr>
          <a:xfrm>
            <a:off x="4901184" y="1600200"/>
            <a:ext cx="1947672" cy="91440"/>
          </a:xfrm>
          <a:prstGeom prst="rect">
            <a:avLst/>
          </a:prstGeom>
          <a:solidFill>
            <a:srgbClr val="3FB0AE"/>
          </a:solidFill>
          <a:ln/>
        </p:spPr>
        <p:txBody>
          <a:bodyPr/>
          <a:lstStyle/>
          <a:p>
            <a:endParaRPr lang="en-GB"/>
          </a:p>
        </p:txBody>
      </p:sp>
      <p:sp>
        <p:nvSpPr>
          <p:cNvPr id="18" name="Text 16"/>
          <p:cNvSpPr/>
          <p:nvPr/>
        </p:nvSpPr>
        <p:spPr>
          <a:xfrm>
            <a:off x="5084064" y="1911096"/>
            <a:ext cx="1581912" cy="640080"/>
          </a:xfrm>
          <a:prstGeom prst="rect">
            <a:avLst/>
          </a:prstGeom>
          <a:noFill/>
          <a:ln/>
        </p:spPr>
        <p:txBody>
          <a:bodyPr wrap="square" lIns="0" tIns="0" rIns="0" bIns="0" rtlCol="0" anchor="ctr"/>
          <a:lstStyle/>
          <a:p>
            <a:pPr marL="0" indent="0">
              <a:buNone/>
            </a:pPr>
            <a:r>
              <a:rPr lang="en-US" sz="3600" b="1" dirty="0">
                <a:solidFill>
                  <a:srgbClr val="0F2C48"/>
                </a:solidFill>
                <a:latin typeface="Calibri Light" pitchFamily="34" charset="0"/>
                <a:ea typeface="Calibri Light" pitchFamily="34" charset="-122"/>
                <a:cs typeface="Calibri Light" pitchFamily="34" charset="-120"/>
              </a:rPr>
              <a:t>27%</a:t>
            </a:r>
            <a:endParaRPr lang="en-US" sz="3600" dirty="0"/>
          </a:p>
        </p:txBody>
      </p:sp>
      <p:sp>
        <p:nvSpPr>
          <p:cNvPr id="19" name="Text 17">
            <a:extLst>
              <a:ext uri="{C183D7F6-B498-43B3-948B-1728B52AA6E4}">
                <adec:decorative xmlns:adec="http://schemas.microsoft.com/office/drawing/2017/decorative" val="1"/>
              </a:ext>
            </a:extLst>
          </p:cNvPr>
          <p:cNvSpPr/>
          <p:nvPr/>
        </p:nvSpPr>
        <p:spPr>
          <a:xfrm>
            <a:off x="5084064" y="2651760"/>
            <a:ext cx="1581912" cy="365760"/>
          </a:xfrm>
          <a:prstGeom prst="rect">
            <a:avLst/>
          </a:prstGeom>
          <a:noFill/>
          <a:ln/>
        </p:spPr>
        <p:txBody>
          <a:bodyPr wrap="square" lIns="0" tIns="0" rIns="0" bIns="0" rtlCol="0" anchor="ctr"/>
          <a:lstStyle/>
          <a:p>
            <a:pPr marL="0" indent="0">
              <a:buNone/>
            </a:pPr>
            <a:r>
              <a:rPr lang="en-US" sz="1600" b="1" dirty="0">
                <a:solidFill>
                  <a:srgbClr val="0F2C48"/>
                </a:solidFill>
                <a:latin typeface="Calibri" pitchFamily="34" charset="0"/>
                <a:ea typeface="Calibri" pitchFamily="34" charset="-122"/>
                <a:cs typeface="Calibri" pitchFamily="34" charset="-120"/>
              </a:rPr>
              <a:t>At-Risk</a:t>
            </a:r>
            <a:endParaRPr lang="en-US" sz="1600" dirty="0"/>
          </a:p>
        </p:txBody>
      </p:sp>
      <p:sp>
        <p:nvSpPr>
          <p:cNvPr id="20" name="Text 18">
            <a:extLst>
              <a:ext uri="{C183D7F6-B498-43B3-948B-1728B52AA6E4}">
                <adec:decorative xmlns:adec="http://schemas.microsoft.com/office/drawing/2017/decorative" val="1"/>
              </a:ext>
            </a:extLst>
          </p:cNvPr>
          <p:cNvSpPr/>
          <p:nvPr/>
        </p:nvSpPr>
        <p:spPr>
          <a:xfrm>
            <a:off x="5084064" y="3081528"/>
            <a:ext cx="1581912" cy="274320"/>
          </a:xfrm>
          <a:prstGeom prst="rect">
            <a:avLst/>
          </a:prstGeom>
          <a:noFill/>
          <a:ln/>
        </p:spPr>
        <p:txBody>
          <a:bodyPr wrap="square" lIns="0" tIns="0" rIns="0" bIns="0" rtlCol="0" anchor="ctr"/>
          <a:lstStyle/>
          <a:p>
            <a:pPr marL="0" indent="0">
              <a:buNone/>
            </a:pPr>
            <a:r>
              <a:rPr lang="en-US" sz="1050" dirty="0">
                <a:solidFill>
                  <a:srgbClr val="8195A0"/>
                </a:solidFill>
                <a:latin typeface="Calibri" pitchFamily="34" charset="0"/>
                <a:ea typeface="Calibri" pitchFamily="34" charset="-122"/>
                <a:cs typeface="Calibri" pitchFamily="34" charset="-120"/>
              </a:rPr>
              <a:t>Business action</a:t>
            </a:r>
            <a:endParaRPr lang="en-US" sz="1050" dirty="0"/>
          </a:p>
        </p:txBody>
      </p:sp>
      <p:sp>
        <p:nvSpPr>
          <p:cNvPr id="21" name="Text 19"/>
          <p:cNvSpPr/>
          <p:nvPr/>
        </p:nvSpPr>
        <p:spPr>
          <a:xfrm>
            <a:off x="5084064" y="3337560"/>
            <a:ext cx="1618488" cy="411480"/>
          </a:xfrm>
          <a:prstGeom prst="rect">
            <a:avLst/>
          </a:prstGeom>
          <a:noFill/>
          <a:ln/>
        </p:spPr>
        <p:txBody>
          <a:bodyPr wrap="square" lIns="0" tIns="0" rIns="0" bIns="0" rtlCol="0" anchor="ctr"/>
          <a:lstStyle/>
          <a:p>
            <a:pPr marL="0" indent="0">
              <a:buNone/>
            </a:pPr>
            <a:r>
              <a:rPr lang="en-US" sz="1300" b="1" dirty="0">
                <a:solidFill>
                  <a:srgbClr val="128F90"/>
                </a:solidFill>
                <a:latin typeface="Calibri" pitchFamily="34" charset="0"/>
                <a:ea typeface="Calibri" pitchFamily="34" charset="-122"/>
                <a:cs typeface="Calibri" pitchFamily="34" charset="-120"/>
              </a:rPr>
              <a:t>Targeted win-back</a:t>
            </a:r>
            <a:endParaRPr lang="en-US" sz="1300" dirty="0"/>
          </a:p>
        </p:txBody>
      </p:sp>
      <p:sp>
        <p:nvSpPr>
          <p:cNvPr id="22" name="card">
            <a:extLst>
              <a:ext uri="{C183D7F6-B498-43B3-948B-1728B52AA6E4}">
                <adec:decorative xmlns:adec="http://schemas.microsoft.com/office/drawing/2017/decorative" val="1"/>
              </a:ext>
            </a:extLst>
          </p:cNvPr>
          <p:cNvSpPr/>
          <p:nvPr/>
        </p:nvSpPr>
        <p:spPr>
          <a:xfrm>
            <a:off x="7068312" y="1600200"/>
            <a:ext cx="1947672" cy="228600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3" name="accent">
            <a:extLst>
              <a:ext uri="{C183D7F6-B498-43B3-948B-1728B52AA6E4}">
                <adec:decorative xmlns:adec="http://schemas.microsoft.com/office/drawing/2017/decorative" val="1"/>
              </a:ext>
            </a:extLst>
          </p:cNvPr>
          <p:cNvSpPr/>
          <p:nvPr/>
        </p:nvSpPr>
        <p:spPr>
          <a:xfrm>
            <a:off x="7068312" y="1600200"/>
            <a:ext cx="1947672" cy="91440"/>
          </a:xfrm>
          <a:prstGeom prst="rect">
            <a:avLst/>
          </a:prstGeom>
          <a:solidFill>
            <a:srgbClr val="16436B"/>
          </a:solidFill>
          <a:ln/>
        </p:spPr>
        <p:txBody>
          <a:bodyPr/>
          <a:lstStyle/>
          <a:p>
            <a:endParaRPr lang="en-GB"/>
          </a:p>
        </p:txBody>
      </p:sp>
      <p:sp>
        <p:nvSpPr>
          <p:cNvPr id="24" name="Text 22"/>
          <p:cNvSpPr/>
          <p:nvPr/>
        </p:nvSpPr>
        <p:spPr>
          <a:xfrm>
            <a:off x="7251192" y="1911096"/>
            <a:ext cx="1581912" cy="640080"/>
          </a:xfrm>
          <a:prstGeom prst="rect">
            <a:avLst/>
          </a:prstGeom>
          <a:noFill/>
          <a:ln/>
        </p:spPr>
        <p:txBody>
          <a:bodyPr wrap="square" lIns="0" tIns="0" rIns="0" bIns="0" rtlCol="0" anchor="ctr"/>
          <a:lstStyle/>
          <a:p>
            <a:pPr marL="0" indent="0">
              <a:buNone/>
            </a:pPr>
            <a:r>
              <a:rPr lang="en-US" sz="3600" b="1" dirty="0">
                <a:solidFill>
                  <a:srgbClr val="0F2C48"/>
                </a:solidFill>
                <a:latin typeface="Calibri Light" pitchFamily="34" charset="0"/>
                <a:ea typeface="Calibri Light" pitchFamily="34" charset="-122"/>
                <a:cs typeface="Calibri Light" pitchFamily="34" charset="-120"/>
              </a:rPr>
              <a:t>18%</a:t>
            </a:r>
            <a:endParaRPr lang="en-US" sz="3600" dirty="0"/>
          </a:p>
        </p:txBody>
      </p:sp>
      <p:sp>
        <p:nvSpPr>
          <p:cNvPr id="25" name="Text 23"/>
          <p:cNvSpPr/>
          <p:nvPr/>
        </p:nvSpPr>
        <p:spPr>
          <a:xfrm>
            <a:off x="7251192" y="2651760"/>
            <a:ext cx="1581912" cy="365760"/>
          </a:xfrm>
          <a:prstGeom prst="rect">
            <a:avLst/>
          </a:prstGeom>
          <a:noFill/>
          <a:ln/>
        </p:spPr>
        <p:txBody>
          <a:bodyPr wrap="square" lIns="0" tIns="0" rIns="0" bIns="0" rtlCol="0" anchor="ctr"/>
          <a:lstStyle/>
          <a:p>
            <a:pPr marL="0" indent="0">
              <a:buNone/>
            </a:pPr>
            <a:r>
              <a:rPr lang="en-US" sz="1600" b="1" dirty="0">
                <a:solidFill>
                  <a:srgbClr val="0F2C48"/>
                </a:solidFill>
                <a:latin typeface="Calibri" pitchFamily="34" charset="0"/>
                <a:ea typeface="Calibri" pitchFamily="34" charset="-122"/>
                <a:cs typeface="Calibri" pitchFamily="34" charset="-120"/>
              </a:rPr>
              <a:t>Hibernating</a:t>
            </a:r>
            <a:endParaRPr lang="en-US" sz="1600" dirty="0"/>
          </a:p>
        </p:txBody>
      </p:sp>
      <p:sp>
        <p:nvSpPr>
          <p:cNvPr id="26" name="Text 24"/>
          <p:cNvSpPr/>
          <p:nvPr/>
        </p:nvSpPr>
        <p:spPr>
          <a:xfrm>
            <a:off x="7251192" y="3081528"/>
            <a:ext cx="1581912" cy="274320"/>
          </a:xfrm>
          <a:prstGeom prst="rect">
            <a:avLst/>
          </a:prstGeom>
          <a:noFill/>
          <a:ln/>
        </p:spPr>
        <p:txBody>
          <a:bodyPr wrap="square" lIns="0" tIns="0" rIns="0" bIns="0" rtlCol="0" anchor="ctr"/>
          <a:lstStyle/>
          <a:p>
            <a:pPr marL="0" indent="0">
              <a:buNone/>
            </a:pPr>
            <a:r>
              <a:rPr lang="en-US" sz="1050" dirty="0">
                <a:solidFill>
                  <a:srgbClr val="8195A0"/>
                </a:solidFill>
                <a:latin typeface="Calibri" pitchFamily="34" charset="0"/>
                <a:ea typeface="Calibri" pitchFamily="34" charset="-122"/>
                <a:cs typeface="Calibri" pitchFamily="34" charset="-120"/>
              </a:rPr>
              <a:t>Business action</a:t>
            </a:r>
            <a:endParaRPr lang="en-US" sz="1050" dirty="0"/>
          </a:p>
        </p:txBody>
      </p:sp>
      <p:sp>
        <p:nvSpPr>
          <p:cNvPr id="27" name="Text 25"/>
          <p:cNvSpPr/>
          <p:nvPr/>
        </p:nvSpPr>
        <p:spPr>
          <a:xfrm>
            <a:off x="7251192" y="3337560"/>
            <a:ext cx="1618488" cy="411480"/>
          </a:xfrm>
          <a:prstGeom prst="rect">
            <a:avLst/>
          </a:prstGeom>
          <a:noFill/>
          <a:ln/>
        </p:spPr>
        <p:txBody>
          <a:bodyPr wrap="square" lIns="0" tIns="0" rIns="0" bIns="0" rtlCol="0" anchor="ctr"/>
          <a:lstStyle/>
          <a:p>
            <a:pPr marL="0" indent="0">
              <a:buNone/>
            </a:pPr>
            <a:r>
              <a:rPr lang="en-US" sz="1300" b="1" dirty="0">
                <a:solidFill>
                  <a:srgbClr val="128F90"/>
                </a:solidFill>
                <a:latin typeface="Calibri" pitchFamily="34" charset="0"/>
                <a:ea typeface="Calibri" pitchFamily="34" charset="-122"/>
                <a:cs typeface="Calibri" pitchFamily="34" charset="-120"/>
              </a:rPr>
              <a:t>Re-activation offers</a:t>
            </a:r>
            <a:endParaRPr lang="en-US" sz="1300" dirty="0"/>
          </a:p>
        </p:txBody>
      </p:sp>
      <p:sp>
        <p:nvSpPr>
          <p:cNvPr id="28" name="Text 26"/>
          <p:cNvSpPr/>
          <p:nvPr/>
        </p:nvSpPr>
        <p:spPr>
          <a:xfrm>
            <a:off x="566928" y="4087368"/>
            <a:ext cx="8001000" cy="365760"/>
          </a:xfrm>
          <a:prstGeom prst="rect">
            <a:avLst/>
          </a:prstGeom>
          <a:noFill/>
          <a:ln/>
        </p:spPr>
        <p:txBody>
          <a:bodyPr wrap="square" lIns="0" tIns="0" rIns="0" bIns="0" rtlCol="0" anchor="ctr"/>
          <a:lstStyle/>
          <a:p>
            <a:pPr marL="0" indent="0" algn="ctr">
              <a:buNone/>
            </a:pPr>
            <a:r>
              <a:rPr lang="en-US" sz="1300" i="1" dirty="0">
                <a:solidFill>
                  <a:srgbClr val="16436B"/>
                </a:solidFill>
                <a:latin typeface="Calibri" pitchFamily="34" charset="0"/>
                <a:ea typeface="Calibri" pitchFamily="34" charset="-122"/>
                <a:cs typeface="Calibri" pitchFamily="34" charset="-120"/>
              </a:rPr>
              <a:t>Segment profiles built from RFM and behavioural features · silhouette score 0.61.</a:t>
            </a:r>
            <a:endParaRPr lang="en-US" sz="1300" dirty="0"/>
          </a:p>
        </p:txBody>
      </p:sp>
      <p:sp>
        <p:nvSpPr>
          <p:cNvPr id="29" name="Text 27"/>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08</a:t>
            </a:r>
            <a:endParaRPr lang="en-US" sz="1100" dirty="0"/>
          </a:p>
        </p:txBody>
      </p:sp>
      <p:sp>
        <p:nvSpPr>
          <p:cNvPr id="30" name="Text 28"/>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31" name="Text 29"/>
          <p:cNvSpPr/>
          <p:nvPr/>
        </p:nvSpPr>
        <p:spPr>
          <a:xfrm>
            <a:off x="3474720" y="4704588"/>
            <a:ext cx="3108960" cy="274320"/>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DRIVER PERFORMANCE</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Scoring, ranking &amp; insights</a:t>
            </a:r>
            <a:endParaRPr lang="en-US" sz="3300" dirty="0"/>
          </a:p>
        </p:txBody>
      </p:sp>
      <p:sp>
        <p:nvSpPr>
          <p:cNvPr id="4" name="card">
            <a:extLst>
              <a:ext uri="{C183D7F6-B498-43B3-948B-1728B52AA6E4}">
                <adec:decorative xmlns:adec="http://schemas.microsoft.com/office/drawing/2017/decorative" val="1"/>
              </a:ext>
            </a:extLst>
          </p:cNvPr>
          <p:cNvSpPr/>
          <p:nvPr/>
        </p:nvSpPr>
        <p:spPr>
          <a:xfrm>
            <a:off x="566928" y="1572768"/>
            <a:ext cx="2615184" cy="1353312"/>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5" name="marker">
            <a:extLst>
              <a:ext uri="{C183D7F6-B498-43B3-948B-1728B52AA6E4}">
                <adec:decorative xmlns:adec="http://schemas.microsoft.com/office/drawing/2017/decorative" val="1"/>
              </a:ext>
            </a:extLst>
          </p:cNvPr>
          <p:cNvSpPr/>
          <p:nvPr/>
        </p:nvSpPr>
        <p:spPr>
          <a:xfrm>
            <a:off x="566928" y="1572768"/>
            <a:ext cx="82296" cy="1353312"/>
          </a:xfrm>
          <a:prstGeom prst="rect">
            <a:avLst/>
          </a:prstGeom>
          <a:solidFill>
            <a:srgbClr val="128F90"/>
          </a:solidFill>
          <a:ln/>
        </p:spPr>
        <p:txBody>
          <a:bodyPr/>
          <a:lstStyle/>
          <a:p>
            <a:endParaRPr lang="en-GB"/>
          </a:p>
        </p:txBody>
      </p:sp>
      <p:sp>
        <p:nvSpPr>
          <p:cNvPr id="6" name="Text 4"/>
          <p:cNvSpPr/>
          <p:nvPr/>
        </p:nvSpPr>
        <p:spPr>
          <a:xfrm>
            <a:off x="859536" y="1810512"/>
            <a:ext cx="2157984" cy="548640"/>
          </a:xfrm>
          <a:prstGeom prst="rect">
            <a:avLst/>
          </a:prstGeom>
          <a:noFill/>
          <a:ln/>
        </p:spPr>
        <p:txBody>
          <a:bodyPr wrap="square" lIns="0" tIns="0" rIns="0" bIns="0" rtlCol="0" anchor="ctr"/>
          <a:lstStyle/>
          <a:p>
            <a:pPr marL="0" indent="0">
              <a:buNone/>
            </a:pPr>
            <a:r>
              <a:rPr lang="en-US" sz="2800" b="1" dirty="0">
                <a:solidFill>
                  <a:srgbClr val="0F2C48"/>
                </a:solidFill>
                <a:latin typeface="Calibri Light" pitchFamily="34" charset="0"/>
                <a:ea typeface="Calibri Light" pitchFamily="34" charset="-122"/>
                <a:cs typeface="Calibri Light" pitchFamily="34" charset="-120"/>
              </a:rPr>
              <a:t>4.8</a:t>
            </a:r>
            <a:r>
              <a:rPr lang="en-US" sz="1300" dirty="0">
                <a:solidFill>
                  <a:srgbClr val="8195A0"/>
                </a:solidFill>
                <a:latin typeface="Calibri" pitchFamily="34" charset="0"/>
                <a:ea typeface="Calibri" pitchFamily="34" charset="-122"/>
                <a:cs typeface="Calibri" pitchFamily="34" charset="-120"/>
              </a:rPr>
              <a:t> / 5</a:t>
            </a:r>
            <a:endParaRPr lang="en-US" sz="2800" dirty="0"/>
          </a:p>
        </p:txBody>
      </p:sp>
      <p:sp>
        <p:nvSpPr>
          <p:cNvPr id="7" name="Text 5"/>
          <p:cNvSpPr/>
          <p:nvPr/>
        </p:nvSpPr>
        <p:spPr>
          <a:xfrm>
            <a:off x="877824" y="2432304"/>
            <a:ext cx="2157984" cy="3200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Avg rating</a:t>
            </a:r>
            <a:endParaRPr lang="en-US" sz="1250" dirty="0"/>
          </a:p>
        </p:txBody>
      </p:sp>
      <p:sp>
        <p:nvSpPr>
          <p:cNvPr id="8" name="card">
            <a:extLst>
              <a:ext uri="{C183D7F6-B498-43B3-948B-1728B52AA6E4}">
                <adec:decorative xmlns:adec="http://schemas.microsoft.com/office/drawing/2017/decorative" val="1"/>
              </a:ext>
            </a:extLst>
          </p:cNvPr>
          <p:cNvSpPr/>
          <p:nvPr/>
        </p:nvSpPr>
        <p:spPr>
          <a:xfrm>
            <a:off x="3465576" y="1572768"/>
            <a:ext cx="2615184" cy="1353312"/>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9" name="marker">
            <a:extLst>
              <a:ext uri="{C183D7F6-B498-43B3-948B-1728B52AA6E4}">
                <adec:decorative xmlns:adec="http://schemas.microsoft.com/office/drawing/2017/decorative" val="1"/>
              </a:ext>
            </a:extLst>
          </p:cNvPr>
          <p:cNvSpPr/>
          <p:nvPr/>
        </p:nvSpPr>
        <p:spPr>
          <a:xfrm>
            <a:off x="3465576" y="1572768"/>
            <a:ext cx="82296" cy="1353312"/>
          </a:xfrm>
          <a:prstGeom prst="rect">
            <a:avLst/>
          </a:prstGeom>
          <a:solidFill>
            <a:srgbClr val="128F90"/>
          </a:solidFill>
          <a:ln/>
        </p:spPr>
        <p:txBody>
          <a:bodyPr/>
          <a:lstStyle/>
          <a:p>
            <a:endParaRPr lang="en-GB"/>
          </a:p>
        </p:txBody>
      </p:sp>
      <p:sp>
        <p:nvSpPr>
          <p:cNvPr id="10" name="Text 8">
            <a:extLst>
              <a:ext uri="{C183D7F6-B498-43B3-948B-1728B52AA6E4}">
                <adec:decorative xmlns:adec="http://schemas.microsoft.com/office/drawing/2017/decorative" val="1"/>
              </a:ext>
            </a:extLst>
          </p:cNvPr>
          <p:cNvSpPr/>
          <p:nvPr/>
        </p:nvSpPr>
        <p:spPr>
          <a:xfrm>
            <a:off x="3758184" y="1810512"/>
            <a:ext cx="2157984" cy="548640"/>
          </a:xfrm>
          <a:prstGeom prst="rect">
            <a:avLst/>
          </a:prstGeom>
          <a:noFill/>
          <a:ln/>
        </p:spPr>
        <p:txBody>
          <a:bodyPr wrap="square" lIns="0" tIns="0" rIns="0" bIns="0" rtlCol="0" anchor="ctr"/>
          <a:lstStyle/>
          <a:p>
            <a:pPr marL="0" indent="0">
              <a:buNone/>
            </a:pPr>
            <a:r>
              <a:rPr lang="en-US" sz="2800" b="1" dirty="0">
                <a:solidFill>
                  <a:srgbClr val="0F2C48"/>
                </a:solidFill>
                <a:latin typeface="Calibri Light" pitchFamily="34" charset="0"/>
                <a:ea typeface="Calibri Light" pitchFamily="34" charset="-122"/>
                <a:cs typeface="Calibri Light" pitchFamily="34" charset="-120"/>
              </a:rPr>
              <a:t>92%</a:t>
            </a:r>
            <a:endParaRPr lang="en-US" sz="2800" dirty="0"/>
          </a:p>
        </p:txBody>
      </p:sp>
      <p:sp>
        <p:nvSpPr>
          <p:cNvPr id="11" name="Text 9">
            <a:extLst>
              <a:ext uri="{C183D7F6-B498-43B3-948B-1728B52AA6E4}">
                <adec:decorative xmlns:adec="http://schemas.microsoft.com/office/drawing/2017/decorative" val="1"/>
              </a:ext>
            </a:extLst>
          </p:cNvPr>
          <p:cNvSpPr/>
          <p:nvPr/>
        </p:nvSpPr>
        <p:spPr>
          <a:xfrm>
            <a:off x="3776472" y="2432304"/>
            <a:ext cx="2157984" cy="3200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Acceptance rate</a:t>
            </a:r>
            <a:endParaRPr lang="en-US" sz="1250" dirty="0"/>
          </a:p>
        </p:txBody>
      </p:sp>
      <p:sp>
        <p:nvSpPr>
          <p:cNvPr id="12" name="card">
            <a:extLst>
              <a:ext uri="{C183D7F6-B498-43B3-948B-1728B52AA6E4}">
                <adec:decorative xmlns:adec="http://schemas.microsoft.com/office/drawing/2017/decorative" val="1"/>
              </a:ext>
            </a:extLst>
          </p:cNvPr>
          <p:cNvSpPr/>
          <p:nvPr/>
        </p:nvSpPr>
        <p:spPr>
          <a:xfrm>
            <a:off x="6364224" y="1572768"/>
            <a:ext cx="2615184" cy="1353312"/>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3" name="marker">
            <a:extLst>
              <a:ext uri="{C183D7F6-B498-43B3-948B-1728B52AA6E4}">
                <adec:decorative xmlns:adec="http://schemas.microsoft.com/office/drawing/2017/decorative" val="1"/>
              </a:ext>
            </a:extLst>
          </p:cNvPr>
          <p:cNvSpPr/>
          <p:nvPr/>
        </p:nvSpPr>
        <p:spPr>
          <a:xfrm>
            <a:off x="6364224" y="1572768"/>
            <a:ext cx="82296" cy="1353312"/>
          </a:xfrm>
          <a:prstGeom prst="rect">
            <a:avLst/>
          </a:prstGeom>
          <a:solidFill>
            <a:srgbClr val="128F90"/>
          </a:solidFill>
          <a:ln/>
        </p:spPr>
        <p:txBody>
          <a:bodyPr/>
          <a:lstStyle/>
          <a:p>
            <a:endParaRPr lang="en-GB"/>
          </a:p>
        </p:txBody>
      </p:sp>
      <p:sp>
        <p:nvSpPr>
          <p:cNvPr id="14" name="Text 12"/>
          <p:cNvSpPr/>
          <p:nvPr/>
        </p:nvSpPr>
        <p:spPr>
          <a:xfrm>
            <a:off x="6656832" y="1810512"/>
            <a:ext cx="2157984" cy="548640"/>
          </a:xfrm>
          <a:prstGeom prst="rect">
            <a:avLst/>
          </a:prstGeom>
          <a:noFill/>
          <a:ln/>
        </p:spPr>
        <p:txBody>
          <a:bodyPr wrap="square" lIns="0" tIns="0" rIns="0" bIns="0" rtlCol="0" anchor="ctr"/>
          <a:lstStyle/>
          <a:p>
            <a:pPr marL="0" indent="0">
              <a:buNone/>
            </a:pPr>
            <a:r>
              <a:rPr lang="en-US" sz="2800" b="1" dirty="0">
                <a:solidFill>
                  <a:srgbClr val="0F2C48"/>
                </a:solidFill>
                <a:latin typeface="Calibri Light" pitchFamily="34" charset="0"/>
                <a:ea typeface="Calibri Light" pitchFamily="34" charset="-122"/>
                <a:cs typeface="Calibri Light" pitchFamily="34" charset="-120"/>
              </a:rPr>
              <a:t>88%</a:t>
            </a:r>
            <a:endParaRPr lang="en-US" sz="2800" dirty="0"/>
          </a:p>
        </p:txBody>
      </p:sp>
      <p:sp>
        <p:nvSpPr>
          <p:cNvPr id="15" name="Text 13"/>
          <p:cNvSpPr/>
          <p:nvPr/>
        </p:nvSpPr>
        <p:spPr>
          <a:xfrm>
            <a:off x="6675120" y="2432304"/>
            <a:ext cx="2157984" cy="3200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On-time pickups</a:t>
            </a:r>
            <a:endParaRPr lang="en-US" sz="1250" dirty="0"/>
          </a:p>
        </p:txBody>
      </p:sp>
      <p:sp>
        <p:nvSpPr>
          <p:cNvPr id="16" name="card">
            <a:extLst>
              <a:ext uri="{C183D7F6-B498-43B3-948B-1728B52AA6E4}">
                <adec:decorative xmlns:adec="http://schemas.microsoft.com/office/drawing/2017/decorative" val="1"/>
              </a:ext>
            </a:extLst>
          </p:cNvPr>
          <p:cNvSpPr/>
          <p:nvPr/>
        </p:nvSpPr>
        <p:spPr>
          <a:xfrm>
            <a:off x="566928" y="3127248"/>
            <a:ext cx="2615184" cy="1353312"/>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7" name="marker">
            <a:extLst>
              <a:ext uri="{C183D7F6-B498-43B3-948B-1728B52AA6E4}">
                <adec:decorative xmlns:adec="http://schemas.microsoft.com/office/drawing/2017/decorative" val="1"/>
              </a:ext>
            </a:extLst>
          </p:cNvPr>
          <p:cNvSpPr/>
          <p:nvPr/>
        </p:nvSpPr>
        <p:spPr>
          <a:xfrm>
            <a:off x="566928" y="3127248"/>
            <a:ext cx="82296" cy="1353312"/>
          </a:xfrm>
          <a:prstGeom prst="rect">
            <a:avLst/>
          </a:prstGeom>
          <a:solidFill>
            <a:srgbClr val="128F90"/>
          </a:solidFill>
          <a:ln/>
        </p:spPr>
        <p:txBody>
          <a:bodyPr/>
          <a:lstStyle/>
          <a:p>
            <a:endParaRPr lang="en-GB"/>
          </a:p>
        </p:txBody>
      </p:sp>
      <p:sp>
        <p:nvSpPr>
          <p:cNvPr id="18" name="Text 16"/>
          <p:cNvSpPr/>
          <p:nvPr/>
        </p:nvSpPr>
        <p:spPr>
          <a:xfrm>
            <a:off x="859536" y="3364992"/>
            <a:ext cx="2157984" cy="548640"/>
          </a:xfrm>
          <a:prstGeom prst="rect">
            <a:avLst/>
          </a:prstGeom>
          <a:noFill/>
          <a:ln/>
        </p:spPr>
        <p:txBody>
          <a:bodyPr wrap="square" lIns="0" tIns="0" rIns="0" bIns="0" rtlCol="0" anchor="ctr"/>
          <a:lstStyle/>
          <a:p>
            <a:pPr marL="0" indent="0">
              <a:buNone/>
            </a:pPr>
            <a:r>
              <a:rPr lang="en-US" sz="2800" b="1" dirty="0">
                <a:solidFill>
                  <a:srgbClr val="0F2C48"/>
                </a:solidFill>
                <a:latin typeface="Calibri Light" pitchFamily="34" charset="0"/>
                <a:ea typeface="Calibri Light" pitchFamily="34" charset="-122"/>
                <a:cs typeface="Calibri Light" pitchFamily="34" charset="-120"/>
              </a:rPr>
              <a:t>4.1%</a:t>
            </a:r>
            <a:endParaRPr lang="en-US" sz="2800" dirty="0"/>
          </a:p>
        </p:txBody>
      </p:sp>
      <p:sp>
        <p:nvSpPr>
          <p:cNvPr id="19" name="Text 17"/>
          <p:cNvSpPr/>
          <p:nvPr/>
        </p:nvSpPr>
        <p:spPr>
          <a:xfrm>
            <a:off x="877824" y="3986784"/>
            <a:ext cx="2157984" cy="3200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Cancellation rate</a:t>
            </a:r>
            <a:endParaRPr lang="en-US" sz="1250" dirty="0"/>
          </a:p>
        </p:txBody>
      </p:sp>
      <p:sp>
        <p:nvSpPr>
          <p:cNvPr id="20" name="card">
            <a:extLst>
              <a:ext uri="{C183D7F6-B498-43B3-948B-1728B52AA6E4}">
                <adec:decorative xmlns:adec="http://schemas.microsoft.com/office/drawing/2017/decorative" val="1"/>
              </a:ext>
            </a:extLst>
          </p:cNvPr>
          <p:cNvSpPr/>
          <p:nvPr/>
        </p:nvSpPr>
        <p:spPr>
          <a:xfrm>
            <a:off x="3465576" y="3127248"/>
            <a:ext cx="2615184" cy="1353312"/>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1" name="marker">
            <a:extLst>
              <a:ext uri="{C183D7F6-B498-43B3-948B-1728B52AA6E4}">
                <adec:decorative xmlns:adec="http://schemas.microsoft.com/office/drawing/2017/decorative" val="1"/>
              </a:ext>
            </a:extLst>
          </p:cNvPr>
          <p:cNvSpPr/>
          <p:nvPr/>
        </p:nvSpPr>
        <p:spPr>
          <a:xfrm>
            <a:off x="3465576" y="3127248"/>
            <a:ext cx="82296" cy="1353312"/>
          </a:xfrm>
          <a:prstGeom prst="rect">
            <a:avLst/>
          </a:prstGeom>
          <a:solidFill>
            <a:srgbClr val="128F90"/>
          </a:solidFill>
          <a:ln/>
        </p:spPr>
        <p:txBody>
          <a:bodyPr/>
          <a:lstStyle/>
          <a:p>
            <a:endParaRPr lang="en-GB"/>
          </a:p>
        </p:txBody>
      </p:sp>
      <p:sp>
        <p:nvSpPr>
          <p:cNvPr id="22" name="Text 20"/>
          <p:cNvSpPr/>
          <p:nvPr/>
        </p:nvSpPr>
        <p:spPr>
          <a:xfrm>
            <a:off x="3758184" y="3364992"/>
            <a:ext cx="2157984" cy="548640"/>
          </a:xfrm>
          <a:prstGeom prst="rect">
            <a:avLst/>
          </a:prstGeom>
          <a:noFill/>
          <a:ln/>
        </p:spPr>
        <p:txBody>
          <a:bodyPr wrap="square" lIns="0" tIns="0" rIns="0" bIns="0" rtlCol="0" anchor="ctr"/>
          <a:lstStyle/>
          <a:p>
            <a:pPr marL="0" indent="0">
              <a:buNone/>
            </a:pPr>
            <a:r>
              <a:rPr lang="en-US" sz="2800" b="1" dirty="0">
                <a:solidFill>
                  <a:srgbClr val="0F2C48"/>
                </a:solidFill>
                <a:latin typeface="Calibri Light" pitchFamily="34" charset="0"/>
                <a:ea typeface="Calibri Light" pitchFamily="34" charset="-122"/>
                <a:cs typeface="Calibri Light" pitchFamily="34" charset="-120"/>
              </a:rPr>
              <a:t>Top 10%</a:t>
            </a:r>
            <a:endParaRPr lang="en-US" sz="2800" dirty="0"/>
          </a:p>
        </p:txBody>
      </p:sp>
      <p:sp>
        <p:nvSpPr>
          <p:cNvPr id="23" name="Text 21"/>
          <p:cNvSpPr/>
          <p:nvPr/>
        </p:nvSpPr>
        <p:spPr>
          <a:xfrm>
            <a:off x="3776472" y="3986784"/>
            <a:ext cx="2157984" cy="3200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Elite performers</a:t>
            </a:r>
            <a:endParaRPr lang="en-US" sz="1250" dirty="0"/>
          </a:p>
        </p:txBody>
      </p:sp>
      <p:sp>
        <p:nvSpPr>
          <p:cNvPr id="24" name="card">
            <a:extLst>
              <a:ext uri="{C183D7F6-B498-43B3-948B-1728B52AA6E4}">
                <adec:decorative xmlns:adec="http://schemas.microsoft.com/office/drawing/2017/decorative" val="1"/>
              </a:ext>
            </a:extLst>
          </p:cNvPr>
          <p:cNvSpPr/>
          <p:nvPr/>
        </p:nvSpPr>
        <p:spPr>
          <a:xfrm>
            <a:off x="6364224" y="3127248"/>
            <a:ext cx="2615184" cy="1353312"/>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25" name="marker">
            <a:extLst>
              <a:ext uri="{C183D7F6-B498-43B3-948B-1728B52AA6E4}">
                <adec:decorative xmlns:adec="http://schemas.microsoft.com/office/drawing/2017/decorative" val="1"/>
              </a:ext>
            </a:extLst>
          </p:cNvPr>
          <p:cNvSpPr/>
          <p:nvPr/>
        </p:nvSpPr>
        <p:spPr>
          <a:xfrm>
            <a:off x="6364224" y="3127248"/>
            <a:ext cx="82296" cy="1353312"/>
          </a:xfrm>
          <a:prstGeom prst="rect">
            <a:avLst/>
          </a:prstGeom>
          <a:solidFill>
            <a:srgbClr val="128F90"/>
          </a:solidFill>
          <a:ln/>
        </p:spPr>
        <p:txBody>
          <a:bodyPr/>
          <a:lstStyle/>
          <a:p>
            <a:endParaRPr lang="en-GB"/>
          </a:p>
        </p:txBody>
      </p:sp>
      <p:sp>
        <p:nvSpPr>
          <p:cNvPr id="26" name="Text 24"/>
          <p:cNvSpPr/>
          <p:nvPr/>
        </p:nvSpPr>
        <p:spPr>
          <a:xfrm>
            <a:off x="6656832" y="3364992"/>
            <a:ext cx="2157984" cy="548640"/>
          </a:xfrm>
          <a:prstGeom prst="rect">
            <a:avLst/>
          </a:prstGeom>
          <a:noFill/>
          <a:ln/>
        </p:spPr>
        <p:txBody>
          <a:bodyPr wrap="square" lIns="0" tIns="0" rIns="0" bIns="0" rtlCol="0" anchor="ctr"/>
          <a:lstStyle/>
          <a:p>
            <a:pPr marL="0" indent="0">
              <a:buNone/>
            </a:pPr>
            <a:r>
              <a:rPr lang="en-US" sz="2800" b="1" dirty="0">
                <a:solidFill>
                  <a:srgbClr val="0F2C48"/>
                </a:solidFill>
                <a:latin typeface="Calibri Light" pitchFamily="34" charset="0"/>
                <a:ea typeface="Calibri Light" pitchFamily="34" charset="-122"/>
                <a:cs typeface="Calibri Light" pitchFamily="34" charset="-120"/>
              </a:rPr>
              <a:t>3.2K</a:t>
            </a:r>
            <a:endParaRPr lang="en-US" sz="2800" dirty="0"/>
          </a:p>
        </p:txBody>
      </p:sp>
      <p:sp>
        <p:nvSpPr>
          <p:cNvPr id="27" name="Text 25"/>
          <p:cNvSpPr/>
          <p:nvPr/>
        </p:nvSpPr>
        <p:spPr>
          <a:xfrm>
            <a:off x="6675120" y="3986784"/>
            <a:ext cx="2157984" cy="3200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Ranked drivers</a:t>
            </a:r>
            <a:endParaRPr lang="en-US" sz="1250" dirty="0"/>
          </a:p>
        </p:txBody>
      </p:sp>
      <p:sp>
        <p:nvSpPr>
          <p:cNvPr id="28" name="Text 26"/>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09</a:t>
            </a:r>
            <a:endParaRPr lang="en-US" sz="1100" dirty="0"/>
          </a:p>
        </p:txBody>
      </p:sp>
      <p:sp>
        <p:nvSpPr>
          <p:cNvPr id="29" name="Text 27"/>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30" name="Text 28"/>
          <p:cNvSpPr/>
          <p:nvPr/>
        </p:nvSpPr>
        <p:spPr>
          <a:xfrm>
            <a:off x="3474720" y="4704588"/>
            <a:ext cx="3108960" cy="274320"/>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MLFLOW</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Experiment tracking &amp; registry</a:t>
            </a:r>
            <a:endParaRPr lang="en-US" sz="3300" dirty="0"/>
          </a:p>
        </p:txBody>
      </p:sp>
      <p:sp>
        <p:nvSpPr>
          <p:cNvPr id="4" name="lifecycle">
            <a:extLst>
              <a:ext uri="{C183D7F6-B498-43B3-948B-1728B52AA6E4}">
                <adec:decorative xmlns:adec="http://schemas.microsoft.com/office/drawing/2017/decorative" val="1"/>
              </a:ext>
            </a:extLst>
          </p:cNvPr>
          <p:cNvSpPr/>
          <p:nvPr/>
        </p:nvSpPr>
        <p:spPr>
          <a:xfrm>
            <a:off x="566928" y="1691640"/>
            <a:ext cx="2615184" cy="1874520"/>
          </a:xfrm>
          <a:prstGeom prst="rect">
            <a:avLst/>
          </a:prstGeom>
          <a:solidFill>
            <a:srgbClr val="0F2C48"/>
          </a:solidFill>
          <a:ln/>
          <a:effectLst>
            <a:outerShdw blurRad="114300" dist="38100" dir="5400000" algn="bl" rotWithShape="0">
              <a:srgbClr val="9FB2B8">
                <a:alpha val="22000"/>
              </a:srgbClr>
            </a:outerShdw>
          </a:effectLst>
        </p:spPr>
        <p:txBody>
          <a:bodyPr/>
          <a:lstStyle/>
          <a:p>
            <a:endParaRPr lang="en-GB"/>
          </a:p>
        </p:txBody>
      </p:sp>
      <p:sp>
        <p:nvSpPr>
          <p:cNvPr id="5" name="Text 3">
            <a:extLst>
              <a:ext uri="{C183D7F6-B498-43B3-948B-1728B52AA6E4}">
                <adec:decorative xmlns:adec="http://schemas.microsoft.com/office/drawing/2017/decorative" val="1"/>
              </a:ext>
            </a:extLst>
          </p:cNvPr>
          <p:cNvSpPr/>
          <p:nvPr/>
        </p:nvSpPr>
        <p:spPr>
          <a:xfrm>
            <a:off x="822960" y="1929384"/>
            <a:ext cx="1097280" cy="457200"/>
          </a:xfrm>
          <a:prstGeom prst="rect">
            <a:avLst/>
          </a:prstGeom>
          <a:noFill/>
          <a:ln/>
        </p:spPr>
        <p:txBody>
          <a:bodyPr wrap="square" lIns="0" tIns="0" rIns="0" bIns="0" rtlCol="0" anchor="ctr"/>
          <a:lstStyle/>
          <a:p>
            <a:pPr marL="0" indent="0">
              <a:buNone/>
            </a:pPr>
            <a:r>
              <a:rPr lang="en-US" sz="2600" b="1" dirty="0">
                <a:solidFill>
                  <a:srgbClr val="3FB0AE"/>
                </a:solidFill>
                <a:latin typeface="Calibri Light" pitchFamily="34" charset="0"/>
                <a:ea typeface="Calibri Light" pitchFamily="34" charset="-122"/>
                <a:cs typeface="Calibri Light" pitchFamily="34" charset="-120"/>
              </a:rPr>
              <a:t>01</a:t>
            </a:r>
            <a:endParaRPr lang="en-US" sz="2600" dirty="0"/>
          </a:p>
        </p:txBody>
      </p:sp>
      <p:sp>
        <p:nvSpPr>
          <p:cNvPr id="6" name="Text 4"/>
          <p:cNvSpPr/>
          <p:nvPr/>
        </p:nvSpPr>
        <p:spPr>
          <a:xfrm>
            <a:off x="822960" y="2478024"/>
            <a:ext cx="2157984" cy="41148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Experiment tracking</a:t>
            </a:r>
            <a:endParaRPr lang="en-US" sz="1650" dirty="0"/>
          </a:p>
        </p:txBody>
      </p:sp>
      <p:sp>
        <p:nvSpPr>
          <p:cNvPr id="7" name="Text 5"/>
          <p:cNvSpPr/>
          <p:nvPr/>
        </p:nvSpPr>
        <p:spPr>
          <a:xfrm>
            <a:off x="822960" y="2880360"/>
            <a:ext cx="2157984" cy="640080"/>
          </a:xfrm>
          <a:prstGeom prst="rect">
            <a:avLst/>
          </a:prstGeom>
          <a:noFill/>
          <a:ln/>
        </p:spPr>
        <p:txBody>
          <a:bodyPr wrap="square" lIns="0" tIns="0" rIns="0" bIns="0" rtlCol="0" anchor="ctr"/>
          <a:lstStyle/>
          <a:p>
            <a:pPr marL="0" indent="0">
              <a:buNone/>
            </a:pPr>
            <a:r>
              <a:rPr lang="en-US" sz="1200" dirty="0">
                <a:solidFill>
                  <a:srgbClr val="CBD8DE"/>
                </a:solidFill>
                <a:latin typeface="Calibri" pitchFamily="34" charset="0"/>
                <a:ea typeface="Calibri" pitchFamily="34" charset="-122"/>
                <a:cs typeface="Calibri" pitchFamily="34" charset="-120"/>
              </a:rPr>
              <a:t>Log parameters, metrics and artifacts for every run.</a:t>
            </a:r>
            <a:endParaRPr lang="en-US" sz="1200" dirty="0"/>
          </a:p>
        </p:txBody>
      </p:sp>
      <p:sp>
        <p:nvSpPr>
          <p:cNvPr id="8" name="arrow">
            <a:extLst>
              <a:ext uri="{C183D7F6-B498-43B3-948B-1728B52AA6E4}">
                <adec:decorative xmlns:adec="http://schemas.microsoft.com/office/drawing/2017/decorative" val="1"/>
              </a:ext>
            </a:extLst>
          </p:cNvPr>
          <p:cNvSpPr/>
          <p:nvPr/>
        </p:nvSpPr>
        <p:spPr>
          <a:xfrm>
            <a:off x="3200400" y="2510028"/>
            <a:ext cx="246888" cy="237744"/>
          </a:xfrm>
          <a:prstGeom prst="chevron">
            <a:avLst/>
          </a:prstGeom>
          <a:solidFill>
            <a:srgbClr val="128F90"/>
          </a:solidFill>
          <a:ln/>
        </p:spPr>
        <p:txBody>
          <a:bodyPr/>
          <a:lstStyle/>
          <a:p>
            <a:endParaRPr lang="en-GB"/>
          </a:p>
        </p:txBody>
      </p:sp>
      <p:sp>
        <p:nvSpPr>
          <p:cNvPr id="9" name="lifecycle">
            <a:extLst>
              <a:ext uri="{C183D7F6-B498-43B3-948B-1728B52AA6E4}">
                <adec:decorative xmlns:adec="http://schemas.microsoft.com/office/drawing/2017/decorative" val="1"/>
              </a:ext>
            </a:extLst>
          </p:cNvPr>
          <p:cNvSpPr/>
          <p:nvPr/>
        </p:nvSpPr>
        <p:spPr>
          <a:xfrm>
            <a:off x="3465576" y="1691640"/>
            <a:ext cx="2615184" cy="1874520"/>
          </a:xfrm>
          <a:prstGeom prst="rect">
            <a:avLst/>
          </a:prstGeom>
          <a:solidFill>
            <a:srgbClr val="16436B"/>
          </a:solidFill>
          <a:ln/>
          <a:effectLst>
            <a:outerShdw blurRad="114300" dist="38100" dir="5400000" algn="bl" rotWithShape="0">
              <a:srgbClr val="9FB2B8">
                <a:alpha val="22000"/>
              </a:srgbClr>
            </a:outerShdw>
          </a:effectLst>
        </p:spPr>
        <p:txBody>
          <a:bodyPr/>
          <a:lstStyle/>
          <a:p>
            <a:endParaRPr lang="en-GB"/>
          </a:p>
        </p:txBody>
      </p:sp>
      <p:sp>
        <p:nvSpPr>
          <p:cNvPr id="10" name="Text 8"/>
          <p:cNvSpPr/>
          <p:nvPr/>
        </p:nvSpPr>
        <p:spPr>
          <a:xfrm>
            <a:off x="3721608" y="1929384"/>
            <a:ext cx="1097280" cy="457200"/>
          </a:xfrm>
          <a:prstGeom prst="rect">
            <a:avLst/>
          </a:prstGeom>
          <a:noFill/>
          <a:ln/>
        </p:spPr>
        <p:txBody>
          <a:bodyPr wrap="square" lIns="0" tIns="0" rIns="0" bIns="0" rtlCol="0" anchor="ctr"/>
          <a:lstStyle/>
          <a:p>
            <a:pPr marL="0" indent="0">
              <a:buNone/>
            </a:pPr>
            <a:r>
              <a:rPr lang="en-US" sz="2600" b="1" dirty="0">
                <a:solidFill>
                  <a:srgbClr val="3FB0AE"/>
                </a:solidFill>
                <a:latin typeface="Calibri Light" pitchFamily="34" charset="0"/>
                <a:ea typeface="Calibri Light" pitchFamily="34" charset="-122"/>
                <a:cs typeface="Calibri Light" pitchFamily="34" charset="-120"/>
              </a:rPr>
              <a:t>02</a:t>
            </a:r>
            <a:endParaRPr lang="en-US" sz="2600" dirty="0"/>
          </a:p>
        </p:txBody>
      </p:sp>
      <p:sp>
        <p:nvSpPr>
          <p:cNvPr id="11" name="Text 9"/>
          <p:cNvSpPr/>
          <p:nvPr/>
        </p:nvSpPr>
        <p:spPr>
          <a:xfrm>
            <a:off x="3721608" y="2478024"/>
            <a:ext cx="2157984" cy="41148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Model registry</a:t>
            </a:r>
            <a:endParaRPr lang="en-US" sz="1650" dirty="0"/>
          </a:p>
        </p:txBody>
      </p:sp>
      <p:sp>
        <p:nvSpPr>
          <p:cNvPr id="12" name="Text 10"/>
          <p:cNvSpPr/>
          <p:nvPr/>
        </p:nvSpPr>
        <p:spPr>
          <a:xfrm>
            <a:off x="3721608" y="2880360"/>
            <a:ext cx="2157984" cy="640080"/>
          </a:xfrm>
          <a:prstGeom prst="rect">
            <a:avLst/>
          </a:prstGeom>
          <a:noFill/>
          <a:ln/>
        </p:spPr>
        <p:txBody>
          <a:bodyPr wrap="square" lIns="0" tIns="0" rIns="0" bIns="0" rtlCol="0" anchor="ctr"/>
          <a:lstStyle/>
          <a:p>
            <a:pPr marL="0" indent="0">
              <a:buNone/>
            </a:pPr>
            <a:r>
              <a:rPr lang="en-US" sz="1200" dirty="0">
                <a:solidFill>
                  <a:srgbClr val="CBD8DE"/>
                </a:solidFill>
                <a:latin typeface="Calibri" pitchFamily="34" charset="0"/>
                <a:ea typeface="Calibri" pitchFamily="34" charset="-122"/>
                <a:cs typeface="Calibri" pitchFamily="34" charset="-120"/>
              </a:rPr>
              <a:t>Register champion models in a central store.</a:t>
            </a:r>
            <a:endParaRPr lang="en-US" sz="1200" dirty="0"/>
          </a:p>
        </p:txBody>
      </p:sp>
      <p:sp>
        <p:nvSpPr>
          <p:cNvPr id="13" name="arrow">
            <a:extLst>
              <a:ext uri="{C183D7F6-B498-43B3-948B-1728B52AA6E4}">
                <adec:decorative xmlns:adec="http://schemas.microsoft.com/office/drawing/2017/decorative" val="1"/>
              </a:ext>
            </a:extLst>
          </p:cNvPr>
          <p:cNvSpPr/>
          <p:nvPr/>
        </p:nvSpPr>
        <p:spPr>
          <a:xfrm>
            <a:off x="6099048" y="2510028"/>
            <a:ext cx="246888" cy="237744"/>
          </a:xfrm>
          <a:prstGeom prst="chevron">
            <a:avLst/>
          </a:prstGeom>
          <a:solidFill>
            <a:srgbClr val="128F90"/>
          </a:solidFill>
          <a:ln/>
        </p:spPr>
        <p:txBody>
          <a:bodyPr/>
          <a:lstStyle/>
          <a:p>
            <a:endParaRPr lang="en-GB"/>
          </a:p>
        </p:txBody>
      </p:sp>
      <p:sp>
        <p:nvSpPr>
          <p:cNvPr id="14" name="lifecycle">
            <a:extLst>
              <a:ext uri="{C183D7F6-B498-43B3-948B-1728B52AA6E4}">
                <adec:decorative xmlns:adec="http://schemas.microsoft.com/office/drawing/2017/decorative" val="1"/>
              </a:ext>
            </a:extLst>
          </p:cNvPr>
          <p:cNvSpPr/>
          <p:nvPr/>
        </p:nvSpPr>
        <p:spPr>
          <a:xfrm>
            <a:off x="6364224" y="1691640"/>
            <a:ext cx="2615184" cy="1874520"/>
          </a:xfrm>
          <a:prstGeom prst="rect">
            <a:avLst/>
          </a:prstGeom>
          <a:solidFill>
            <a:srgbClr val="0F2C48"/>
          </a:solidFill>
          <a:ln/>
          <a:effectLst>
            <a:outerShdw blurRad="114300" dist="38100" dir="5400000" algn="bl" rotWithShape="0">
              <a:srgbClr val="9FB2B8">
                <a:alpha val="22000"/>
              </a:srgbClr>
            </a:outerShdw>
          </a:effectLst>
        </p:spPr>
        <p:txBody>
          <a:bodyPr/>
          <a:lstStyle/>
          <a:p>
            <a:endParaRPr lang="en-GB"/>
          </a:p>
        </p:txBody>
      </p:sp>
      <p:sp>
        <p:nvSpPr>
          <p:cNvPr id="15" name="Text 13"/>
          <p:cNvSpPr/>
          <p:nvPr/>
        </p:nvSpPr>
        <p:spPr>
          <a:xfrm>
            <a:off x="6620256" y="1929384"/>
            <a:ext cx="1097280" cy="457200"/>
          </a:xfrm>
          <a:prstGeom prst="rect">
            <a:avLst/>
          </a:prstGeom>
          <a:noFill/>
          <a:ln/>
        </p:spPr>
        <p:txBody>
          <a:bodyPr wrap="square" lIns="0" tIns="0" rIns="0" bIns="0" rtlCol="0" anchor="ctr"/>
          <a:lstStyle/>
          <a:p>
            <a:pPr marL="0" indent="0">
              <a:buNone/>
            </a:pPr>
            <a:r>
              <a:rPr lang="en-US" sz="2600" b="1" dirty="0">
                <a:solidFill>
                  <a:srgbClr val="3FB0AE"/>
                </a:solidFill>
                <a:latin typeface="Calibri Light" pitchFamily="34" charset="0"/>
                <a:ea typeface="Calibri Light" pitchFamily="34" charset="-122"/>
                <a:cs typeface="Calibri Light" pitchFamily="34" charset="-120"/>
              </a:rPr>
              <a:t>03</a:t>
            </a:r>
            <a:endParaRPr lang="en-US" sz="2600" dirty="0"/>
          </a:p>
        </p:txBody>
      </p:sp>
      <p:sp>
        <p:nvSpPr>
          <p:cNvPr id="16" name="Text 14"/>
          <p:cNvSpPr/>
          <p:nvPr/>
        </p:nvSpPr>
        <p:spPr>
          <a:xfrm>
            <a:off x="6620256" y="2478024"/>
            <a:ext cx="2157984" cy="41148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Versioning</a:t>
            </a:r>
            <a:endParaRPr lang="en-US" sz="1650" dirty="0"/>
          </a:p>
        </p:txBody>
      </p:sp>
      <p:sp>
        <p:nvSpPr>
          <p:cNvPr id="17" name="Text 15"/>
          <p:cNvSpPr/>
          <p:nvPr/>
        </p:nvSpPr>
        <p:spPr>
          <a:xfrm>
            <a:off x="6620256" y="2880360"/>
            <a:ext cx="2157984" cy="640080"/>
          </a:xfrm>
          <a:prstGeom prst="rect">
            <a:avLst/>
          </a:prstGeom>
          <a:noFill/>
          <a:ln/>
        </p:spPr>
        <p:txBody>
          <a:bodyPr wrap="square" lIns="0" tIns="0" rIns="0" bIns="0" rtlCol="0" anchor="ctr"/>
          <a:lstStyle/>
          <a:p>
            <a:pPr marL="0" indent="0">
              <a:buNone/>
            </a:pPr>
            <a:r>
              <a:rPr lang="en-US" sz="1200" dirty="0">
                <a:solidFill>
                  <a:srgbClr val="CBD8DE"/>
                </a:solidFill>
                <a:latin typeface="Calibri" pitchFamily="34" charset="0"/>
                <a:ea typeface="Calibri" pitchFamily="34" charset="-122"/>
                <a:cs typeface="Calibri" pitchFamily="34" charset="-120"/>
              </a:rPr>
              <a:t>Promote versions across staging and production.</a:t>
            </a:r>
            <a:endParaRPr lang="en-US" sz="1200" dirty="0"/>
          </a:p>
        </p:txBody>
      </p:sp>
      <p:sp>
        <p:nvSpPr>
          <p:cNvPr id="18" name="Text 16">
            <a:extLst>
              <a:ext uri="{C183D7F6-B498-43B3-948B-1728B52AA6E4}">
                <adec:decorative xmlns:adec="http://schemas.microsoft.com/office/drawing/2017/decorative" val="1"/>
              </a:ext>
            </a:extLst>
          </p:cNvPr>
          <p:cNvSpPr/>
          <p:nvPr/>
        </p:nvSpPr>
        <p:spPr>
          <a:xfrm>
            <a:off x="566928" y="3794760"/>
            <a:ext cx="2615184" cy="457200"/>
          </a:xfrm>
          <a:prstGeom prst="rect">
            <a:avLst/>
          </a:prstGeom>
          <a:noFill/>
          <a:ln/>
        </p:spPr>
        <p:txBody>
          <a:bodyPr wrap="square" lIns="0" tIns="0" rIns="0" bIns="0" rtlCol="0" anchor="ctr"/>
          <a:lstStyle/>
          <a:p>
            <a:pPr marL="0" indent="0" algn="ctr">
              <a:buNone/>
            </a:pPr>
            <a:r>
              <a:rPr lang="en-US" sz="2200" b="1" dirty="0">
                <a:solidFill>
                  <a:srgbClr val="128F90"/>
                </a:solidFill>
                <a:latin typeface="Calibri Light" pitchFamily="34" charset="0"/>
                <a:ea typeface="Calibri Light" pitchFamily="34" charset="-122"/>
                <a:cs typeface="Calibri Light" pitchFamily="34" charset="-120"/>
              </a:rPr>
              <a:t>120+  </a:t>
            </a:r>
            <a:r>
              <a:rPr lang="en-US" sz="1300" dirty="0">
                <a:solidFill>
                  <a:srgbClr val="3F5261"/>
                </a:solidFill>
                <a:latin typeface="Calibri" pitchFamily="34" charset="0"/>
                <a:ea typeface="Calibri" pitchFamily="34" charset="-122"/>
                <a:cs typeface="Calibri" pitchFamily="34" charset="-120"/>
              </a:rPr>
              <a:t>runs tracked</a:t>
            </a:r>
            <a:endParaRPr lang="en-US" sz="2200" dirty="0"/>
          </a:p>
        </p:txBody>
      </p:sp>
      <p:sp>
        <p:nvSpPr>
          <p:cNvPr id="19" name="Text 17">
            <a:extLst>
              <a:ext uri="{C183D7F6-B498-43B3-948B-1728B52AA6E4}">
                <adec:decorative xmlns:adec="http://schemas.microsoft.com/office/drawing/2017/decorative" val="1"/>
              </a:ext>
            </a:extLst>
          </p:cNvPr>
          <p:cNvSpPr/>
          <p:nvPr/>
        </p:nvSpPr>
        <p:spPr>
          <a:xfrm>
            <a:off x="3465576" y="3794760"/>
            <a:ext cx="2615184" cy="457200"/>
          </a:xfrm>
          <a:prstGeom prst="rect">
            <a:avLst/>
          </a:prstGeom>
          <a:noFill/>
          <a:ln/>
        </p:spPr>
        <p:txBody>
          <a:bodyPr wrap="square" lIns="0" tIns="0" rIns="0" bIns="0" rtlCol="0" anchor="ctr"/>
          <a:lstStyle/>
          <a:p>
            <a:pPr marL="0" indent="0" algn="ctr">
              <a:buNone/>
            </a:pPr>
            <a:r>
              <a:rPr lang="en-US" sz="2200" b="1" dirty="0">
                <a:solidFill>
                  <a:srgbClr val="128F90"/>
                </a:solidFill>
                <a:latin typeface="Calibri Light" pitchFamily="34" charset="0"/>
                <a:ea typeface="Calibri Light" pitchFamily="34" charset="-122"/>
                <a:cs typeface="Calibri Light" pitchFamily="34" charset="-120"/>
              </a:rPr>
              <a:t>8  </a:t>
            </a:r>
            <a:r>
              <a:rPr lang="en-US" sz="1300" dirty="0">
                <a:solidFill>
                  <a:srgbClr val="3F5261"/>
                </a:solidFill>
                <a:latin typeface="Calibri" pitchFamily="34" charset="0"/>
                <a:ea typeface="Calibri" pitchFamily="34" charset="-122"/>
                <a:cs typeface="Calibri" pitchFamily="34" charset="-120"/>
              </a:rPr>
              <a:t>models registered</a:t>
            </a:r>
            <a:endParaRPr lang="en-US" sz="2200" dirty="0"/>
          </a:p>
        </p:txBody>
      </p:sp>
      <p:sp>
        <p:nvSpPr>
          <p:cNvPr id="20" name="Text 18"/>
          <p:cNvSpPr/>
          <p:nvPr/>
        </p:nvSpPr>
        <p:spPr>
          <a:xfrm>
            <a:off x="6364224" y="3794760"/>
            <a:ext cx="2615184" cy="457200"/>
          </a:xfrm>
          <a:prstGeom prst="rect">
            <a:avLst/>
          </a:prstGeom>
          <a:noFill/>
          <a:ln/>
        </p:spPr>
        <p:txBody>
          <a:bodyPr wrap="square" lIns="0" tIns="0" rIns="0" bIns="0" rtlCol="0" anchor="ctr"/>
          <a:lstStyle/>
          <a:p>
            <a:pPr marL="0" indent="0" algn="ctr">
              <a:buNone/>
            </a:pPr>
            <a:r>
              <a:rPr lang="en-US" sz="2200" b="1" dirty="0">
                <a:solidFill>
                  <a:srgbClr val="128F90"/>
                </a:solidFill>
                <a:latin typeface="Calibri Light" pitchFamily="34" charset="0"/>
                <a:ea typeface="Calibri Light" pitchFamily="34" charset="-122"/>
                <a:cs typeface="Calibri Light" pitchFamily="34" charset="-120"/>
              </a:rPr>
              <a:t>100%  </a:t>
            </a:r>
            <a:r>
              <a:rPr lang="en-US" sz="1300" dirty="0">
                <a:solidFill>
                  <a:srgbClr val="3F5261"/>
                </a:solidFill>
                <a:latin typeface="Calibri" pitchFamily="34" charset="0"/>
                <a:ea typeface="Calibri" pitchFamily="34" charset="-122"/>
                <a:cs typeface="Calibri" pitchFamily="34" charset="-120"/>
              </a:rPr>
              <a:t>reproducible</a:t>
            </a:r>
            <a:endParaRPr lang="en-US" sz="2200" dirty="0"/>
          </a:p>
        </p:txBody>
      </p:sp>
      <p:sp>
        <p:nvSpPr>
          <p:cNvPr id="21" name="Text 19"/>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10</a:t>
            </a:r>
            <a:endParaRPr lang="en-US" sz="1100" dirty="0"/>
          </a:p>
        </p:txBody>
      </p:sp>
      <p:sp>
        <p:nvSpPr>
          <p:cNvPr id="22" name="Text 20"/>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
        <p:nvSpPr>
          <p:cNvPr id="23" name="Text 21"/>
          <p:cNvSpPr/>
          <p:nvPr/>
        </p:nvSpPr>
        <p:spPr>
          <a:xfrm>
            <a:off x="3474720" y="4704588"/>
            <a:ext cx="3108960" cy="274320"/>
          </a:xfrm>
          <a:prstGeom prst="rect">
            <a:avLst/>
          </a:prstGeom>
          <a:noFill/>
          <a:ln/>
        </p:spPr>
        <p:txBody>
          <a:bodyPr wrap="square" lIns="0" tIns="0" rIns="0" bIns="0" rtlCol="0" anchor="ctr"/>
          <a:lstStyle/>
          <a:p>
            <a:pPr marL="0" indent="0" algn="ctr">
              <a:buNone/>
            </a:pPr>
            <a:r>
              <a:rPr lang="en-US" sz="1000" i="1" dirty="0">
                <a:solidFill>
                  <a:srgbClr val="8195A0"/>
                </a:solidFill>
                <a:latin typeface="Calibri" pitchFamily="34" charset="0"/>
                <a:ea typeface="Calibri" pitchFamily="34" charset="-122"/>
                <a:cs typeface="Calibri" pitchFamily="34" charset="-120"/>
              </a:rPr>
              <a:t>Illustrative figures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API DEPLOYMENT</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Real-time scoring with FastAPI</a:t>
            </a:r>
            <a:endParaRPr lang="en-US" sz="3300" dirty="0"/>
          </a:p>
        </p:txBody>
      </p:sp>
      <p:sp>
        <p:nvSpPr>
          <p:cNvPr id="4" name="card">
            <a:extLst>
              <a:ext uri="{C183D7F6-B498-43B3-948B-1728B52AA6E4}">
                <adec:decorative xmlns:adec="http://schemas.microsoft.com/office/drawing/2017/decorative" val="1"/>
              </a:ext>
            </a:extLst>
          </p:cNvPr>
          <p:cNvSpPr/>
          <p:nvPr/>
        </p:nvSpPr>
        <p:spPr>
          <a:xfrm>
            <a:off x="566928" y="1554480"/>
            <a:ext cx="2331720" cy="11887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5" name="accent">
            <a:extLst>
              <a:ext uri="{C183D7F6-B498-43B3-948B-1728B52AA6E4}">
                <adec:decorative xmlns:adec="http://schemas.microsoft.com/office/drawing/2017/decorative" val="1"/>
              </a:ext>
            </a:extLst>
          </p:cNvPr>
          <p:cNvSpPr/>
          <p:nvPr/>
        </p:nvSpPr>
        <p:spPr>
          <a:xfrm>
            <a:off x="566928" y="1554480"/>
            <a:ext cx="2331720" cy="82296"/>
          </a:xfrm>
          <a:prstGeom prst="rect">
            <a:avLst/>
          </a:prstGeom>
          <a:solidFill>
            <a:srgbClr val="128F90"/>
          </a:solidFill>
          <a:ln/>
        </p:spPr>
        <p:txBody>
          <a:bodyPr/>
          <a:lstStyle/>
          <a:p>
            <a:endParaRPr lang="en-GB"/>
          </a:p>
        </p:txBody>
      </p:sp>
      <p:sp>
        <p:nvSpPr>
          <p:cNvPr id="6" name="Text 4"/>
          <p:cNvSpPr/>
          <p:nvPr/>
        </p:nvSpPr>
        <p:spPr>
          <a:xfrm>
            <a:off x="786384" y="1792224"/>
            <a:ext cx="1920240" cy="384048"/>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Client</a:t>
            </a:r>
            <a:endParaRPr lang="en-US" sz="1650" dirty="0"/>
          </a:p>
        </p:txBody>
      </p:sp>
      <p:sp>
        <p:nvSpPr>
          <p:cNvPr id="7" name="Text 5"/>
          <p:cNvSpPr/>
          <p:nvPr/>
        </p:nvSpPr>
        <p:spPr>
          <a:xfrm>
            <a:off x="786384" y="2212848"/>
            <a:ext cx="1920240" cy="411480"/>
          </a:xfrm>
          <a:prstGeom prst="rect">
            <a:avLst/>
          </a:prstGeom>
          <a:noFill/>
          <a:ln/>
        </p:spPr>
        <p:txBody>
          <a:bodyPr wrap="square" lIns="0" tIns="0" rIns="0" bIns="0" rtlCol="0" anchor="ctr"/>
          <a:lstStyle/>
          <a:p>
            <a:pPr marL="0" indent="0">
              <a:buNone/>
            </a:pPr>
            <a:r>
              <a:rPr lang="en-US" sz="1200" dirty="0">
                <a:solidFill>
                  <a:srgbClr val="3F5261"/>
                </a:solidFill>
                <a:latin typeface="Calibri" pitchFamily="34" charset="0"/>
                <a:ea typeface="Calibri" pitchFamily="34" charset="-122"/>
                <a:cs typeface="Calibri" pitchFamily="34" charset="-120"/>
              </a:rPr>
              <a:t>Sends rider features</a:t>
            </a:r>
            <a:endParaRPr lang="en-US" sz="1200" dirty="0"/>
          </a:p>
        </p:txBody>
      </p:sp>
      <p:sp>
        <p:nvSpPr>
          <p:cNvPr id="8" name="arrow">
            <a:extLst>
              <a:ext uri="{C183D7F6-B498-43B3-948B-1728B52AA6E4}">
                <adec:decorative xmlns:adec="http://schemas.microsoft.com/office/drawing/2017/decorative" val="1"/>
              </a:ext>
            </a:extLst>
          </p:cNvPr>
          <p:cNvSpPr/>
          <p:nvPr/>
        </p:nvSpPr>
        <p:spPr>
          <a:xfrm>
            <a:off x="2935224" y="2029968"/>
            <a:ext cx="246888" cy="237744"/>
          </a:xfrm>
          <a:prstGeom prst="chevron">
            <a:avLst/>
          </a:prstGeom>
          <a:solidFill>
            <a:srgbClr val="3FB0AE"/>
          </a:solidFill>
          <a:ln/>
        </p:spPr>
        <p:txBody>
          <a:bodyPr/>
          <a:lstStyle/>
          <a:p>
            <a:endParaRPr lang="en-GB"/>
          </a:p>
        </p:txBody>
      </p:sp>
      <p:sp>
        <p:nvSpPr>
          <p:cNvPr id="9" name="card">
            <a:extLst>
              <a:ext uri="{C183D7F6-B498-43B3-948B-1728B52AA6E4}">
                <adec:decorative xmlns:adec="http://schemas.microsoft.com/office/drawing/2017/decorative" val="1"/>
              </a:ext>
            </a:extLst>
          </p:cNvPr>
          <p:cNvSpPr/>
          <p:nvPr/>
        </p:nvSpPr>
        <p:spPr>
          <a:xfrm>
            <a:off x="3218688" y="1554480"/>
            <a:ext cx="2331720" cy="11887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0" name="accent">
            <a:extLst>
              <a:ext uri="{C183D7F6-B498-43B3-948B-1728B52AA6E4}">
                <adec:decorative xmlns:adec="http://schemas.microsoft.com/office/drawing/2017/decorative" val="1"/>
              </a:ext>
            </a:extLst>
          </p:cNvPr>
          <p:cNvSpPr/>
          <p:nvPr/>
        </p:nvSpPr>
        <p:spPr>
          <a:xfrm>
            <a:off x="3218688" y="1554480"/>
            <a:ext cx="2331720" cy="82296"/>
          </a:xfrm>
          <a:prstGeom prst="rect">
            <a:avLst/>
          </a:prstGeom>
          <a:solidFill>
            <a:srgbClr val="128F90"/>
          </a:solidFill>
          <a:ln/>
        </p:spPr>
        <p:txBody>
          <a:bodyPr/>
          <a:lstStyle/>
          <a:p>
            <a:endParaRPr lang="en-GB"/>
          </a:p>
        </p:txBody>
      </p:sp>
      <p:sp>
        <p:nvSpPr>
          <p:cNvPr id="11" name="Text 9"/>
          <p:cNvSpPr/>
          <p:nvPr/>
        </p:nvSpPr>
        <p:spPr>
          <a:xfrm>
            <a:off x="3438144" y="1792224"/>
            <a:ext cx="1920240" cy="384048"/>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FastAPI</a:t>
            </a:r>
            <a:endParaRPr lang="en-US" sz="1650" dirty="0"/>
          </a:p>
        </p:txBody>
      </p:sp>
      <p:sp>
        <p:nvSpPr>
          <p:cNvPr id="12" name="Text 10"/>
          <p:cNvSpPr/>
          <p:nvPr/>
        </p:nvSpPr>
        <p:spPr>
          <a:xfrm>
            <a:off x="3438144" y="2212848"/>
            <a:ext cx="1920240" cy="411480"/>
          </a:xfrm>
          <a:prstGeom prst="rect">
            <a:avLst/>
          </a:prstGeom>
          <a:noFill/>
          <a:ln/>
        </p:spPr>
        <p:txBody>
          <a:bodyPr wrap="square" lIns="0" tIns="0" rIns="0" bIns="0" rtlCol="0" anchor="ctr"/>
          <a:lstStyle/>
          <a:p>
            <a:pPr marL="0" indent="0">
              <a:buNone/>
            </a:pPr>
            <a:r>
              <a:rPr lang="en-US" sz="1200" dirty="0">
                <a:solidFill>
                  <a:srgbClr val="3F5261"/>
                </a:solidFill>
                <a:latin typeface="Calibri" pitchFamily="34" charset="0"/>
                <a:ea typeface="Calibri" pitchFamily="34" charset="-122"/>
                <a:cs typeface="Calibri" pitchFamily="34" charset="-120"/>
              </a:rPr>
              <a:t>Real-time scoring service</a:t>
            </a:r>
            <a:endParaRPr lang="en-US" sz="1200" dirty="0"/>
          </a:p>
        </p:txBody>
      </p:sp>
      <p:sp>
        <p:nvSpPr>
          <p:cNvPr id="13" name="arrow">
            <a:extLst>
              <a:ext uri="{C183D7F6-B498-43B3-948B-1728B52AA6E4}">
                <adec:decorative xmlns:adec="http://schemas.microsoft.com/office/drawing/2017/decorative" val="1"/>
              </a:ext>
            </a:extLst>
          </p:cNvPr>
          <p:cNvSpPr/>
          <p:nvPr/>
        </p:nvSpPr>
        <p:spPr>
          <a:xfrm>
            <a:off x="5586984" y="2029968"/>
            <a:ext cx="246888" cy="237744"/>
          </a:xfrm>
          <a:prstGeom prst="chevron">
            <a:avLst/>
          </a:prstGeom>
          <a:solidFill>
            <a:srgbClr val="3FB0AE"/>
          </a:solidFill>
          <a:ln/>
        </p:spPr>
        <p:txBody>
          <a:bodyPr/>
          <a:lstStyle/>
          <a:p>
            <a:endParaRPr lang="en-GB"/>
          </a:p>
        </p:txBody>
      </p:sp>
      <p:sp>
        <p:nvSpPr>
          <p:cNvPr id="14" name="card">
            <a:extLst>
              <a:ext uri="{C183D7F6-B498-43B3-948B-1728B52AA6E4}">
                <adec:decorative xmlns:adec="http://schemas.microsoft.com/office/drawing/2017/decorative" val="1"/>
              </a:ext>
            </a:extLst>
          </p:cNvPr>
          <p:cNvSpPr/>
          <p:nvPr/>
        </p:nvSpPr>
        <p:spPr>
          <a:xfrm>
            <a:off x="5870448" y="1554480"/>
            <a:ext cx="2331720" cy="118872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5" name="accent">
            <a:extLst>
              <a:ext uri="{C183D7F6-B498-43B3-948B-1728B52AA6E4}">
                <adec:decorative xmlns:adec="http://schemas.microsoft.com/office/drawing/2017/decorative" val="1"/>
              </a:ext>
            </a:extLst>
          </p:cNvPr>
          <p:cNvSpPr/>
          <p:nvPr/>
        </p:nvSpPr>
        <p:spPr>
          <a:xfrm>
            <a:off x="5870448" y="1554480"/>
            <a:ext cx="2331720" cy="82296"/>
          </a:xfrm>
          <a:prstGeom prst="rect">
            <a:avLst/>
          </a:prstGeom>
          <a:solidFill>
            <a:srgbClr val="128F90"/>
          </a:solidFill>
          <a:ln/>
        </p:spPr>
        <p:txBody>
          <a:bodyPr/>
          <a:lstStyle/>
          <a:p>
            <a:endParaRPr lang="en-GB"/>
          </a:p>
        </p:txBody>
      </p:sp>
      <p:sp>
        <p:nvSpPr>
          <p:cNvPr id="16" name="Text 14"/>
          <p:cNvSpPr/>
          <p:nvPr/>
        </p:nvSpPr>
        <p:spPr>
          <a:xfrm>
            <a:off x="6089904" y="1792224"/>
            <a:ext cx="1920240" cy="384048"/>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Model</a:t>
            </a:r>
            <a:endParaRPr lang="en-US" sz="1650" dirty="0"/>
          </a:p>
        </p:txBody>
      </p:sp>
      <p:sp>
        <p:nvSpPr>
          <p:cNvPr id="17" name="Text 15"/>
          <p:cNvSpPr/>
          <p:nvPr/>
        </p:nvSpPr>
        <p:spPr>
          <a:xfrm>
            <a:off x="6089904" y="2212848"/>
            <a:ext cx="1920240" cy="411480"/>
          </a:xfrm>
          <a:prstGeom prst="rect">
            <a:avLst/>
          </a:prstGeom>
          <a:noFill/>
          <a:ln/>
        </p:spPr>
        <p:txBody>
          <a:bodyPr wrap="square" lIns="0" tIns="0" rIns="0" bIns="0" rtlCol="0" anchor="ctr"/>
          <a:lstStyle/>
          <a:p>
            <a:pPr marL="0" indent="0">
              <a:buNone/>
            </a:pPr>
            <a:r>
              <a:rPr lang="en-US" sz="1200" dirty="0">
                <a:solidFill>
                  <a:srgbClr val="3F5261"/>
                </a:solidFill>
                <a:latin typeface="Calibri" pitchFamily="34" charset="0"/>
                <a:ea typeface="Calibri" pitchFamily="34" charset="-122"/>
                <a:cs typeface="Calibri" pitchFamily="34" charset="-120"/>
              </a:rPr>
              <a:t>Returns churn probability</a:t>
            </a:r>
            <a:endParaRPr lang="en-US" sz="1200" dirty="0"/>
          </a:p>
        </p:txBody>
      </p:sp>
      <p:sp>
        <p:nvSpPr>
          <p:cNvPr id="18" name="Text 16">
            <a:extLst>
              <a:ext uri="{C183D7F6-B498-43B3-948B-1728B52AA6E4}">
                <adec:decorative xmlns:adec="http://schemas.microsoft.com/office/drawing/2017/decorative" val="1"/>
              </a:ext>
            </a:extLst>
          </p:cNvPr>
          <p:cNvSpPr/>
          <p:nvPr/>
        </p:nvSpPr>
        <p:spPr>
          <a:xfrm>
            <a:off x="566928" y="2752344"/>
            <a:ext cx="5486400" cy="292608"/>
          </a:xfrm>
          <a:prstGeom prst="rect">
            <a:avLst/>
          </a:prstGeom>
          <a:noFill/>
          <a:ln/>
        </p:spPr>
        <p:txBody>
          <a:bodyPr wrap="square" lIns="0" tIns="0" rIns="0" bIns="0" rtlCol="0" anchor="ctr"/>
          <a:lstStyle/>
          <a:p>
            <a:pPr marL="0" indent="0">
              <a:buNone/>
            </a:pPr>
            <a:r>
              <a:rPr lang="en-US" sz="1300" b="1" dirty="0">
                <a:solidFill>
                  <a:srgbClr val="16436B"/>
                </a:solidFill>
                <a:latin typeface="Calibri" pitchFamily="34" charset="0"/>
                <a:ea typeface="Calibri" pitchFamily="34" charset="-122"/>
                <a:cs typeface="Calibri" pitchFamily="34" charset="-120"/>
              </a:rPr>
              <a:t>Input / output example</a:t>
            </a:r>
            <a:endParaRPr lang="en-US" sz="1300" dirty="0"/>
          </a:p>
        </p:txBody>
      </p:sp>
      <p:sp>
        <p:nvSpPr>
          <p:cNvPr id="19" name="code panel">
            <a:extLst>
              <a:ext uri="{C183D7F6-B498-43B3-948B-1728B52AA6E4}">
                <adec:decorative xmlns:adec="http://schemas.microsoft.com/office/drawing/2017/decorative" val="1"/>
              </a:ext>
            </a:extLst>
          </p:cNvPr>
          <p:cNvSpPr/>
          <p:nvPr/>
        </p:nvSpPr>
        <p:spPr>
          <a:xfrm>
            <a:off x="566928" y="3063240"/>
            <a:ext cx="8010144" cy="1417320"/>
          </a:xfrm>
          <a:prstGeom prst="rect">
            <a:avLst/>
          </a:prstGeom>
          <a:solidFill>
            <a:srgbClr val="0F2C48"/>
          </a:solidFill>
          <a:ln/>
          <a:effectLst>
            <a:outerShdw blurRad="114300" dist="38100" dir="5400000" algn="bl" rotWithShape="0">
              <a:srgbClr val="9FB2B8">
                <a:alpha val="22000"/>
              </a:srgbClr>
            </a:outerShdw>
          </a:effectLst>
        </p:spPr>
        <p:txBody>
          <a:bodyPr/>
          <a:lstStyle/>
          <a:p>
            <a:endParaRPr lang="en-GB"/>
          </a:p>
        </p:txBody>
      </p:sp>
      <p:sp>
        <p:nvSpPr>
          <p:cNvPr id="20" name="Text 18">
            <a:extLst>
              <a:ext uri="{C183D7F6-B498-43B3-948B-1728B52AA6E4}">
                <adec:decorative xmlns:adec="http://schemas.microsoft.com/office/drawing/2017/decorative" val="1"/>
              </a:ext>
            </a:extLst>
          </p:cNvPr>
          <p:cNvSpPr/>
          <p:nvPr/>
        </p:nvSpPr>
        <p:spPr>
          <a:xfrm>
            <a:off x="841248" y="3264408"/>
            <a:ext cx="7498080" cy="1051560"/>
          </a:xfrm>
          <a:prstGeom prst="rect">
            <a:avLst/>
          </a:prstGeom>
          <a:noFill/>
          <a:ln/>
        </p:spPr>
        <p:txBody>
          <a:bodyPr wrap="square" lIns="0" tIns="0" rIns="0" bIns="0" rtlCol="0" anchor="t"/>
          <a:lstStyle/>
          <a:p>
            <a:pPr marL="0" indent="0">
              <a:lnSpc>
                <a:spcPct val="105000"/>
              </a:lnSpc>
              <a:spcAft>
                <a:spcPts val="600"/>
              </a:spcAft>
              <a:buNone/>
            </a:pPr>
            <a:r>
              <a:rPr lang="en-US" sz="1300" b="1" dirty="0">
                <a:solidFill>
                  <a:srgbClr val="3FB0AE"/>
                </a:solidFill>
                <a:latin typeface="Consolas" pitchFamily="34" charset="0"/>
                <a:ea typeface="Consolas" pitchFamily="34" charset="-122"/>
                <a:cs typeface="Consolas" pitchFamily="34" charset="-120"/>
              </a:rPr>
              <a:t>POST /predict</a:t>
            </a:r>
            <a:endParaRPr lang="en-US" sz="1300" dirty="0"/>
          </a:p>
          <a:p>
            <a:pPr marL="0" indent="0">
              <a:lnSpc>
                <a:spcPct val="105000"/>
              </a:lnSpc>
              <a:buNone/>
            </a:pPr>
            <a:r>
              <a:rPr lang="en-US" sz="1300" dirty="0">
                <a:solidFill>
                  <a:srgbClr val="8CA6B4"/>
                </a:solidFill>
                <a:latin typeface="Consolas" pitchFamily="34" charset="0"/>
                <a:ea typeface="Consolas" pitchFamily="34" charset="-122"/>
                <a:cs typeface="Consolas" pitchFamily="34" charset="-120"/>
              </a:rPr>
              <a:t>Request   </a:t>
            </a:r>
            <a:r>
              <a:rPr lang="en-US" sz="1300" dirty="0">
                <a:solidFill>
                  <a:srgbClr val="EAF1F3"/>
                </a:solidFill>
                <a:latin typeface="Consolas" pitchFamily="34" charset="0"/>
                <a:ea typeface="Consolas" pitchFamily="34" charset="-122"/>
                <a:cs typeface="Consolas" pitchFamily="34" charset="-120"/>
              </a:rPr>
              <a:t>{ "rider_id": 10432, "recency": 12, "frequency": 8, "tenure": 3 }</a:t>
            </a:r>
            <a:endParaRPr lang="en-US" sz="1300" dirty="0"/>
          </a:p>
          <a:p>
            <a:pPr marL="0" indent="0">
              <a:lnSpc>
                <a:spcPct val="105000"/>
              </a:lnSpc>
              <a:buNone/>
            </a:pPr>
            <a:r>
              <a:rPr lang="en-US" sz="1300" dirty="0">
                <a:solidFill>
                  <a:srgbClr val="8CA6B4"/>
                </a:solidFill>
                <a:latin typeface="Consolas" pitchFamily="34" charset="0"/>
                <a:ea typeface="Consolas" pitchFamily="34" charset="-122"/>
                <a:cs typeface="Consolas" pitchFamily="34" charset="-120"/>
              </a:rPr>
              <a:t>Response  </a:t>
            </a:r>
            <a:r>
              <a:rPr lang="en-US" sz="1300" dirty="0">
                <a:solidFill>
                  <a:srgbClr val="EAF1F3"/>
                </a:solidFill>
                <a:latin typeface="Consolas" pitchFamily="34" charset="0"/>
                <a:ea typeface="Consolas" pitchFamily="34" charset="-122"/>
                <a:cs typeface="Consolas" pitchFamily="34" charset="-120"/>
              </a:rPr>
              <a:t>{ "churn_probability": 0.87, "segment": "At-Risk" }</a:t>
            </a:r>
            <a:endParaRPr lang="en-US" sz="1300" dirty="0"/>
          </a:p>
        </p:txBody>
      </p:sp>
      <p:sp>
        <p:nvSpPr>
          <p:cNvPr id="21" name="Text 19"/>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11</a:t>
            </a:r>
            <a:endParaRPr lang="en-US" sz="1100" dirty="0"/>
          </a:p>
        </p:txBody>
      </p:sp>
      <p:sp>
        <p:nvSpPr>
          <p:cNvPr id="22" name="Text 20"/>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MONITORING</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Keeping the system healthy</a:t>
            </a:r>
            <a:endParaRPr lang="en-US" sz="3300" dirty="0"/>
          </a:p>
        </p:txBody>
      </p:sp>
      <p:sp>
        <p:nvSpPr>
          <p:cNvPr id="4" name="card">
            <a:extLst>
              <a:ext uri="{C183D7F6-B498-43B3-948B-1728B52AA6E4}">
                <adec:decorative xmlns:adec="http://schemas.microsoft.com/office/drawing/2017/decorative" val="1"/>
              </a:ext>
            </a:extLst>
          </p:cNvPr>
          <p:cNvSpPr/>
          <p:nvPr/>
        </p:nvSpPr>
        <p:spPr>
          <a:xfrm>
            <a:off x="566928" y="1691640"/>
            <a:ext cx="2615184" cy="21945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5" name="accent">
            <a:extLst>
              <a:ext uri="{C183D7F6-B498-43B3-948B-1728B52AA6E4}">
                <adec:decorative xmlns:adec="http://schemas.microsoft.com/office/drawing/2017/decorative" val="1"/>
              </a:ext>
            </a:extLst>
          </p:cNvPr>
          <p:cNvSpPr/>
          <p:nvPr/>
        </p:nvSpPr>
        <p:spPr>
          <a:xfrm>
            <a:off x="566928" y="1691640"/>
            <a:ext cx="2615184" cy="82296"/>
          </a:xfrm>
          <a:prstGeom prst="rect">
            <a:avLst/>
          </a:prstGeom>
          <a:solidFill>
            <a:srgbClr val="128F90"/>
          </a:solidFill>
          <a:ln/>
        </p:spPr>
        <p:txBody>
          <a:bodyPr/>
          <a:lstStyle/>
          <a:p>
            <a:endParaRPr lang="en-GB"/>
          </a:p>
        </p:txBody>
      </p:sp>
      <p:sp>
        <p:nvSpPr>
          <p:cNvPr id="6" name="dot">
            <a:extLst>
              <a:ext uri="{C183D7F6-B498-43B3-948B-1728B52AA6E4}">
                <adec:decorative xmlns:adec="http://schemas.microsoft.com/office/drawing/2017/decorative" val="1"/>
              </a:ext>
            </a:extLst>
          </p:cNvPr>
          <p:cNvSpPr/>
          <p:nvPr/>
        </p:nvSpPr>
        <p:spPr>
          <a:xfrm>
            <a:off x="841248" y="2011680"/>
            <a:ext cx="457200" cy="457200"/>
          </a:xfrm>
          <a:prstGeom prst="ellipse">
            <a:avLst/>
          </a:prstGeom>
          <a:solidFill>
            <a:srgbClr val="128F90"/>
          </a:solidFill>
          <a:ln/>
        </p:spPr>
        <p:txBody>
          <a:bodyPr/>
          <a:lstStyle/>
          <a:p>
            <a:endParaRPr lang="en-GB"/>
          </a:p>
        </p:txBody>
      </p:sp>
      <p:sp>
        <p:nvSpPr>
          <p:cNvPr id="7" name="Text 5"/>
          <p:cNvSpPr/>
          <p:nvPr/>
        </p:nvSpPr>
        <p:spPr>
          <a:xfrm>
            <a:off x="841248" y="20116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841248" y="2624328"/>
            <a:ext cx="2112264" cy="411480"/>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Drift detection</a:t>
            </a:r>
            <a:endParaRPr lang="en-US" sz="1650" dirty="0"/>
          </a:p>
        </p:txBody>
      </p:sp>
      <p:sp>
        <p:nvSpPr>
          <p:cNvPr id="9" name="Text 7">
            <a:extLst>
              <a:ext uri="{C183D7F6-B498-43B3-948B-1728B52AA6E4}">
                <adec:decorative xmlns:adec="http://schemas.microsoft.com/office/drawing/2017/decorative" val="1"/>
              </a:ext>
            </a:extLst>
          </p:cNvPr>
          <p:cNvSpPr/>
          <p:nvPr/>
        </p:nvSpPr>
        <p:spPr>
          <a:xfrm>
            <a:off x="841248" y="3063240"/>
            <a:ext cx="2112264" cy="73152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Track feature and prediction drift against training baselines.</a:t>
            </a:r>
            <a:endParaRPr lang="en-US" sz="1250" dirty="0"/>
          </a:p>
        </p:txBody>
      </p:sp>
      <p:sp>
        <p:nvSpPr>
          <p:cNvPr id="10" name="card">
            <a:extLst>
              <a:ext uri="{C183D7F6-B498-43B3-948B-1728B52AA6E4}">
                <adec:decorative xmlns:adec="http://schemas.microsoft.com/office/drawing/2017/decorative" val="1"/>
              </a:ext>
            </a:extLst>
          </p:cNvPr>
          <p:cNvSpPr/>
          <p:nvPr/>
        </p:nvSpPr>
        <p:spPr>
          <a:xfrm>
            <a:off x="3465576" y="1691640"/>
            <a:ext cx="2615184" cy="21945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1" name="accent">
            <a:extLst>
              <a:ext uri="{C183D7F6-B498-43B3-948B-1728B52AA6E4}">
                <adec:decorative xmlns:adec="http://schemas.microsoft.com/office/drawing/2017/decorative" val="1"/>
              </a:ext>
            </a:extLst>
          </p:cNvPr>
          <p:cNvSpPr/>
          <p:nvPr/>
        </p:nvSpPr>
        <p:spPr>
          <a:xfrm>
            <a:off x="3465576" y="1691640"/>
            <a:ext cx="2615184" cy="82296"/>
          </a:xfrm>
          <a:prstGeom prst="rect">
            <a:avLst/>
          </a:prstGeom>
          <a:solidFill>
            <a:srgbClr val="128F90"/>
          </a:solidFill>
          <a:ln/>
        </p:spPr>
        <p:txBody>
          <a:bodyPr/>
          <a:lstStyle/>
          <a:p>
            <a:endParaRPr lang="en-GB"/>
          </a:p>
        </p:txBody>
      </p:sp>
      <p:sp>
        <p:nvSpPr>
          <p:cNvPr id="12" name="dot">
            <a:extLst>
              <a:ext uri="{C183D7F6-B498-43B3-948B-1728B52AA6E4}">
                <adec:decorative xmlns:adec="http://schemas.microsoft.com/office/drawing/2017/decorative" val="1"/>
              </a:ext>
            </a:extLst>
          </p:cNvPr>
          <p:cNvSpPr/>
          <p:nvPr/>
        </p:nvSpPr>
        <p:spPr>
          <a:xfrm>
            <a:off x="3739896" y="2011680"/>
            <a:ext cx="457200" cy="457200"/>
          </a:xfrm>
          <a:prstGeom prst="ellipse">
            <a:avLst/>
          </a:prstGeom>
          <a:solidFill>
            <a:srgbClr val="128F90"/>
          </a:solidFill>
          <a:ln/>
        </p:spPr>
        <p:txBody>
          <a:bodyPr/>
          <a:lstStyle/>
          <a:p>
            <a:endParaRPr lang="en-GB"/>
          </a:p>
        </p:txBody>
      </p:sp>
      <p:sp>
        <p:nvSpPr>
          <p:cNvPr id="13" name="Text 11"/>
          <p:cNvSpPr/>
          <p:nvPr/>
        </p:nvSpPr>
        <p:spPr>
          <a:xfrm>
            <a:off x="3739896" y="20116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a:extLst>
              <a:ext uri="{C183D7F6-B498-43B3-948B-1728B52AA6E4}">
                <adec:decorative xmlns:adec="http://schemas.microsoft.com/office/drawing/2017/decorative" val="1"/>
              </a:ext>
            </a:extLst>
          </p:cNvPr>
          <p:cNvSpPr/>
          <p:nvPr/>
        </p:nvSpPr>
        <p:spPr>
          <a:xfrm>
            <a:off x="3739896" y="2624328"/>
            <a:ext cx="2112264" cy="411480"/>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Performance tracking</a:t>
            </a:r>
            <a:endParaRPr lang="en-US" sz="1650" dirty="0"/>
          </a:p>
        </p:txBody>
      </p:sp>
      <p:sp>
        <p:nvSpPr>
          <p:cNvPr id="15" name="Text 13">
            <a:extLst>
              <a:ext uri="{C183D7F6-B498-43B3-948B-1728B52AA6E4}">
                <adec:decorative xmlns:adec="http://schemas.microsoft.com/office/drawing/2017/decorative" val="1"/>
              </a:ext>
            </a:extLst>
          </p:cNvPr>
          <p:cNvSpPr/>
          <p:nvPr/>
        </p:nvSpPr>
        <p:spPr>
          <a:xfrm>
            <a:off x="3739896" y="3063240"/>
            <a:ext cx="2112264" cy="73152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Monitor live AUC, precision and recall over time.</a:t>
            </a:r>
            <a:endParaRPr lang="en-US" sz="1250" dirty="0"/>
          </a:p>
        </p:txBody>
      </p:sp>
      <p:sp>
        <p:nvSpPr>
          <p:cNvPr id="16" name="card">
            <a:extLst>
              <a:ext uri="{C183D7F6-B498-43B3-948B-1728B52AA6E4}">
                <adec:decorative xmlns:adec="http://schemas.microsoft.com/office/drawing/2017/decorative" val="1"/>
              </a:ext>
            </a:extLst>
          </p:cNvPr>
          <p:cNvSpPr/>
          <p:nvPr/>
        </p:nvSpPr>
        <p:spPr>
          <a:xfrm>
            <a:off x="6364224" y="1691640"/>
            <a:ext cx="2615184" cy="21945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7" name="accent">
            <a:extLst>
              <a:ext uri="{C183D7F6-B498-43B3-948B-1728B52AA6E4}">
                <adec:decorative xmlns:adec="http://schemas.microsoft.com/office/drawing/2017/decorative" val="1"/>
              </a:ext>
            </a:extLst>
          </p:cNvPr>
          <p:cNvSpPr/>
          <p:nvPr/>
        </p:nvSpPr>
        <p:spPr>
          <a:xfrm>
            <a:off x="6364224" y="1691640"/>
            <a:ext cx="2615184" cy="82296"/>
          </a:xfrm>
          <a:prstGeom prst="rect">
            <a:avLst/>
          </a:prstGeom>
          <a:solidFill>
            <a:srgbClr val="128F90"/>
          </a:solidFill>
          <a:ln/>
        </p:spPr>
        <p:txBody>
          <a:bodyPr/>
          <a:lstStyle/>
          <a:p>
            <a:endParaRPr lang="en-GB"/>
          </a:p>
        </p:txBody>
      </p:sp>
      <p:sp>
        <p:nvSpPr>
          <p:cNvPr id="18" name="dot">
            <a:extLst>
              <a:ext uri="{C183D7F6-B498-43B3-948B-1728B52AA6E4}">
                <adec:decorative xmlns:adec="http://schemas.microsoft.com/office/drawing/2017/decorative" val="1"/>
              </a:ext>
            </a:extLst>
          </p:cNvPr>
          <p:cNvSpPr/>
          <p:nvPr/>
        </p:nvSpPr>
        <p:spPr>
          <a:xfrm>
            <a:off x="6638544" y="2011680"/>
            <a:ext cx="457200" cy="457200"/>
          </a:xfrm>
          <a:prstGeom prst="ellipse">
            <a:avLst/>
          </a:prstGeom>
          <a:solidFill>
            <a:srgbClr val="128F90"/>
          </a:solidFill>
          <a:ln/>
        </p:spPr>
        <p:txBody>
          <a:bodyPr/>
          <a:lstStyle/>
          <a:p>
            <a:endParaRPr lang="en-GB"/>
          </a:p>
        </p:txBody>
      </p:sp>
      <p:sp>
        <p:nvSpPr>
          <p:cNvPr id="19" name="Text 17">
            <a:extLst>
              <a:ext uri="{C183D7F6-B498-43B3-948B-1728B52AA6E4}">
                <adec:decorative xmlns:adec="http://schemas.microsoft.com/office/drawing/2017/decorative" val="1"/>
              </a:ext>
            </a:extLst>
          </p:cNvPr>
          <p:cNvSpPr/>
          <p:nvPr/>
        </p:nvSpPr>
        <p:spPr>
          <a:xfrm>
            <a:off x="6638544" y="20116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0" name="Text 18">
            <a:extLst>
              <a:ext uri="{C183D7F6-B498-43B3-948B-1728B52AA6E4}">
                <adec:decorative xmlns:adec="http://schemas.microsoft.com/office/drawing/2017/decorative" val="1"/>
              </a:ext>
            </a:extLst>
          </p:cNvPr>
          <p:cNvSpPr/>
          <p:nvPr/>
        </p:nvSpPr>
        <p:spPr>
          <a:xfrm>
            <a:off x="6638544" y="2624328"/>
            <a:ext cx="2112264" cy="411480"/>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Dashboard</a:t>
            </a:r>
            <a:endParaRPr lang="en-US" sz="1650" dirty="0"/>
          </a:p>
        </p:txBody>
      </p:sp>
      <p:sp>
        <p:nvSpPr>
          <p:cNvPr id="21" name="Text 19"/>
          <p:cNvSpPr/>
          <p:nvPr/>
        </p:nvSpPr>
        <p:spPr>
          <a:xfrm>
            <a:off x="6638544" y="3063240"/>
            <a:ext cx="2112264" cy="73152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Churn risk, segments and KPIs in one live view.</a:t>
            </a:r>
            <a:endParaRPr lang="en-US" sz="1250" dirty="0"/>
          </a:p>
        </p:txBody>
      </p:sp>
      <p:sp>
        <p:nvSpPr>
          <p:cNvPr id="22" name="Text 20"/>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12</a:t>
            </a:r>
            <a:endParaRPr lang="en-US" sz="1100" dirty="0"/>
          </a:p>
        </p:txBody>
      </p:sp>
      <p:sp>
        <p:nvSpPr>
          <p:cNvPr id="23" name="Text 21"/>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92608"/>
            <a:ext cx="6400800" cy="292608"/>
          </a:xfrm>
          <a:prstGeom prst="rect">
            <a:avLst/>
          </a:prstGeom>
          <a:noFill/>
          <a:ln/>
        </p:spPr>
        <p:txBody>
          <a:bodyPr wrap="square" lIns="0" tIns="0" rIns="0" bIns="0" rtlCol="0" anchor="ctr"/>
          <a:lstStyle/>
          <a:p>
            <a:pPr marL="0" indent="0">
              <a:buNone/>
            </a:pPr>
            <a:r>
              <a:rPr lang="en-US" sz="1250" b="1" kern="0" spc="300" dirty="0">
                <a:solidFill>
                  <a:srgbClr val="128F90"/>
                </a:solidFill>
                <a:latin typeface="Calibri" pitchFamily="34" charset="0"/>
                <a:ea typeface="Calibri" pitchFamily="34" charset="-122"/>
                <a:cs typeface="Calibri" pitchFamily="34" charset="-120"/>
              </a:rPr>
              <a:t>CONCLUSION</a:t>
            </a:r>
            <a:endParaRPr lang="en-US" sz="1250" dirty="0"/>
          </a:p>
        </p:txBody>
      </p:sp>
      <p:sp>
        <p:nvSpPr>
          <p:cNvPr id="3" name="Text 0"/>
          <p:cNvSpPr>
            <a:spLocks noGrp="1"/>
          </p:cNvSpPr>
          <p:nvPr>
            <p:ph type="title" idx="101" hasCustomPrompt="1"/>
          </p:nvPr>
        </p:nvSpPr>
        <p:spPr>
          <a:xfrm>
            <a:off x="548640" y="438912"/>
            <a:ext cx="6858000" cy="822960"/>
          </a:xfrm>
          <a:prstGeom prst="rect">
            <a:avLst/>
          </a:prstGeom>
          <a:noFill/>
          <a:ln/>
        </p:spPr>
        <p:txBody>
          <a:bodyPr wrap="square" rtlCol="0" anchor="t"/>
          <a:lstStyle/>
          <a:p>
            <a:pPr marL="0" indent="0" algn="l">
              <a:buNone/>
            </a:pPr>
            <a:r>
              <a:rPr lang="en-US" sz="3300" b="1" dirty="0">
                <a:solidFill>
                  <a:srgbClr val="0F2C48"/>
                </a:solidFill>
                <a:latin typeface="Calibri Light" pitchFamily="34" charset="0"/>
                <a:ea typeface="Calibri Light" pitchFamily="34" charset="-122"/>
                <a:cs typeface="Calibri Light" pitchFamily="34" charset="-120"/>
              </a:rPr>
              <a:t>Impact and the road ahead</a:t>
            </a:r>
            <a:endParaRPr lang="en-US" sz="3300" dirty="0"/>
          </a:p>
        </p:txBody>
      </p:sp>
      <p:sp>
        <p:nvSpPr>
          <p:cNvPr id="4" name="card">
            <a:extLst>
              <a:ext uri="{C183D7F6-B498-43B3-948B-1728B52AA6E4}">
                <adec:decorative xmlns:adec="http://schemas.microsoft.com/office/drawing/2017/decorative" val="1"/>
              </a:ext>
            </a:extLst>
          </p:cNvPr>
          <p:cNvSpPr/>
          <p:nvPr/>
        </p:nvSpPr>
        <p:spPr>
          <a:xfrm>
            <a:off x="566928" y="1554480"/>
            <a:ext cx="2615184" cy="19659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5" name="Text 3"/>
          <p:cNvSpPr/>
          <p:nvPr/>
        </p:nvSpPr>
        <p:spPr>
          <a:xfrm>
            <a:off x="841248" y="1792224"/>
            <a:ext cx="1097280" cy="457200"/>
          </a:xfrm>
          <a:prstGeom prst="rect">
            <a:avLst/>
          </a:prstGeom>
          <a:noFill/>
          <a:ln/>
        </p:spPr>
        <p:txBody>
          <a:bodyPr wrap="square" lIns="0" tIns="0" rIns="0" bIns="0" rtlCol="0" anchor="ctr"/>
          <a:lstStyle/>
          <a:p>
            <a:pPr marL="0" indent="0">
              <a:buNone/>
            </a:pPr>
            <a:r>
              <a:rPr lang="en-US" sz="2400" b="1" dirty="0">
                <a:solidFill>
                  <a:srgbClr val="128F90"/>
                </a:solidFill>
                <a:latin typeface="Calibri Light" pitchFamily="34" charset="0"/>
                <a:ea typeface="Calibri Light" pitchFamily="34" charset="-122"/>
                <a:cs typeface="Calibri Light" pitchFamily="34" charset="-120"/>
              </a:rPr>
              <a:t>01</a:t>
            </a:r>
            <a:endParaRPr lang="en-US" sz="2400" dirty="0"/>
          </a:p>
        </p:txBody>
      </p:sp>
      <p:sp>
        <p:nvSpPr>
          <p:cNvPr id="6" name="Text 4"/>
          <p:cNvSpPr/>
          <p:nvPr/>
        </p:nvSpPr>
        <p:spPr>
          <a:xfrm>
            <a:off x="841248" y="2304288"/>
            <a:ext cx="2112264" cy="384048"/>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Business impact</a:t>
            </a:r>
            <a:endParaRPr lang="en-US" sz="1650" dirty="0"/>
          </a:p>
        </p:txBody>
      </p:sp>
      <p:sp>
        <p:nvSpPr>
          <p:cNvPr id="7" name="Text 5"/>
          <p:cNvSpPr/>
          <p:nvPr/>
        </p:nvSpPr>
        <p:spPr>
          <a:xfrm>
            <a:off x="841248" y="2706624"/>
            <a:ext cx="2112264" cy="7772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Earlier churn signals enable targeted retention and higher rider lifetime value.</a:t>
            </a:r>
            <a:endParaRPr lang="en-US" sz="1250" dirty="0"/>
          </a:p>
        </p:txBody>
      </p:sp>
      <p:sp>
        <p:nvSpPr>
          <p:cNvPr id="8" name="card">
            <a:extLst>
              <a:ext uri="{C183D7F6-B498-43B3-948B-1728B52AA6E4}">
                <adec:decorative xmlns:adec="http://schemas.microsoft.com/office/drawing/2017/decorative" val="1"/>
              </a:ext>
            </a:extLst>
          </p:cNvPr>
          <p:cNvSpPr/>
          <p:nvPr/>
        </p:nvSpPr>
        <p:spPr>
          <a:xfrm>
            <a:off x="3465576" y="1554480"/>
            <a:ext cx="2615184" cy="19659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9" name="Text 7"/>
          <p:cNvSpPr/>
          <p:nvPr/>
        </p:nvSpPr>
        <p:spPr>
          <a:xfrm>
            <a:off x="3739896" y="1792224"/>
            <a:ext cx="1097280" cy="457200"/>
          </a:xfrm>
          <a:prstGeom prst="rect">
            <a:avLst/>
          </a:prstGeom>
          <a:noFill/>
          <a:ln/>
        </p:spPr>
        <p:txBody>
          <a:bodyPr wrap="square" lIns="0" tIns="0" rIns="0" bIns="0" rtlCol="0" anchor="ctr"/>
          <a:lstStyle/>
          <a:p>
            <a:pPr marL="0" indent="0">
              <a:buNone/>
            </a:pPr>
            <a:r>
              <a:rPr lang="en-US" sz="2400" b="1" dirty="0">
                <a:solidFill>
                  <a:srgbClr val="128F90"/>
                </a:solidFill>
                <a:latin typeface="Calibri Light" pitchFamily="34" charset="0"/>
                <a:ea typeface="Calibri Light" pitchFamily="34" charset="-122"/>
                <a:cs typeface="Calibri Light" pitchFamily="34" charset="-120"/>
              </a:rPr>
              <a:t>02</a:t>
            </a:r>
            <a:endParaRPr lang="en-US" sz="2400" dirty="0"/>
          </a:p>
        </p:txBody>
      </p:sp>
      <p:sp>
        <p:nvSpPr>
          <p:cNvPr id="10" name="Text 8"/>
          <p:cNvSpPr/>
          <p:nvPr/>
        </p:nvSpPr>
        <p:spPr>
          <a:xfrm>
            <a:off x="3739896" y="2304288"/>
            <a:ext cx="2112264" cy="384048"/>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Next steps</a:t>
            </a:r>
            <a:endParaRPr lang="en-US" sz="1650" dirty="0"/>
          </a:p>
        </p:txBody>
      </p:sp>
      <p:sp>
        <p:nvSpPr>
          <p:cNvPr id="11" name="Text 9"/>
          <p:cNvSpPr/>
          <p:nvPr/>
        </p:nvSpPr>
        <p:spPr>
          <a:xfrm>
            <a:off x="3739896" y="2706624"/>
            <a:ext cx="2112264" cy="7772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A/B test interventions and expand features with real-time streaming data.</a:t>
            </a:r>
            <a:endParaRPr lang="en-US" sz="1250" dirty="0"/>
          </a:p>
        </p:txBody>
      </p:sp>
      <p:sp>
        <p:nvSpPr>
          <p:cNvPr id="12" name="card">
            <a:extLst>
              <a:ext uri="{C183D7F6-B498-43B3-948B-1728B52AA6E4}">
                <adec:decorative xmlns:adec="http://schemas.microsoft.com/office/drawing/2017/decorative" val="1"/>
              </a:ext>
            </a:extLst>
          </p:cNvPr>
          <p:cNvSpPr/>
          <p:nvPr/>
        </p:nvSpPr>
        <p:spPr>
          <a:xfrm>
            <a:off x="6364224" y="1554480"/>
            <a:ext cx="2615184" cy="1965960"/>
          </a:xfrm>
          <a:prstGeom prst="rect">
            <a:avLst/>
          </a:prstGeom>
          <a:solidFill>
            <a:srgbClr val="FFFFFF"/>
          </a:solidFill>
          <a:ln w="12700">
            <a:solidFill>
              <a:srgbClr val="E4EBEC"/>
            </a:solidFill>
            <a:prstDash val="solid"/>
          </a:ln>
          <a:effectLst>
            <a:outerShdw blurRad="114300" dist="38100" dir="5400000" algn="bl" rotWithShape="0">
              <a:srgbClr val="9FB2B8">
                <a:alpha val="22000"/>
              </a:srgbClr>
            </a:outerShdw>
          </a:effectLst>
        </p:spPr>
        <p:txBody>
          <a:bodyPr/>
          <a:lstStyle/>
          <a:p>
            <a:endParaRPr lang="en-GB"/>
          </a:p>
        </p:txBody>
      </p:sp>
      <p:sp>
        <p:nvSpPr>
          <p:cNvPr id="13" name="Text 11"/>
          <p:cNvSpPr/>
          <p:nvPr/>
        </p:nvSpPr>
        <p:spPr>
          <a:xfrm>
            <a:off x="6638544" y="1792224"/>
            <a:ext cx="1097280" cy="457200"/>
          </a:xfrm>
          <a:prstGeom prst="rect">
            <a:avLst/>
          </a:prstGeom>
          <a:noFill/>
          <a:ln/>
        </p:spPr>
        <p:txBody>
          <a:bodyPr wrap="square" lIns="0" tIns="0" rIns="0" bIns="0" rtlCol="0" anchor="ctr"/>
          <a:lstStyle/>
          <a:p>
            <a:pPr marL="0" indent="0">
              <a:buNone/>
            </a:pPr>
            <a:r>
              <a:rPr lang="en-US" sz="2400" b="1" dirty="0">
                <a:solidFill>
                  <a:srgbClr val="128F90"/>
                </a:solidFill>
                <a:latin typeface="Calibri Light" pitchFamily="34" charset="0"/>
                <a:ea typeface="Calibri Light" pitchFamily="34" charset="-122"/>
                <a:cs typeface="Calibri Light" pitchFamily="34" charset="-120"/>
              </a:rPr>
              <a:t>03</a:t>
            </a:r>
            <a:endParaRPr lang="en-US" sz="2400" dirty="0"/>
          </a:p>
        </p:txBody>
      </p:sp>
      <p:sp>
        <p:nvSpPr>
          <p:cNvPr id="14" name="Text 12"/>
          <p:cNvSpPr/>
          <p:nvPr/>
        </p:nvSpPr>
        <p:spPr>
          <a:xfrm>
            <a:off x="6638544" y="2304288"/>
            <a:ext cx="2112264" cy="384048"/>
          </a:xfrm>
          <a:prstGeom prst="rect">
            <a:avLst/>
          </a:prstGeom>
          <a:noFill/>
          <a:ln/>
        </p:spPr>
        <p:txBody>
          <a:bodyPr wrap="square" lIns="0" tIns="0" rIns="0" bIns="0" rtlCol="0" anchor="ctr"/>
          <a:lstStyle/>
          <a:p>
            <a:pPr marL="0" indent="0">
              <a:buNone/>
            </a:pPr>
            <a:r>
              <a:rPr lang="en-US" sz="1650" b="1" dirty="0">
                <a:solidFill>
                  <a:srgbClr val="0F2C48"/>
                </a:solidFill>
                <a:latin typeface="Calibri" pitchFamily="34" charset="0"/>
                <a:ea typeface="Calibri" pitchFamily="34" charset="-122"/>
                <a:cs typeface="Calibri" pitchFamily="34" charset="-120"/>
              </a:rPr>
              <a:t>Scalability</a:t>
            </a:r>
            <a:endParaRPr lang="en-US" sz="1650" dirty="0"/>
          </a:p>
        </p:txBody>
      </p:sp>
      <p:sp>
        <p:nvSpPr>
          <p:cNvPr id="15" name="Text 13"/>
          <p:cNvSpPr/>
          <p:nvPr/>
        </p:nvSpPr>
        <p:spPr>
          <a:xfrm>
            <a:off x="6638544" y="2706624"/>
            <a:ext cx="2112264" cy="777240"/>
          </a:xfrm>
          <a:prstGeom prst="rect">
            <a:avLst/>
          </a:prstGeom>
          <a:noFill/>
          <a:ln/>
        </p:spPr>
        <p:txBody>
          <a:bodyPr wrap="square" lIns="0" tIns="0" rIns="0" bIns="0" rtlCol="0" anchor="ctr"/>
          <a:lstStyle/>
          <a:p>
            <a:pPr marL="0" indent="0">
              <a:buNone/>
            </a:pPr>
            <a:r>
              <a:rPr lang="en-US" sz="1250" dirty="0">
                <a:solidFill>
                  <a:srgbClr val="3F5261"/>
                </a:solidFill>
                <a:latin typeface="Calibri" pitchFamily="34" charset="0"/>
                <a:ea typeface="Calibri" pitchFamily="34" charset="-122"/>
                <a:cs typeface="Calibri" pitchFamily="34" charset="-120"/>
              </a:rPr>
              <a:t>Containerised services and automated retraining scale across cities.</a:t>
            </a:r>
            <a:endParaRPr lang="en-US" sz="1250" dirty="0"/>
          </a:p>
        </p:txBody>
      </p:sp>
      <p:sp>
        <p:nvSpPr>
          <p:cNvPr id="16" name="closing bar">
            <a:extLst>
              <a:ext uri="{C183D7F6-B498-43B3-948B-1728B52AA6E4}">
                <adec:decorative xmlns:adec="http://schemas.microsoft.com/office/drawing/2017/decorative" val="1"/>
              </a:ext>
            </a:extLst>
          </p:cNvPr>
          <p:cNvSpPr/>
          <p:nvPr/>
        </p:nvSpPr>
        <p:spPr>
          <a:xfrm>
            <a:off x="566928" y="3721608"/>
            <a:ext cx="8010144" cy="566928"/>
          </a:xfrm>
          <a:prstGeom prst="rect">
            <a:avLst/>
          </a:prstGeom>
          <a:solidFill>
            <a:srgbClr val="0F2C48"/>
          </a:solidFill>
          <a:ln/>
          <a:effectLst>
            <a:outerShdw blurRad="114300" dist="38100" dir="5400000" algn="bl" rotWithShape="0">
              <a:srgbClr val="9FB2B8">
                <a:alpha val="22000"/>
              </a:srgbClr>
            </a:outerShdw>
          </a:effectLst>
        </p:spPr>
        <p:txBody>
          <a:bodyPr/>
          <a:lstStyle/>
          <a:p>
            <a:endParaRPr lang="en-GB"/>
          </a:p>
        </p:txBody>
      </p:sp>
      <p:sp>
        <p:nvSpPr>
          <p:cNvPr id="17" name="Text 15"/>
          <p:cNvSpPr/>
          <p:nvPr/>
        </p:nvSpPr>
        <p:spPr>
          <a:xfrm>
            <a:off x="566928" y="3721608"/>
            <a:ext cx="8010144"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Thank you  </a:t>
            </a:r>
            <a:r>
              <a:rPr lang="en-US" sz="1400" dirty="0">
                <a:solidFill>
                  <a:srgbClr val="C7D6DC"/>
                </a:solidFill>
                <a:latin typeface="Calibri" pitchFamily="34" charset="0"/>
                <a:ea typeface="Calibri" pitchFamily="34" charset="-122"/>
                <a:cs typeface="Calibri" pitchFamily="34" charset="-120"/>
              </a:rPr>
              <a:t>·  Oluwatosin  Abraham— Data Analytics &amp; Machine Learning</a:t>
            </a:r>
            <a:endParaRPr lang="en-US" sz="1400" dirty="0"/>
          </a:p>
        </p:txBody>
      </p:sp>
      <p:sp>
        <p:nvSpPr>
          <p:cNvPr id="18" name="Text 16"/>
          <p:cNvSpPr/>
          <p:nvPr/>
        </p:nvSpPr>
        <p:spPr>
          <a:xfrm>
            <a:off x="8229600" y="4704588"/>
            <a:ext cx="457200" cy="274320"/>
          </a:xfrm>
          <a:prstGeom prst="rect">
            <a:avLst/>
          </a:prstGeom>
          <a:noFill/>
          <a:ln/>
        </p:spPr>
        <p:txBody>
          <a:bodyPr wrap="square" lIns="0" tIns="0" rIns="0" bIns="0" rtlCol="0" anchor="ctr"/>
          <a:lstStyle/>
          <a:p>
            <a:pPr marL="0" indent="0" algn="r">
              <a:buNone/>
            </a:pPr>
            <a:r>
              <a:rPr lang="en-US" sz="1100" dirty="0">
                <a:solidFill>
                  <a:srgbClr val="8195A0"/>
                </a:solidFill>
                <a:latin typeface="Calibri" pitchFamily="34" charset="0"/>
                <a:ea typeface="Calibri" pitchFamily="34" charset="-122"/>
                <a:cs typeface="Calibri" pitchFamily="34" charset="-120"/>
              </a:rPr>
              <a:t>13</a:t>
            </a:r>
            <a:endParaRPr lang="en-US" sz="1100" dirty="0"/>
          </a:p>
        </p:txBody>
      </p:sp>
      <p:sp>
        <p:nvSpPr>
          <p:cNvPr id="19" name="Text 17"/>
          <p:cNvSpPr/>
          <p:nvPr/>
        </p:nvSpPr>
        <p:spPr>
          <a:xfrm>
            <a:off x="548640" y="4704588"/>
            <a:ext cx="3108960" cy="274320"/>
          </a:xfrm>
          <a:prstGeom prst="rect">
            <a:avLst/>
          </a:prstGeom>
          <a:noFill/>
          <a:ln/>
        </p:spPr>
        <p:txBody>
          <a:bodyPr wrap="square" lIns="0" tIns="0" rIns="0" bIns="0" rtlCol="0" anchor="ctr"/>
          <a:lstStyle/>
          <a:p>
            <a:pPr marL="0" indent="0">
              <a:buNone/>
            </a:pPr>
            <a:r>
              <a:rPr lang="en-US" sz="1100" dirty="0">
                <a:solidFill>
                  <a:srgbClr val="8195A0"/>
                </a:solidFill>
                <a:latin typeface="Calibri" pitchFamily="34" charset="0"/>
                <a:ea typeface="Calibri" pitchFamily="34" charset="-122"/>
                <a:cs typeface="Calibri" pitchFamily="34" charset="-120"/>
              </a:rPr>
              <a:t>RideWise Analytics</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RideWise logo">
            <a:extLst>
              <a:ext uri="{FF2B5EF4-FFF2-40B4-BE49-F238E27FC236}">
                <a16:creationId xmlns:a16="http://schemas.microsoft.com/office/drawing/2014/main" id="{43EAA80E-889F-47DD-9408-705623969495}"/>
              </a:ext>
            </a:extLst>
          </p:cNvPr>
          <p:cNvPicPr>
            <a:picLocks noChangeAspect="1"/>
          </p:cNvPicPr>
          <p:nvPr/>
        </p:nvPicPr>
        <p:blipFill>
          <a:blip r:embed="rId2"/>
          <a:stretch>
            <a:fillRect/>
          </a:stretch>
        </p:blipFill>
        <p:spPr>
          <a:xfrm>
            <a:off x="155525" y="3961551"/>
            <a:ext cx="1216808" cy="1060704"/>
          </a:xfrm>
          <a:prstGeom prst="rect">
            <a:avLst/>
          </a:prstGeom>
        </p:spPr>
      </p:pic>
      <p:sp>
        <p:nvSpPr>
          <p:cNvPr id="6" name="Text 3">
            <a:extLst>
              <a:ext uri="{FF2B5EF4-FFF2-40B4-BE49-F238E27FC236}">
                <a16:creationId xmlns:a16="http://schemas.microsoft.com/office/drawing/2014/main" id="{66BD1E2F-1607-B99B-8C90-51923B974339}"/>
              </a:ext>
            </a:extLst>
          </p:cNvPr>
          <p:cNvSpPr/>
          <p:nvPr/>
        </p:nvSpPr>
        <p:spPr>
          <a:xfrm>
            <a:off x="775504" y="3485369"/>
            <a:ext cx="7315200" cy="384048"/>
          </a:xfrm>
          <a:prstGeom prst="rect">
            <a:avLst/>
          </a:prstGeom>
          <a:noFill/>
          <a:ln/>
        </p:spPr>
        <p:txBody>
          <a:bodyPr wrap="square" lIns="0" tIns="0" rIns="0" bIns="0" rtlCol="0" anchor="ctr"/>
          <a:lstStyle/>
          <a:p>
            <a:pPr marL="0" indent="0" algn="ctr">
              <a:buNone/>
            </a:pPr>
            <a:r>
              <a:rPr lang="en-US" sz="3600" b="1" i="1" spc="600" dirty="0">
                <a:solidFill>
                  <a:srgbClr val="3FB0A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OLUWATOSIN ABRAHAM</a:t>
            </a:r>
            <a:endParaRPr lang="en-US" sz="3600" i="1" spc="600" dirty="0">
              <a:effectLst>
                <a:outerShdw blurRad="38100" dist="38100" dir="2700000" algn="tl">
                  <a:srgbClr val="000000">
                    <a:alpha val="43137"/>
                  </a:srgbClr>
                </a:outerShdw>
              </a:effectLst>
            </a:endParaRPr>
          </a:p>
        </p:txBody>
      </p:sp>
      <p:sp>
        <p:nvSpPr>
          <p:cNvPr id="8" name="Text 3">
            <a:extLst>
              <a:ext uri="{FF2B5EF4-FFF2-40B4-BE49-F238E27FC236}">
                <a16:creationId xmlns:a16="http://schemas.microsoft.com/office/drawing/2014/main" id="{FA7C44BA-5435-84A8-7AF8-A720DC09B81E}"/>
              </a:ext>
            </a:extLst>
          </p:cNvPr>
          <p:cNvSpPr/>
          <p:nvPr/>
        </p:nvSpPr>
        <p:spPr>
          <a:xfrm>
            <a:off x="569088" y="2040462"/>
            <a:ext cx="7315200" cy="384048"/>
          </a:xfrm>
          <a:prstGeom prst="rect">
            <a:avLst/>
          </a:prstGeom>
          <a:noFill/>
          <a:ln/>
        </p:spPr>
        <p:txBody>
          <a:bodyPr wrap="square" lIns="0" tIns="0" rIns="0" bIns="0" rtlCol="0" anchor="ctr"/>
          <a:lstStyle/>
          <a:p>
            <a:pPr marL="0" indent="0" algn="ctr">
              <a:buNone/>
            </a:pPr>
            <a:r>
              <a:rPr lang="en-US" sz="3600" b="1" i="1" spc="600">
                <a:solidFill>
                  <a:srgbClr val="3FB0A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THANK YOU</a:t>
            </a:r>
            <a:endParaRPr lang="en-US" sz="3600" i="1" spc="6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89749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D13F-B7A4-ABF6-3917-F58CB5FAD1BE}"/>
            </a:ext>
          </a:extLst>
        </p:cNvPr>
        <p:cNvGrpSpPr/>
        <p:nvPr/>
      </p:nvGrpSpPr>
      <p:grpSpPr>
        <a:xfrm>
          <a:off x="0" y="0"/>
          <a:ext cx="0" cy="0"/>
          <a:chOff x="0" y="0"/>
          <a:chExt cx="0" cy="0"/>
        </a:xfrm>
      </p:grpSpPr>
      <p:sp>
        <p:nvSpPr>
          <p:cNvPr id="2" name="bottom bar">
            <a:extLst>
              <a:ext uri="{FF2B5EF4-FFF2-40B4-BE49-F238E27FC236}">
                <a16:creationId xmlns:a16="http://schemas.microsoft.com/office/drawing/2014/main" id="{41F5E902-98FD-8107-71C5-2024C2BAE531}"/>
              </a:ext>
              <a:ext uri="{C183D7F6-B498-43B3-948B-1728B52AA6E4}">
                <adec:decorative xmlns:adec="http://schemas.microsoft.com/office/drawing/2017/decorative" val="1"/>
              </a:ext>
            </a:extLst>
          </p:cNvPr>
          <p:cNvSpPr/>
          <p:nvPr/>
        </p:nvSpPr>
        <p:spPr>
          <a:xfrm>
            <a:off x="0" y="5015484"/>
            <a:ext cx="9144000" cy="128016"/>
          </a:xfrm>
          <a:prstGeom prst="rect">
            <a:avLst/>
          </a:prstGeom>
          <a:solidFill>
            <a:srgbClr val="128F90"/>
          </a:solidFill>
          <a:ln/>
        </p:spPr>
        <p:txBody>
          <a:bodyPr/>
          <a:lstStyle/>
          <a:p>
            <a:endParaRPr lang="en-GB"/>
          </a:p>
        </p:txBody>
      </p:sp>
    </p:spTree>
    <p:extLst>
      <p:ext uri="{BB962C8B-B14F-4D97-AF65-F5344CB8AC3E}">
        <p14:creationId xmlns:p14="http://schemas.microsoft.com/office/powerpoint/2010/main" val="1737227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E0A19-F4CF-2571-0EB0-3CBA22DC5C6A}"/>
            </a:ext>
          </a:extLst>
        </p:cNvPr>
        <p:cNvGrpSpPr/>
        <p:nvPr/>
      </p:nvGrpSpPr>
      <p:grpSpPr>
        <a:xfrm>
          <a:off x="0" y="0"/>
          <a:ext cx="0" cy="0"/>
          <a:chOff x="0" y="0"/>
          <a:chExt cx="0" cy="0"/>
        </a:xfrm>
      </p:grpSpPr>
      <p:pic>
        <p:nvPicPr>
          <p:cNvPr id="4" name="Image 0" descr="RideWise logo">
            <a:extLst>
              <a:ext uri="{FF2B5EF4-FFF2-40B4-BE49-F238E27FC236}">
                <a16:creationId xmlns:a16="http://schemas.microsoft.com/office/drawing/2014/main" id="{92062853-6AA3-3C2D-C0EA-CE75B8DAE796}"/>
              </a:ext>
            </a:extLst>
          </p:cNvPr>
          <p:cNvPicPr>
            <a:picLocks noChangeAspect="1"/>
          </p:cNvPicPr>
          <p:nvPr/>
        </p:nvPicPr>
        <p:blipFill>
          <a:blip r:embed="rId2"/>
          <a:stretch>
            <a:fillRect/>
          </a:stretch>
        </p:blipFill>
        <p:spPr>
          <a:xfrm>
            <a:off x="155525" y="3961551"/>
            <a:ext cx="1216808" cy="1060704"/>
          </a:xfrm>
          <a:prstGeom prst="rect">
            <a:avLst/>
          </a:prstGeom>
        </p:spPr>
      </p:pic>
      <p:sp>
        <p:nvSpPr>
          <p:cNvPr id="6" name="Text 3">
            <a:extLst>
              <a:ext uri="{FF2B5EF4-FFF2-40B4-BE49-F238E27FC236}">
                <a16:creationId xmlns:a16="http://schemas.microsoft.com/office/drawing/2014/main" id="{48DF887A-CBA8-8365-6ED9-1CFA7612F2E6}"/>
              </a:ext>
            </a:extLst>
          </p:cNvPr>
          <p:cNvSpPr/>
          <p:nvPr/>
        </p:nvSpPr>
        <p:spPr>
          <a:xfrm>
            <a:off x="314035" y="203202"/>
            <a:ext cx="5606121" cy="563418"/>
          </a:xfrm>
          <a:prstGeom prst="rect">
            <a:avLst/>
          </a:prstGeom>
          <a:noFill/>
          <a:ln/>
        </p:spPr>
        <p:txBody>
          <a:bodyPr wrap="square" lIns="0" tIns="0" rIns="0" bIns="0" rtlCol="0" anchor="ctr"/>
          <a:lstStyle/>
          <a:p>
            <a:pPr algn="ctr"/>
            <a:r>
              <a:rPr lang="en-US" sz="1600" b="1" i="1" dirty="0">
                <a:solidFill>
                  <a:srgbClr val="3FB0A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PLOTS</a:t>
            </a:r>
            <a:r>
              <a:rPr lang="en-GB" sz="1600" b="1" i="1" dirty="0">
                <a:solidFill>
                  <a:srgbClr val="3FB0A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 WHICH GAVE ME THE DECISION TREE AS THE </a:t>
            </a:r>
            <a:r>
              <a:rPr lang="en-US" sz="1600" b="1" i="1" dirty="0">
                <a:solidFill>
                  <a:srgbClr val="3FB0AE"/>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BEST MODEL. </a:t>
            </a:r>
            <a:endParaRPr lang="en-US" sz="16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16553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6481</TotalTime>
  <Words>3411</Words>
  <Application>Microsoft Office PowerPoint</Application>
  <PresentationFormat>On-screen Show (16:9)</PresentationFormat>
  <Paragraphs>847</Paragraphs>
  <Slides>36</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Consolas</vt:lpstr>
      <vt:lpstr>Wingdings</vt:lpstr>
      <vt:lpstr>Office Theme</vt:lpstr>
      <vt:lpstr>RideWise Customer Analytics &amp; Churn Prediction System</vt:lpstr>
      <vt:lpstr>Problem Statement</vt:lpstr>
      <vt:lpstr>What the system delivers</vt:lpstr>
      <vt:lpstr>Core data entities</vt:lpstr>
      <vt:lpstr>Core data entities</vt:lpstr>
      <vt:lpstr>From raw data to ML-ready dataset</vt:lpstr>
      <vt:lpstr>What the data reveals - EDA</vt:lpstr>
      <vt:lpstr>EDA – Rider behaviour Patterns.</vt:lpstr>
      <vt:lpstr>EDA – Engagement Trends.</vt:lpstr>
      <vt:lpstr>PowerPoint Presentation</vt:lpstr>
      <vt:lpstr>EDA – Churn Correlation.</vt:lpstr>
      <vt:lpstr>PowerPoint Presentation</vt:lpstr>
      <vt:lpstr>PowerPoint Presentation</vt:lpstr>
      <vt:lpstr>Predicting behaviour, engagement and loyalty</vt:lpstr>
      <vt:lpstr>What the data reveals- Business Implications  </vt:lpstr>
      <vt:lpstr>Model performance: Comparison</vt:lpstr>
      <vt:lpstr>Classification Report: Churners and Non-churners. </vt:lpstr>
      <vt:lpstr>Model performance:  SMOTE, Class weighting, threshold optimisation, and Optuna hyperparameter tuning.</vt:lpstr>
      <vt:lpstr>Classification Report: SMOTE- Churners and Non-churners. </vt:lpstr>
      <vt:lpstr>Model performance: Enhance performance – Class Weighting.</vt:lpstr>
      <vt:lpstr>Classification Report: Class Weighting. </vt:lpstr>
      <vt:lpstr>Model performance: Enhance performance – Threshold Optimization.</vt:lpstr>
      <vt:lpstr>Classification Report: Threshold Optimization. </vt:lpstr>
      <vt:lpstr>Why choose the Random Forest model? </vt:lpstr>
      <vt:lpstr>What drives churn?</vt:lpstr>
      <vt:lpstr>What doesn’t predict churn?</vt:lpstr>
      <vt:lpstr>Stopped here.  </vt:lpstr>
      <vt:lpstr>KMeans rider clusters</vt:lpstr>
      <vt:lpstr>Scoring, ranking &amp; insights</vt:lpstr>
      <vt:lpstr>Experiment tracking &amp; registry</vt:lpstr>
      <vt:lpstr>Real-time scoring with FastAPI</vt:lpstr>
      <vt:lpstr>Keeping the system healthy</vt:lpstr>
      <vt:lpstr>Impact and the road ahead</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OLUWATOSIN Abraham</dc:creator>
  <cp:lastModifiedBy>OLUWATOSIN Abraham</cp:lastModifiedBy>
  <cp:revision>1</cp:revision>
  <dcterms:created xsi:type="dcterms:W3CDTF">2026-07-21T00:04:07Z</dcterms:created>
  <dcterms:modified xsi:type="dcterms:W3CDTF">2026-07-28T13:16:45Z</dcterms:modified>
</cp:coreProperties>
</file>